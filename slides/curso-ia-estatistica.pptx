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notesMasterIdLst>
    <p:notesMasterId r:id="rId3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1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3.png"/><Relationship Id="rId5" Type="http://schemas.openxmlformats.org/officeDocument/2006/relationships/image" Target="../media/image-8-3.png"/><Relationship Id="rId6" Type="http://schemas.openxmlformats.org/officeDocument/2006/relationships/image" Target="../media/image-8-3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3.png"/><Relationship Id="rId6" Type="http://schemas.openxmlformats.org/officeDocument/2006/relationships/image" Target="../media/image-17-6.png"/><Relationship Id="rId7" Type="http://schemas.openxmlformats.org/officeDocument/2006/relationships/image" Target="../media/image-17-3.png"/><Relationship Id="rId8" Type="http://schemas.openxmlformats.org/officeDocument/2006/relationships/image" Target="../media/image-17-8.png"/><Relationship Id="rId9" Type="http://schemas.openxmlformats.org/officeDocument/2006/relationships/image" Target="../media/image-17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3.png"/><Relationship Id="rId6" Type="http://schemas.openxmlformats.org/officeDocument/2006/relationships/image" Target="../media/image-27-6.png"/><Relationship Id="rId7" Type="http://schemas.openxmlformats.org/officeDocument/2006/relationships/image" Target="../media/image-27-3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5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5.png"/><Relationship Id="rId3" Type="http://schemas.openxmlformats.org/officeDocument/2006/relationships/image" Target="../media/image-29-2.png"/><Relationship Id="rId4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5.png"/><Relationship Id="rId3" Type="http://schemas.openxmlformats.org/officeDocument/2006/relationships/image" Target="../media/image-15-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5.png"/><Relationship Id="rId3" Type="http://schemas.openxmlformats.org/officeDocument/2006/relationships/image" Target="../media/image-29-2.png"/><Relationship Id="rId4" Type="http://schemas.openxmlformats.org/officeDocument/2006/relationships/image" Target="../media/image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5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5.png"/><Relationship Id="rId3" Type="http://schemas.openxmlformats.org/officeDocument/2006/relationships/image" Target="../media/image-7-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5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5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-1-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c381cc93bc3ea14c02404e4bf5cf3d63.png">    </p:cNvPr>
          <p:cNvPicPr>
            <a:picLocks noChangeAspect="1"/>
          </p:cNvPicPr>
          <p:nvPr/>
        </p:nvPicPr>
        <p:blipFill>
          <a:blip r:embed="rId1"/>
          <a:srcRect l="0" r="0" t="-2" b="-2"/>
          <a:stretch/>
        </p:blipFill>
        <p:spPr>
          <a:xfrm>
            <a:off x="11239805" y="0"/>
            <a:ext cx="7048195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430207"/>
            <a:ext cx="18288000" cy="857707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128ae468b35084a7c58f393bd46c43e4.png">    </p:cNvPr>
          <p:cNvPicPr>
            <a:picLocks noChangeAspect="1"/>
          </p:cNvPicPr>
          <p:nvPr/>
        </p:nvPicPr>
        <p:blipFill>
          <a:blip r:embed="rId2"/>
          <a:srcRect l="-404" r="-404" t="0" b="0"/>
          <a:stretch/>
        </p:blipFill>
        <p:spPr>
          <a:xfrm>
            <a:off x="1143000" y="1333195"/>
            <a:ext cx="1143000" cy="28346"/>
          </a:xfrm>
          <a:prstGeom prst="rect">
            <a:avLst/>
          </a:prstGeom>
        </p:spPr>
      </p:pic>
      <p:pic>
        <p:nvPicPr>
          <p:cNvPr id="5" name="Image 2" descr="gen-dedup-4ff11608c8c2ffe3407881b9ccef3806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1143000" y="6953098"/>
            <a:ext cx="571500" cy="914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143000" y="1524305"/>
            <a:ext cx="8572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D9C1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Curso Inova Agroflorestal · UFVJM</a:t>
            </a:r>
            <a:endParaRPr lang="en-US" sz="1650" dirty="0"/>
          </a:p>
        </p:txBody>
      </p:sp>
      <p:sp>
        <p:nvSpPr>
          <p:cNvPr id="7" name="Text 2"/>
          <p:cNvSpPr txBox="1"/>
          <p:nvPr/>
        </p:nvSpPr>
        <p:spPr>
          <a:xfrm>
            <a:off x="1143000" y="2286000"/>
            <a:ext cx="10478110" cy="4019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00" b="1" spc="-222" kern="0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IA para</a:t>
            </a:r>
            <a:pPr algn="l" indent="0" marL="0">
              <a:lnSpc>
                <a:spcPct val="95000"/>
              </a:lnSpc>
              <a:buNone/>
            </a:pPr>
            <a:endParaRPr lang="en-US" sz="111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1100" b="1" i="1" spc="-222" kern="0" dirty="0">
                <a:solidFill>
                  <a:srgbClr val="C7922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Estatística</a:t>
            </a:r>
            <a:pPr algn="l" indent="0" marL="0">
              <a:lnSpc>
                <a:spcPct val="95000"/>
              </a:lnSpc>
              <a:buNone/>
            </a:pPr>
            <a:endParaRPr lang="en-US" sz="111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1100" b="1" spc="-222" kern="0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Experimental</a:t>
            </a:r>
            <a:endParaRPr lang="en-US" sz="11100" dirty="0"/>
          </a:p>
        </p:txBody>
      </p:sp>
      <p:sp>
        <p:nvSpPr>
          <p:cNvPr id="8" name="Text 3"/>
          <p:cNvSpPr txBox="1"/>
          <p:nvPr/>
        </p:nvSpPr>
        <p:spPr>
          <a:xfrm>
            <a:off x="1143000" y="7239305"/>
            <a:ext cx="990661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700" i="1" dirty="0">
                <a:solidFill>
                  <a:srgbClr val="A8B58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Do campo à ANOVA com Gemini</a:t>
            </a:r>
            <a:pPr algn="l" indent="0" marL="0">
              <a:lnSpc>
                <a:spcPct val="125000"/>
              </a:lnSpc>
              <a:buNone/>
            </a:pPr>
            <a:endParaRPr lang="en-US" sz="27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700" i="1" dirty="0">
                <a:solidFill>
                  <a:srgbClr val="A8B58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— sem precisar programar.</a:t>
            </a:r>
            <a:endParaRPr lang="en-US" sz="2700" dirty="0"/>
          </a:p>
        </p:txBody>
      </p:sp>
      <p:sp>
        <p:nvSpPr>
          <p:cNvPr id="9" name="Text 4"/>
          <p:cNvSpPr txBox="1"/>
          <p:nvPr/>
        </p:nvSpPr>
        <p:spPr>
          <a:xfrm>
            <a:off x="1143000" y="9667951"/>
            <a:ext cx="10287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spc="120" kern="0" dirty="0">
                <a:solidFill>
                  <a:srgbClr val="D9C1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horas · presencial · 2026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1143000" y="9972446"/>
            <a:ext cx="10287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AF6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Prof. __________ · Universidade Federal dos Vales do Jequitinhonha e Mucuri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16954805" y="9667951"/>
            <a:ext cx="762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spc="300" kern="0" dirty="0">
                <a:solidFill>
                  <a:srgbClr val="A8B5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45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D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77a12e7e4f15514137ee52eec655c4f.png">    </p:cNvPr>
          <p:cNvPicPr>
            <a:picLocks noChangeAspect="1"/>
          </p:cNvPicPr>
          <p:nvPr/>
        </p:nvPicPr>
        <p:blipFill>
          <a:blip r:embed="rId1"/>
          <a:srcRect l="0" r="0" t="-2089" b="-2089"/>
          <a:stretch/>
        </p:blipFill>
        <p:spPr>
          <a:xfrm>
            <a:off x="4095598" y="5524805"/>
            <a:ext cx="9144" cy="3238805"/>
          </a:xfrm>
          <a:prstGeom prst="rect">
            <a:avLst/>
          </a:prstGeom>
        </p:spPr>
      </p:pic>
      <p:pic>
        <p:nvPicPr>
          <p:cNvPr id="3" name="Image 1" descr="gen-dedup-f77a12e7e4f15514137ee52eec655c4f.png">    </p:cNvPr>
          <p:cNvPicPr>
            <a:picLocks noChangeAspect="1"/>
          </p:cNvPicPr>
          <p:nvPr/>
        </p:nvPicPr>
        <p:blipFill>
          <a:blip r:embed="rId2"/>
          <a:srcRect l="0" r="0" t="-2089" b="-2089"/>
          <a:stretch/>
        </p:blipFill>
        <p:spPr>
          <a:xfrm>
            <a:off x="7524598" y="5524805"/>
            <a:ext cx="9144" cy="3238805"/>
          </a:xfrm>
          <a:prstGeom prst="rect">
            <a:avLst/>
          </a:prstGeom>
        </p:spPr>
      </p:pic>
      <p:pic>
        <p:nvPicPr>
          <p:cNvPr id="4" name="Image 2" descr="gen-dedup-f77a12e7e4f15514137ee52eec655c4f.png">    </p:cNvPr>
          <p:cNvPicPr>
            <a:picLocks noChangeAspect="1"/>
          </p:cNvPicPr>
          <p:nvPr/>
        </p:nvPicPr>
        <p:blipFill>
          <a:blip r:embed="rId3"/>
          <a:srcRect l="0" r="0" t="-2089" b="-2089"/>
          <a:stretch/>
        </p:blipFill>
        <p:spPr>
          <a:xfrm>
            <a:off x="10953598" y="5524805"/>
            <a:ext cx="9144" cy="3238805"/>
          </a:xfrm>
          <a:prstGeom prst="rect">
            <a:avLst/>
          </a:prstGeom>
        </p:spPr>
      </p:pic>
      <p:pic>
        <p:nvPicPr>
          <p:cNvPr id="5" name="Image 3" descr="gen-dedup-f77a12e7e4f15514137ee52eec655c4f.png">    </p:cNvPr>
          <p:cNvPicPr>
            <a:picLocks noChangeAspect="1"/>
          </p:cNvPicPr>
          <p:nvPr/>
        </p:nvPicPr>
        <p:blipFill>
          <a:blip r:embed="rId4"/>
          <a:srcRect l="0" r="0" t="-2089" b="-2089"/>
          <a:stretch/>
        </p:blipFill>
        <p:spPr>
          <a:xfrm>
            <a:off x="14382598" y="5524805"/>
            <a:ext cx="9144" cy="3238805"/>
          </a:xfrm>
          <a:prstGeom prst="rect">
            <a:avLst/>
          </a:prstGeom>
        </p:spPr>
      </p:pic>
      <p:pic>
        <p:nvPicPr>
          <p:cNvPr id="6" name="Image 4" descr="gen-dedup-609ca5620bc91a301e35b29a91fab242.png">    </p:cNvPr>
          <p:cNvPicPr>
            <a:picLocks noChangeAspect="1"/>
          </p:cNvPicPr>
          <p:nvPr/>
        </p:nvPicPr>
        <p:blipFill>
          <a:blip r:embed="rId5"/>
          <a:srcRect l="-385" r="-385" t="0" b="0"/>
          <a:stretch/>
        </p:blipFill>
        <p:spPr>
          <a:xfrm>
            <a:off x="1143000" y="1333195"/>
            <a:ext cx="761695" cy="28346"/>
          </a:xfrm>
          <a:prstGeom prst="rect">
            <a:avLst/>
          </a:prstGeom>
        </p:spPr>
      </p:pic>
      <p:pic>
        <p:nvPicPr>
          <p:cNvPr id="7" name="Image 5" descr="gen-dedup-7def514303a96ecc26fb439ed14c51e9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5430500" y="1143000"/>
            <a:ext cx="1524305" cy="1524305"/>
          </a:xfrm>
          <a:prstGeom prst="rect">
            <a:avLst/>
          </a:prstGeom>
        </p:spPr>
      </p:pic>
      <p:sp>
        <p:nvSpPr>
          <p:cNvPr id="8" name="Text 0"/>
          <p:cNvSpPr txBox="1"/>
          <p:nvPr/>
        </p:nvSpPr>
        <p:spPr>
          <a:xfrm>
            <a:off x="1143000" y="1524305"/>
            <a:ext cx="9525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 da aula</a:t>
            </a:r>
            <a:endParaRPr lang="en-US" sz="1500" dirty="0"/>
          </a:p>
        </p:txBody>
      </p:sp>
      <p:sp>
        <p:nvSpPr>
          <p:cNvPr id="9" name="Text 1"/>
          <p:cNvSpPr txBox="1"/>
          <p:nvPr/>
        </p:nvSpPr>
        <p:spPr>
          <a:xfrm>
            <a:off x="1143000" y="1904695"/>
            <a:ext cx="11430000" cy="167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spc="-132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 que você vai</a:t>
            </a:r>
            <a:pPr algn="l" indent="0" marL="0">
              <a:lnSpc>
                <a:spcPct val="100000"/>
              </a:lnSpc>
              <a:buNone/>
            </a:pPr>
            <a:endParaRPr lang="en-US" sz="6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6600" i="1" spc="-132" kern="0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levar</a:t>
            </a:r>
            <a:pPr algn="l" indent="0" marL="0">
              <a:lnSpc>
                <a:spcPct val="100000"/>
              </a:lnSpc>
              <a:buNone/>
            </a:pPr>
            <a:r>
              <a:rPr lang="en-US" sz="6600" spc="-132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para casa</a:t>
            </a:r>
            <a:endParaRPr lang="en-US" sz="6600" dirty="0"/>
          </a:p>
        </p:txBody>
      </p:sp>
      <p:sp>
        <p:nvSpPr>
          <p:cNvPr id="10" name="Text 2"/>
          <p:cNvSpPr txBox="1"/>
          <p:nvPr/>
        </p:nvSpPr>
        <p:spPr>
          <a:xfrm>
            <a:off x="1143000" y="5333695"/>
            <a:ext cx="28575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01</a:t>
            </a:r>
            <a:endParaRPr lang="en-US" sz="7200" dirty="0"/>
          </a:p>
        </p:txBody>
      </p:sp>
      <p:sp>
        <p:nvSpPr>
          <p:cNvPr id="11" name="Text 3"/>
          <p:cNvSpPr txBox="1"/>
          <p:nvPr/>
        </p:nvSpPr>
        <p:spPr>
          <a:xfrm>
            <a:off x="1143000" y="6381598"/>
            <a:ext cx="2857500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Pedir uma análise</a:t>
            </a:r>
            <a:pPr algn="l" indent="0" marL="0">
              <a:lnSpc>
                <a:spcPct val="115000"/>
              </a:lnSpc>
              <a:buNone/>
            </a:pPr>
            <a:endParaRPr lang="en-US" sz="2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 conferir</a:t>
            </a:r>
            <a:endParaRPr lang="en-US" sz="2400" dirty="0"/>
          </a:p>
        </p:txBody>
      </p:sp>
      <p:sp>
        <p:nvSpPr>
          <p:cNvPr id="12" name="Text 4"/>
          <p:cNvSpPr txBox="1"/>
          <p:nvPr/>
        </p:nvSpPr>
        <p:spPr>
          <a:xfrm>
            <a:off x="1143000" y="7197242"/>
            <a:ext cx="28575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Saber dizer em português o que você quer e validar o resultado.</a:t>
            </a:r>
            <a:endParaRPr lang="en-US" sz="1500" dirty="0"/>
          </a:p>
        </p:txBody>
      </p:sp>
      <p:sp>
        <p:nvSpPr>
          <p:cNvPr id="13" name="Text 5"/>
          <p:cNvSpPr txBox="1"/>
          <p:nvPr/>
        </p:nvSpPr>
        <p:spPr>
          <a:xfrm>
            <a:off x="4572000" y="5333695"/>
            <a:ext cx="28575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6B8E4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02</a:t>
            </a:r>
            <a:endParaRPr lang="en-US" sz="7200" dirty="0"/>
          </a:p>
        </p:txBody>
      </p:sp>
      <p:sp>
        <p:nvSpPr>
          <p:cNvPr id="14" name="Text 6"/>
          <p:cNvSpPr txBox="1"/>
          <p:nvPr/>
        </p:nvSpPr>
        <p:spPr>
          <a:xfrm>
            <a:off x="4572000" y="6381598"/>
            <a:ext cx="2857500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Entender o que</a:t>
            </a:r>
            <a:pPr algn="l" indent="0" marL="0">
              <a:lnSpc>
                <a:spcPct val="115000"/>
              </a:lnSpc>
              <a:buNone/>
            </a:pPr>
            <a:endParaRPr lang="en-US" sz="2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acontece por trás</a:t>
            </a:r>
            <a:endParaRPr lang="en-US" sz="2400" dirty="0"/>
          </a:p>
        </p:txBody>
      </p:sp>
      <p:sp>
        <p:nvSpPr>
          <p:cNvPr id="15" name="Text 7"/>
          <p:cNvSpPr txBox="1"/>
          <p:nvPr/>
        </p:nvSpPr>
        <p:spPr>
          <a:xfrm>
            <a:off x="4572000" y="7197242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IA escreve um programa. Você entende — sem escrever.</a:t>
            </a:r>
            <a:endParaRPr lang="en-US" sz="1500" dirty="0"/>
          </a:p>
        </p:txBody>
      </p:sp>
      <p:sp>
        <p:nvSpPr>
          <p:cNvPr id="16" name="Text 8"/>
          <p:cNvSpPr txBox="1"/>
          <p:nvPr/>
        </p:nvSpPr>
        <p:spPr>
          <a:xfrm>
            <a:off x="8001000" y="5333695"/>
            <a:ext cx="28575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8B6F4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03</a:t>
            </a:r>
            <a:endParaRPr lang="en-US" sz="7200" dirty="0"/>
          </a:p>
        </p:txBody>
      </p:sp>
      <p:sp>
        <p:nvSpPr>
          <p:cNvPr id="17" name="Text 9"/>
          <p:cNvSpPr txBox="1"/>
          <p:nvPr/>
        </p:nvSpPr>
        <p:spPr>
          <a:xfrm>
            <a:off x="8001000" y="6381598"/>
            <a:ext cx="2857500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Organizar a planilha</a:t>
            </a:r>
            <a:endParaRPr lang="en-US" sz="2400" dirty="0"/>
          </a:p>
        </p:txBody>
      </p:sp>
      <p:sp>
        <p:nvSpPr>
          <p:cNvPr id="18" name="Text 10"/>
          <p:cNvSpPr txBox="1"/>
          <p:nvPr/>
        </p:nvSpPr>
        <p:spPr>
          <a:xfrm>
            <a:off x="8001000" y="7197242"/>
            <a:ext cx="28575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Formato longo, nomes sem acento, células vazias para perdas.</a:t>
            </a:r>
            <a:endParaRPr lang="en-US" sz="1500" dirty="0"/>
          </a:p>
        </p:txBody>
      </p:sp>
      <p:sp>
        <p:nvSpPr>
          <p:cNvPr id="19" name="Text 11"/>
          <p:cNvSpPr txBox="1"/>
          <p:nvPr/>
        </p:nvSpPr>
        <p:spPr>
          <a:xfrm>
            <a:off x="11430000" y="5333695"/>
            <a:ext cx="28575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B250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04</a:t>
            </a:r>
            <a:endParaRPr lang="en-US" sz="7200" dirty="0"/>
          </a:p>
        </p:txBody>
      </p:sp>
      <p:sp>
        <p:nvSpPr>
          <p:cNvPr id="20" name="Text 12"/>
          <p:cNvSpPr txBox="1"/>
          <p:nvPr/>
        </p:nvSpPr>
        <p:spPr>
          <a:xfrm>
            <a:off x="11430000" y="6381598"/>
            <a:ext cx="2857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Seu Gem pessoal</a:t>
            </a:r>
            <a:endParaRPr lang="en-US" sz="2400" dirty="0"/>
          </a:p>
        </p:txBody>
      </p:sp>
      <p:sp>
        <p:nvSpPr>
          <p:cNvPr id="21" name="Text 13"/>
          <p:cNvSpPr txBox="1"/>
          <p:nvPr/>
        </p:nvSpPr>
        <p:spPr>
          <a:xfrm>
            <a:off x="11430000" y="6846113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Assistente estatístico com skills prontas para exportar.</a:t>
            </a:r>
            <a:endParaRPr lang="en-US" sz="1500" dirty="0"/>
          </a:p>
        </p:txBody>
      </p:sp>
      <p:sp>
        <p:nvSpPr>
          <p:cNvPr id="22" name="Text 14"/>
          <p:cNvSpPr txBox="1"/>
          <p:nvPr/>
        </p:nvSpPr>
        <p:spPr>
          <a:xfrm>
            <a:off x="14859000" y="5333695"/>
            <a:ext cx="22860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C7922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05</a:t>
            </a:r>
            <a:endParaRPr lang="en-US" sz="7200" dirty="0"/>
          </a:p>
        </p:txBody>
      </p:sp>
      <p:sp>
        <p:nvSpPr>
          <p:cNvPr id="23" name="Text 15"/>
          <p:cNvSpPr txBox="1"/>
          <p:nvPr/>
        </p:nvSpPr>
        <p:spPr>
          <a:xfrm>
            <a:off x="14859000" y="6381598"/>
            <a:ext cx="2286000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Material para levar</a:t>
            </a:r>
            <a:endParaRPr lang="en-US" sz="2400" dirty="0"/>
          </a:p>
        </p:txBody>
      </p:sp>
      <p:sp>
        <p:nvSpPr>
          <p:cNvPr id="24" name="Text 16"/>
          <p:cNvSpPr txBox="1"/>
          <p:nvPr/>
        </p:nvSpPr>
        <p:spPr>
          <a:xfrm>
            <a:off x="14859000" y="7197242"/>
            <a:ext cx="22860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Apostila, dados de exemplo, gabarito e pacote de skills.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16954805" y="9667951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45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D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14907" y="3238805"/>
            <a:ext cx="1857146" cy="1904695"/>
          </a:xfrm>
          <a:prstGeom prst="roundRect">
            <a:avLst>
              <a:gd name="adj" fmla="val 3102"/>
            </a:avLst>
          </a:prstGeom>
          <a:solidFill>
            <a:srgbClr val="C792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86354" y="3238805"/>
            <a:ext cx="1857146" cy="1904695"/>
          </a:xfrm>
          <a:prstGeom prst="roundRect">
            <a:avLst>
              <a:gd name="adj" fmla="val 3102"/>
            </a:avLst>
          </a:prstGeom>
          <a:solidFill>
            <a:srgbClr val="2F52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57800" y="3238805"/>
            <a:ext cx="1857146" cy="1904695"/>
          </a:xfrm>
          <a:prstGeom prst="roundRect">
            <a:avLst>
              <a:gd name="adj" fmla="val 3102"/>
            </a:avLst>
          </a:prstGeom>
          <a:solidFill>
            <a:srgbClr val="6B8E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9246" y="3238805"/>
            <a:ext cx="1857146" cy="1904695"/>
          </a:xfrm>
          <a:prstGeom prst="roundRect">
            <a:avLst>
              <a:gd name="adj" fmla="val 3102"/>
            </a:avLst>
          </a:prstGeom>
          <a:solidFill>
            <a:srgbClr val="B250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01607" y="3238805"/>
            <a:ext cx="1857146" cy="1904695"/>
          </a:xfrm>
          <a:prstGeom prst="roundRect">
            <a:avLst>
              <a:gd name="adj" fmla="val 3102"/>
            </a:avLst>
          </a:prstGeom>
          <a:solidFill>
            <a:srgbClr val="8B6F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73054" y="3238805"/>
            <a:ext cx="1857146" cy="1904695"/>
          </a:xfrm>
          <a:prstGeom prst="roundRect">
            <a:avLst>
              <a:gd name="adj" fmla="val 3102"/>
            </a:avLst>
          </a:prstGeom>
          <a:solidFill>
            <a:srgbClr val="4A6B4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144500" y="3238805"/>
            <a:ext cx="2286000" cy="1904695"/>
          </a:xfrm>
          <a:prstGeom prst="roundRect">
            <a:avLst>
              <a:gd name="adj" fmla="val 3024"/>
            </a:avLst>
          </a:prstGeom>
          <a:solidFill>
            <a:srgbClr val="FAF6EC"/>
          </a:solidFill>
          <a:ln w="25400">
            <a:solidFill>
              <a:srgbClr val="2F52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0" y="3238805"/>
            <a:ext cx="1429207" cy="1904695"/>
          </a:xfrm>
          <a:prstGeom prst="roundRect">
            <a:avLst>
              <a:gd name="adj" fmla="val 4031"/>
            </a:avLst>
          </a:prstGeom>
          <a:solidFill>
            <a:srgbClr val="1E2A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gen-dedup-a52905c9fc00580e5e84637eb7429577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143000" y="7429500"/>
            <a:ext cx="16002000" cy="9144"/>
          </a:xfrm>
          <a:prstGeom prst="rect">
            <a:avLst/>
          </a:prstGeom>
        </p:spPr>
      </p:pic>
      <p:pic>
        <p:nvPicPr>
          <p:cNvPr id="11" name="Image 1" descr="gen-dedup-609ca5620bc91a301e35b29a91fab242.png">    </p:cNvPr>
          <p:cNvPicPr>
            <a:picLocks noChangeAspect="1"/>
          </p:cNvPicPr>
          <p:nvPr/>
        </p:nvPicPr>
        <p:blipFill>
          <a:blip r:embed="rId2"/>
          <a:srcRect l="-385" r="-385" t="0" b="0"/>
          <a:stretch/>
        </p:blipFill>
        <p:spPr>
          <a:xfrm>
            <a:off x="1143000" y="1143000"/>
            <a:ext cx="761695" cy="28346"/>
          </a:xfrm>
          <a:prstGeom prst="rect">
            <a:avLst/>
          </a:prstGeom>
        </p:spPr>
      </p:pic>
      <p:pic>
        <p:nvPicPr>
          <p:cNvPr id="12" name="Image 2" descr="gen-dedup-97a4ed5ec4212c8c9b9da5d312f76f23.png">    </p:cNvPr>
          <p:cNvPicPr>
            <a:picLocks noChangeAspect="1"/>
          </p:cNvPicPr>
          <p:nvPr/>
        </p:nvPicPr>
        <p:blipFill>
          <a:blip r:embed="rId3"/>
          <a:srcRect l="0" r="0" t="-400" b="-400"/>
          <a:stretch/>
        </p:blipFill>
        <p:spPr>
          <a:xfrm>
            <a:off x="13144500" y="3238805"/>
            <a:ext cx="2286000" cy="5760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43000" y="1333195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Roteiro · 4 horas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143000" y="1714500"/>
            <a:ext cx="14287500" cy="838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0" spc="-132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Como vamos </a:t>
            </a:r>
            <a:pPr algn="l" indent="0" marL="0">
              <a:buNone/>
            </a:pPr>
            <a:r>
              <a:rPr lang="en-US" sz="6600" i="1" spc="-132" kern="0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gastar</a:t>
            </a:r>
            <a:pPr algn="l" indent="0" marL="0">
              <a:buNone/>
            </a:pPr>
            <a:r>
              <a:rPr lang="en-US" sz="6600" spc="-132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o tempo</a:t>
            </a:r>
            <a:endParaRPr lang="en-US" sz="6600" dirty="0"/>
          </a:p>
        </p:txBody>
      </p:sp>
      <p:sp>
        <p:nvSpPr>
          <p:cNvPr id="15" name="Text 10"/>
          <p:cNvSpPr txBox="1"/>
          <p:nvPr/>
        </p:nvSpPr>
        <p:spPr>
          <a:xfrm>
            <a:off x="1429207" y="3571646"/>
            <a:ext cx="1629461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Abertura</a:t>
            </a:r>
            <a:endParaRPr lang="en-US" sz="2250" dirty="0"/>
          </a:p>
        </p:txBody>
      </p:sp>
      <p:sp>
        <p:nvSpPr>
          <p:cNvPr id="16" name="Text 11"/>
          <p:cNvSpPr txBox="1"/>
          <p:nvPr/>
        </p:nvSpPr>
        <p:spPr>
          <a:xfrm>
            <a:off x="1314907" y="3943807"/>
            <a:ext cx="1858061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15′</a:t>
            </a:r>
            <a:endParaRPr lang="en-US" sz="3450" dirty="0"/>
          </a:p>
        </p:txBody>
      </p:sp>
      <p:sp>
        <p:nvSpPr>
          <p:cNvPr id="17" name="Text 12"/>
          <p:cNvSpPr txBox="1"/>
          <p:nvPr/>
        </p:nvSpPr>
        <p:spPr>
          <a:xfrm>
            <a:off x="1314907" y="3238805"/>
            <a:ext cx="1858061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spc="243" kern="0" dirty="0">
                <a:solidFill>
                  <a:srgbClr val="1E2A18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3286354" y="3238805"/>
            <a:ext cx="1858061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spc="243" kern="0" dirty="0">
                <a:solidFill>
                  <a:srgbClr val="A8B5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3400654" y="3571646"/>
            <a:ext cx="162946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950" b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Como a IA chega</a:t>
            </a:r>
            <a:endParaRPr lang="en-US" sz="1950" dirty="0"/>
          </a:p>
        </p:txBody>
      </p:sp>
      <p:sp>
        <p:nvSpPr>
          <p:cNvPr id="20" name="Text 15"/>
          <p:cNvSpPr txBox="1"/>
          <p:nvPr/>
        </p:nvSpPr>
        <p:spPr>
          <a:xfrm>
            <a:off x="3286354" y="4173322"/>
            <a:ext cx="1858061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35′</a:t>
            </a:r>
            <a:endParaRPr lang="en-US" sz="3450" dirty="0"/>
          </a:p>
        </p:txBody>
      </p:sp>
      <p:sp>
        <p:nvSpPr>
          <p:cNvPr id="21" name="Text 16"/>
          <p:cNvSpPr txBox="1"/>
          <p:nvPr/>
        </p:nvSpPr>
        <p:spPr>
          <a:xfrm>
            <a:off x="5372100" y="3571646"/>
            <a:ext cx="1629461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Formatos</a:t>
            </a:r>
            <a:endParaRPr lang="en-US" sz="2250" dirty="0"/>
          </a:p>
        </p:txBody>
      </p:sp>
      <p:sp>
        <p:nvSpPr>
          <p:cNvPr id="22" name="Text 17"/>
          <p:cNvSpPr txBox="1"/>
          <p:nvPr/>
        </p:nvSpPr>
        <p:spPr>
          <a:xfrm>
            <a:off x="5257800" y="3943807"/>
            <a:ext cx="1858061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30′</a:t>
            </a:r>
            <a:endParaRPr lang="en-US" sz="3450" dirty="0"/>
          </a:p>
        </p:txBody>
      </p:sp>
      <p:sp>
        <p:nvSpPr>
          <p:cNvPr id="23" name="Text 18"/>
          <p:cNvSpPr txBox="1"/>
          <p:nvPr/>
        </p:nvSpPr>
        <p:spPr>
          <a:xfrm>
            <a:off x="5257800" y="3238805"/>
            <a:ext cx="1858061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spc="243" kern="0" dirty="0">
                <a:solidFill>
                  <a:srgbClr val="FAF6EC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50" dirty="0"/>
          </a:p>
        </p:txBody>
      </p:sp>
      <p:sp>
        <p:nvSpPr>
          <p:cNvPr id="24" name="Text 19"/>
          <p:cNvSpPr txBox="1"/>
          <p:nvPr/>
        </p:nvSpPr>
        <p:spPr>
          <a:xfrm>
            <a:off x="7343546" y="3571646"/>
            <a:ext cx="1629461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i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pausa</a:t>
            </a:r>
            <a:endParaRPr lang="en-US" sz="2700" dirty="0"/>
          </a:p>
        </p:txBody>
      </p:sp>
      <p:sp>
        <p:nvSpPr>
          <p:cNvPr id="25" name="Text 20"/>
          <p:cNvSpPr txBox="1"/>
          <p:nvPr/>
        </p:nvSpPr>
        <p:spPr>
          <a:xfrm>
            <a:off x="7229246" y="4005986"/>
            <a:ext cx="1858061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15′</a:t>
            </a:r>
            <a:endParaRPr lang="en-US" sz="3450" dirty="0"/>
          </a:p>
        </p:txBody>
      </p:sp>
      <p:sp>
        <p:nvSpPr>
          <p:cNvPr id="26" name="Text 21"/>
          <p:cNvSpPr txBox="1"/>
          <p:nvPr/>
        </p:nvSpPr>
        <p:spPr>
          <a:xfrm>
            <a:off x="7229246" y="3238805"/>
            <a:ext cx="1858061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spc="243" kern="0" dirty="0">
                <a:solidFill>
                  <a:srgbClr val="FAF6EC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Intervalo</a:t>
            </a:r>
            <a:endParaRPr lang="en-US" sz="1350" dirty="0"/>
          </a:p>
        </p:txBody>
      </p:sp>
      <p:sp>
        <p:nvSpPr>
          <p:cNvPr id="27" name="Text 22"/>
          <p:cNvSpPr txBox="1"/>
          <p:nvPr/>
        </p:nvSpPr>
        <p:spPr>
          <a:xfrm>
            <a:off x="9277502" y="3571646"/>
            <a:ext cx="1705356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Ecossistema Gemini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9201607" y="4132174"/>
            <a:ext cx="1858061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25′</a:t>
            </a:r>
            <a:endParaRPr lang="en-US" sz="3450" dirty="0"/>
          </a:p>
        </p:txBody>
      </p:sp>
      <p:sp>
        <p:nvSpPr>
          <p:cNvPr id="29" name="Text 24"/>
          <p:cNvSpPr txBox="1"/>
          <p:nvPr/>
        </p:nvSpPr>
        <p:spPr>
          <a:xfrm>
            <a:off x="9201607" y="3238805"/>
            <a:ext cx="1858061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spc="243" kern="0" dirty="0">
                <a:solidFill>
                  <a:srgbClr val="FAF6EC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50" dirty="0"/>
          </a:p>
        </p:txBody>
      </p:sp>
      <p:sp>
        <p:nvSpPr>
          <p:cNvPr id="30" name="Text 25"/>
          <p:cNvSpPr txBox="1"/>
          <p:nvPr/>
        </p:nvSpPr>
        <p:spPr>
          <a:xfrm>
            <a:off x="11287354" y="3571646"/>
            <a:ext cx="1629461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Skills</a:t>
            </a:r>
            <a:endParaRPr lang="en-US" sz="2250" dirty="0"/>
          </a:p>
        </p:txBody>
      </p:sp>
      <p:sp>
        <p:nvSpPr>
          <p:cNvPr id="31" name="Text 26"/>
          <p:cNvSpPr txBox="1"/>
          <p:nvPr/>
        </p:nvSpPr>
        <p:spPr>
          <a:xfrm>
            <a:off x="11173054" y="3943807"/>
            <a:ext cx="1858061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40′</a:t>
            </a:r>
            <a:endParaRPr lang="en-US" sz="3450" dirty="0"/>
          </a:p>
        </p:txBody>
      </p:sp>
      <p:sp>
        <p:nvSpPr>
          <p:cNvPr id="32" name="Text 27"/>
          <p:cNvSpPr txBox="1"/>
          <p:nvPr/>
        </p:nvSpPr>
        <p:spPr>
          <a:xfrm>
            <a:off x="11173054" y="3238805"/>
            <a:ext cx="1858061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spc="243" kern="0" dirty="0">
                <a:solidFill>
                  <a:srgbClr val="FAF6EC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350" dirty="0"/>
          </a:p>
        </p:txBody>
      </p:sp>
      <p:sp>
        <p:nvSpPr>
          <p:cNvPr id="33" name="Text 28"/>
          <p:cNvSpPr txBox="1"/>
          <p:nvPr/>
        </p:nvSpPr>
        <p:spPr>
          <a:xfrm>
            <a:off x="13144500" y="3238805"/>
            <a:ext cx="2286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spc="243" kern="0" dirty="0">
                <a:solidFill>
                  <a:srgbClr val="2F5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350" dirty="0"/>
          </a:p>
        </p:txBody>
      </p:sp>
      <p:sp>
        <p:nvSpPr>
          <p:cNvPr id="34" name="Text 29"/>
          <p:cNvSpPr txBox="1"/>
          <p:nvPr/>
        </p:nvSpPr>
        <p:spPr>
          <a:xfrm>
            <a:off x="13258800" y="3571646"/>
            <a:ext cx="20574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Mão na massa</a:t>
            </a:r>
            <a:endParaRPr lang="en-US" sz="1950" dirty="0"/>
          </a:p>
        </p:txBody>
      </p:sp>
      <p:sp>
        <p:nvSpPr>
          <p:cNvPr id="35" name="Text 30"/>
          <p:cNvSpPr txBox="1"/>
          <p:nvPr/>
        </p:nvSpPr>
        <p:spPr>
          <a:xfrm>
            <a:off x="13144500" y="3901745"/>
            <a:ext cx="22860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45′</a:t>
            </a:r>
            <a:endParaRPr lang="en-US" sz="3450" dirty="0"/>
          </a:p>
        </p:txBody>
      </p:sp>
      <p:sp>
        <p:nvSpPr>
          <p:cNvPr id="36" name="Text 31"/>
          <p:cNvSpPr txBox="1"/>
          <p:nvPr/>
        </p:nvSpPr>
        <p:spPr>
          <a:xfrm>
            <a:off x="15544800" y="3238805"/>
            <a:ext cx="1429207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spc="243" kern="0" dirty="0">
                <a:solidFill>
                  <a:srgbClr val="A8B5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350" dirty="0"/>
          </a:p>
        </p:txBody>
      </p:sp>
      <p:sp>
        <p:nvSpPr>
          <p:cNvPr id="37" name="Text 32"/>
          <p:cNvSpPr txBox="1"/>
          <p:nvPr/>
        </p:nvSpPr>
        <p:spPr>
          <a:xfrm>
            <a:off x="15524683" y="3571646"/>
            <a:ext cx="1468526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Fechamento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544800" y="3880714"/>
            <a:ext cx="1429207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C7922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5′</a:t>
            </a:r>
            <a:endParaRPr lang="en-US" sz="3450" dirty="0"/>
          </a:p>
        </p:txBody>
      </p:sp>
      <p:sp>
        <p:nvSpPr>
          <p:cNvPr id="39" name="Text 34"/>
          <p:cNvSpPr txBox="1"/>
          <p:nvPr/>
        </p:nvSpPr>
        <p:spPr>
          <a:xfrm>
            <a:off x="1314907" y="5333695"/>
            <a:ext cx="185806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Contexto, motivação, plano.</a:t>
            </a:r>
            <a:endParaRPr lang="en-US" sz="1350" dirty="0"/>
          </a:p>
        </p:txBody>
      </p:sp>
      <p:sp>
        <p:nvSpPr>
          <p:cNvPr id="40" name="Text 35"/>
          <p:cNvSpPr txBox="1"/>
          <p:nvPr/>
        </p:nvSpPr>
        <p:spPr>
          <a:xfrm>
            <a:off x="3286354" y="5333695"/>
            <a:ext cx="185806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Linguagens, código e checagem.</a:t>
            </a:r>
            <a:endParaRPr lang="en-US" sz="1350" dirty="0"/>
          </a:p>
        </p:txBody>
      </p:sp>
      <p:sp>
        <p:nvSpPr>
          <p:cNvPr id="41" name="Text 36"/>
          <p:cNvSpPr txBox="1"/>
          <p:nvPr/>
        </p:nvSpPr>
        <p:spPr>
          <a:xfrm>
            <a:off x="5081321" y="5333695"/>
            <a:ext cx="2211019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Planilha do jeito certo.</a:t>
            </a:r>
            <a:endParaRPr lang="en-US" sz="1350" dirty="0"/>
          </a:p>
        </p:txBody>
      </p:sp>
      <p:sp>
        <p:nvSpPr>
          <p:cNvPr id="42" name="Text 37"/>
          <p:cNvSpPr txBox="1"/>
          <p:nvPr/>
        </p:nvSpPr>
        <p:spPr>
          <a:xfrm>
            <a:off x="7229246" y="5333695"/>
            <a:ext cx="185806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Pausa.</a:t>
            </a:r>
            <a:endParaRPr lang="en-US" sz="1350" dirty="0"/>
          </a:p>
        </p:txBody>
      </p:sp>
      <p:sp>
        <p:nvSpPr>
          <p:cNvPr id="43" name="Text 38"/>
          <p:cNvSpPr txBox="1"/>
          <p:nvPr/>
        </p:nvSpPr>
        <p:spPr>
          <a:xfrm>
            <a:off x="9201607" y="5333695"/>
            <a:ext cx="185806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Gems, Colab, NotebookLM.</a:t>
            </a:r>
            <a:endParaRPr lang="en-US" sz="1350" dirty="0"/>
          </a:p>
        </p:txBody>
      </p:sp>
      <p:sp>
        <p:nvSpPr>
          <p:cNvPr id="44" name="Text 39"/>
          <p:cNvSpPr txBox="1"/>
          <p:nvPr/>
        </p:nvSpPr>
        <p:spPr>
          <a:xfrm>
            <a:off x="10996574" y="5333695"/>
            <a:ext cx="2211019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Seis blocos portáteis.</a:t>
            </a:r>
            <a:endParaRPr lang="en-US" sz="1350" dirty="0"/>
          </a:p>
        </p:txBody>
      </p:sp>
      <p:sp>
        <p:nvSpPr>
          <p:cNvPr id="45" name="Text 40"/>
          <p:cNvSpPr txBox="1"/>
          <p:nvPr/>
        </p:nvSpPr>
        <p:spPr>
          <a:xfrm>
            <a:off x="13144500" y="5316322"/>
            <a:ext cx="228600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Sete cenários reais.</a:t>
            </a:r>
            <a:pPr algn="ctr" indent="0" marL="0">
              <a:lnSpc>
                <a:spcPts val="1890"/>
              </a:lnSpc>
              <a:buNone/>
            </a:pPr>
            <a:endParaRPr lang="en-US" sz="1350" dirty="0"/>
          </a:p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Exercícios.</a:t>
            </a:r>
            <a:endParaRPr lang="en-US" sz="1350" dirty="0"/>
          </a:p>
        </p:txBody>
      </p:sp>
      <p:sp>
        <p:nvSpPr>
          <p:cNvPr id="46" name="Text 41"/>
          <p:cNvSpPr txBox="1"/>
          <p:nvPr/>
        </p:nvSpPr>
        <p:spPr>
          <a:xfrm>
            <a:off x="15544800" y="5333695"/>
            <a:ext cx="1429207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Ética, materiais, obrigado.</a:t>
            </a:r>
            <a:endParaRPr lang="en-US" sz="1350" dirty="0"/>
          </a:p>
        </p:txBody>
      </p:sp>
      <p:sp>
        <p:nvSpPr>
          <p:cNvPr id="47" name="Text 42"/>
          <p:cNvSpPr txBox="1"/>
          <p:nvPr/>
        </p:nvSpPr>
        <p:spPr>
          <a:xfrm>
            <a:off x="1143000" y="7810805"/>
            <a:ext cx="74295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 total</a:t>
            </a:r>
            <a:endParaRPr lang="en-US" sz="1350" dirty="0"/>
          </a:p>
        </p:txBody>
      </p:sp>
      <p:sp>
        <p:nvSpPr>
          <p:cNvPr id="48" name="Text 43"/>
          <p:cNvSpPr txBox="1"/>
          <p:nvPr/>
        </p:nvSpPr>
        <p:spPr>
          <a:xfrm>
            <a:off x="1143000" y="8106156"/>
            <a:ext cx="7429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≈ 210 </a:t>
            </a:r>
            <a:pPr algn="l" indent="0" marL="0">
              <a:buNone/>
            </a:pPr>
            <a:r>
              <a:rPr lang="en-US" sz="4500" i="1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min</a:t>
            </a:r>
            <a:endParaRPr lang="en-US" sz="4500" dirty="0"/>
          </a:p>
        </p:txBody>
      </p:sp>
      <p:sp>
        <p:nvSpPr>
          <p:cNvPr id="49" name="Text 44"/>
          <p:cNvSpPr txBox="1"/>
          <p:nvPr/>
        </p:nvSpPr>
        <p:spPr>
          <a:xfrm>
            <a:off x="10287000" y="7905902"/>
            <a:ext cx="68580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i="1" dirty="0">
                <a:solidFill>
                  <a:srgbClr val="3A453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Quase metade do tempo é </a:t>
            </a:r>
            <a:pPr algn="l" indent="0" marL="0">
              <a:lnSpc>
                <a:spcPct val="125000"/>
              </a:lnSpc>
              <a:buNone/>
            </a:pPr>
            <a:r>
              <a:rPr lang="en-US" sz="2400" i="1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na massa:</a:t>
            </a:r>
            <a:pPr algn="l" indent="0" marL="0">
              <a:lnSpc>
                <a:spcPct val="125000"/>
              </a:lnSpc>
              <a:buNone/>
            </a:pPr>
            <a:r>
              <a:rPr lang="en-US" sz="2400" i="1" dirty="0">
                <a:solidFill>
                  <a:srgbClr val="3A453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os alunos digitam junto.</a:t>
            </a:r>
            <a:endParaRPr lang="en-US" sz="2400" dirty="0"/>
          </a:p>
        </p:txBody>
      </p:sp>
      <p:sp>
        <p:nvSpPr>
          <p:cNvPr id="50" name="Text 45"/>
          <p:cNvSpPr txBox="1"/>
          <p:nvPr/>
        </p:nvSpPr>
        <p:spPr>
          <a:xfrm>
            <a:off x="16954805" y="9667951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45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D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db168ae11180f146d99446ccdc7bc30c.png">    </p:cNvPr>
          <p:cNvPicPr>
            <a:picLocks noChangeAspect="1"/>
          </p:cNvPicPr>
          <p:nvPr/>
        </p:nvPicPr>
        <p:blipFill>
          <a:blip r:embed="rId1"/>
          <a:srcRect l="0" r="0" t="-4" b="-4"/>
          <a:stretch/>
        </p:blipFill>
        <p:spPr>
          <a:xfrm>
            <a:off x="13144500" y="1904695"/>
            <a:ext cx="3619195" cy="2857500"/>
          </a:xfrm>
          <a:prstGeom prst="rect">
            <a:avLst/>
          </a:prstGeom>
        </p:spPr>
      </p:pic>
      <p:pic>
        <p:nvPicPr>
          <p:cNvPr id="3" name="Image 1" descr="gen-dedup-58fe75ec9f634f24dfffe61b17e20bba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17526305" y="5333695"/>
            <a:ext cx="28346" cy="361919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7335195" y="5715000"/>
            <a:ext cx="381305" cy="381305"/>
          </a:xfrm>
          <a:prstGeom prst="ellipse">
            <a:avLst/>
          </a:prstGeom>
          <a:solidFill>
            <a:srgbClr val="A8B584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2" descr="gen-dedup-609ca5620bc91a301e35b29a91fab242.png">    </p:cNvPr>
          <p:cNvPicPr>
            <a:picLocks noChangeAspect="1"/>
          </p:cNvPicPr>
          <p:nvPr/>
        </p:nvPicPr>
        <p:blipFill>
          <a:blip r:embed="rId3"/>
          <a:srcRect l="-385" r="-385" t="0" b="0"/>
          <a:stretch/>
        </p:blipFill>
        <p:spPr>
          <a:xfrm>
            <a:off x="1143000" y="1333195"/>
            <a:ext cx="761695" cy="28346"/>
          </a:xfrm>
          <a:prstGeom prst="rect">
            <a:avLst/>
          </a:prstGeom>
        </p:spPr>
      </p:pic>
      <p:pic>
        <p:nvPicPr>
          <p:cNvPr id="6" name="Image 3" descr="gen-dedup-d0bbab63d7cf4133cea251b981827795.png">    </p:cNvPr>
          <p:cNvPicPr>
            <a:picLocks noChangeAspect="1"/>
          </p:cNvPicPr>
          <p:nvPr/>
        </p:nvPicPr>
        <p:blipFill>
          <a:blip r:embed="rId4"/>
          <a:srcRect l="-373" r="-373" t="0" b="0"/>
          <a:stretch/>
        </p:blipFill>
        <p:spPr>
          <a:xfrm>
            <a:off x="1143000" y="5524805"/>
            <a:ext cx="38405" cy="857707"/>
          </a:xfrm>
          <a:prstGeom prst="rect">
            <a:avLst/>
          </a:prstGeom>
        </p:spPr>
      </p:pic>
      <p:pic>
        <p:nvPicPr>
          <p:cNvPr id="7" name="Image 4" descr="gen-dedup-4b19499ffdcd17532757942d55f8d774.png">    </p:cNvPr>
          <p:cNvPicPr>
            <a:picLocks noChangeAspect="1"/>
          </p:cNvPicPr>
          <p:nvPr/>
        </p:nvPicPr>
        <p:blipFill>
          <a:blip r:embed="rId5"/>
          <a:srcRect l="-373" r="-373" t="0" b="0"/>
          <a:stretch/>
        </p:blipFill>
        <p:spPr>
          <a:xfrm>
            <a:off x="1143000" y="6762902"/>
            <a:ext cx="38405" cy="857707"/>
          </a:xfrm>
          <a:prstGeom prst="rect">
            <a:avLst/>
          </a:prstGeom>
        </p:spPr>
      </p:pic>
      <p:pic>
        <p:nvPicPr>
          <p:cNvPr id="8" name="Image 5" descr="gen-dedup-73c7121ae5f459a6640c0bfdc11a8734.png">    </p:cNvPr>
          <p:cNvPicPr>
            <a:picLocks noChangeAspect="1"/>
          </p:cNvPicPr>
          <p:nvPr/>
        </p:nvPicPr>
        <p:blipFill>
          <a:blip r:embed="rId6"/>
          <a:srcRect l="-373" r="-373" t="0" b="0"/>
          <a:stretch/>
        </p:blipFill>
        <p:spPr>
          <a:xfrm>
            <a:off x="1143000" y="8001000"/>
            <a:ext cx="38405" cy="857707"/>
          </a:xfrm>
          <a:prstGeom prst="rect">
            <a:avLst/>
          </a:prstGeom>
        </p:spPr>
      </p:pic>
      <p:sp>
        <p:nvSpPr>
          <p:cNvPr id="9" name="Text 1"/>
          <p:cNvSpPr txBox="1"/>
          <p:nvPr/>
        </p:nvSpPr>
        <p:spPr>
          <a:xfrm>
            <a:off x="1143000" y="1524305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motivação</a:t>
            </a:r>
            <a:endParaRPr lang="en-US" sz="1500" dirty="0"/>
          </a:p>
        </p:txBody>
      </p:sp>
      <p:sp>
        <p:nvSpPr>
          <p:cNvPr id="10" name="Text 2"/>
          <p:cNvSpPr txBox="1"/>
          <p:nvPr/>
        </p:nvSpPr>
        <p:spPr>
          <a:xfrm>
            <a:off x="1143000" y="1904695"/>
            <a:ext cx="1333561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Por que IA na pesquisa</a:t>
            </a:r>
            <a:pPr algn="l" indent="0" marL="0">
              <a:lnSpc>
                <a:spcPct val="100000"/>
              </a:lnSpc>
              <a:buNone/>
            </a:pPr>
            <a:endParaRPr lang="en-US" sz="7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200" i="1" spc="-144" kern="0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agroflorestal?</a:t>
            </a:r>
            <a:endParaRPr lang="en-US" sz="7200" dirty="0"/>
          </a:p>
        </p:txBody>
      </p:sp>
      <p:sp>
        <p:nvSpPr>
          <p:cNvPr id="11" name="Text 3"/>
          <p:cNvSpPr txBox="1"/>
          <p:nvPr/>
        </p:nvSpPr>
        <p:spPr>
          <a:xfrm>
            <a:off x="13144500" y="2190902"/>
            <a:ext cx="4000500" cy="1114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i="1" dirty="0">
                <a:solidFill>
                  <a:srgbClr val="3A453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 campo agroflorestal produz muitos dados e pouca gente que programa.</a:t>
            </a:r>
            <a:endParaRPr lang="en-US" sz="2250" dirty="0"/>
          </a:p>
        </p:txBody>
      </p:sp>
      <p:sp>
        <p:nvSpPr>
          <p:cNvPr id="12" name="Text 4"/>
          <p:cNvSpPr txBox="1"/>
          <p:nvPr/>
        </p:nvSpPr>
        <p:spPr>
          <a:xfrm>
            <a:off x="1524305" y="5524805"/>
            <a:ext cx="112398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Experimentos de campo geram </a:t>
            </a:r>
            <a:pPr algn="l" indent="0" marL="0">
              <a:buNone/>
            </a:pPr>
            <a:r>
              <a:rPr lang="en-US" sz="2700" i="1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muitos dados</a:t>
            </a:r>
            <a:endParaRPr lang="en-US" sz="2700" dirty="0"/>
          </a:p>
        </p:txBody>
      </p:sp>
      <p:sp>
        <p:nvSpPr>
          <p:cNvPr id="13" name="Text 5"/>
          <p:cNvSpPr txBox="1"/>
          <p:nvPr/>
        </p:nvSpPr>
        <p:spPr>
          <a:xfrm>
            <a:off x="1524305" y="6033211"/>
            <a:ext cx="112398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Mudas, SAF, café sombreado, ILPF — planilhas grandes, várias repetições, vários fatores.</a:t>
            </a:r>
            <a:endParaRPr lang="en-US" sz="1650" dirty="0"/>
          </a:p>
        </p:txBody>
      </p:sp>
      <p:sp>
        <p:nvSpPr>
          <p:cNvPr id="14" name="Text 6"/>
          <p:cNvSpPr txBox="1"/>
          <p:nvPr/>
        </p:nvSpPr>
        <p:spPr>
          <a:xfrm>
            <a:off x="1524305" y="6762902"/>
            <a:ext cx="112398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Softwares estatísticos </a:t>
            </a:r>
            <a:pPr algn="l" indent="0" marL="0">
              <a:buNone/>
            </a:pPr>
            <a:r>
              <a:rPr lang="en-US" sz="2700" i="1" dirty="0">
                <a:solidFill>
                  <a:srgbClr val="6B8E4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assustam</a:t>
            </a:r>
            <a:pPr algn="l" indent="0" marL="0">
              <a:buNone/>
            </a:pPr>
            <a:r>
              <a:rPr lang="en-US" sz="270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quem não programa</a:t>
            </a:r>
            <a:endParaRPr lang="en-US" sz="2700" dirty="0"/>
          </a:p>
        </p:txBody>
      </p:sp>
      <p:sp>
        <p:nvSpPr>
          <p:cNvPr id="15" name="Text 7"/>
          <p:cNvSpPr txBox="1"/>
          <p:nvPr/>
        </p:nvSpPr>
        <p:spPr>
          <a:xfrm>
            <a:off x="1524305" y="7271309"/>
            <a:ext cx="112398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Linha de comando, sintaxe nova a cada programa, gráficos que ninguém explica direito.</a:t>
            </a:r>
            <a:endParaRPr lang="en-US" sz="1650" dirty="0"/>
          </a:p>
        </p:txBody>
      </p:sp>
      <p:sp>
        <p:nvSpPr>
          <p:cNvPr id="16" name="Text 8"/>
          <p:cNvSpPr txBox="1"/>
          <p:nvPr/>
        </p:nvSpPr>
        <p:spPr>
          <a:xfrm>
            <a:off x="1524305" y="8001000"/>
            <a:ext cx="114300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IA traduz do </a:t>
            </a:r>
            <a:pPr algn="l" indent="0" marL="0">
              <a:buNone/>
            </a:pPr>
            <a:r>
              <a:rPr lang="en-US" sz="2700" i="1" dirty="0">
                <a:solidFill>
                  <a:srgbClr val="B250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português para a análise</a:t>
            </a:r>
            <a:endParaRPr lang="en-US" sz="2700" dirty="0"/>
          </a:p>
        </p:txBody>
      </p:sp>
      <p:sp>
        <p:nvSpPr>
          <p:cNvPr id="17" name="Text 9"/>
          <p:cNvSpPr txBox="1"/>
          <p:nvPr/>
        </p:nvSpPr>
        <p:spPr>
          <a:xfrm>
            <a:off x="1524305" y="8509406"/>
            <a:ext cx="114300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 não substitui o pesquisador</a:t>
            </a:r>
            <a:pPr algn="l" indent="0" marL="0">
              <a:buNone/>
            </a:pPr>
            <a:r>
              <a:rPr lang="en-US" sz="16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você continua sendo o dono da pergunta.</a:t>
            </a:r>
            <a:endParaRPr lang="en-US" sz="1650" dirty="0"/>
          </a:p>
        </p:txBody>
      </p:sp>
      <p:sp>
        <p:nvSpPr>
          <p:cNvPr id="18" name="Text 10"/>
          <p:cNvSpPr txBox="1"/>
          <p:nvPr/>
        </p:nvSpPr>
        <p:spPr>
          <a:xfrm>
            <a:off x="16954805" y="9667951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45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D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805" y="2667305"/>
            <a:ext cx="4762195" cy="2857500"/>
          </a:xfrm>
          <a:prstGeom prst="roundRect">
            <a:avLst>
              <a:gd name="adj" fmla="val 2656"/>
            </a:avLst>
          </a:prstGeom>
          <a:solidFill>
            <a:srgbClr val="2F52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gen-dedup-25d171a00207495f984f0461de67ed58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143000" y="6191402"/>
            <a:ext cx="16002000" cy="9144"/>
          </a:xfrm>
          <a:prstGeom prst="rect">
            <a:avLst/>
          </a:prstGeom>
        </p:spPr>
      </p:pic>
      <p:pic>
        <p:nvPicPr>
          <p:cNvPr id="4" name="Image 1" descr="gen-dedup-609ca5620bc91a301e35b29a91fab242.png">    </p:cNvPr>
          <p:cNvPicPr>
            <a:picLocks noChangeAspect="1"/>
          </p:cNvPicPr>
          <p:nvPr/>
        </p:nvPicPr>
        <p:blipFill>
          <a:blip r:embed="rId2"/>
          <a:srcRect l="-385" r="-385" t="0" b="0"/>
          <a:stretch/>
        </p:blipFill>
        <p:spPr>
          <a:xfrm>
            <a:off x="1143000" y="761695"/>
            <a:ext cx="761695" cy="28346"/>
          </a:xfrm>
          <a:prstGeom prst="rect">
            <a:avLst/>
          </a:prstGeom>
        </p:spPr>
      </p:pic>
      <p:pic>
        <p:nvPicPr>
          <p:cNvPr id="5" name="Image 2" descr="gen-dedup-98c4d09febb5fb63b29e7a973a7d978b.png">    </p:cNvPr>
          <p:cNvPicPr>
            <a:picLocks noChangeAspect="1"/>
          </p:cNvPicPr>
          <p:nvPr/>
        </p:nvPicPr>
        <p:blipFill>
          <a:blip r:embed="rId3"/>
          <a:srcRect l="-400" r="-400" t="0" b="0"/>
          <a:stretch/>
        </p:blipFill>
        <p:spPr>
          <a:xfrm>
            <a:off x="9144000" y="6572707"/>
            <a:ext cx="38405" cy="571500"/>
          </a:xfrm>
          <a:prstGeom prst="rect">
            <a:avLst/>
          </a:prstGeom>
        </p:spPr>
      </p:pic>
      <p:pic>
        <p:nvPicPr>
          <p:cNvPr id="6" name="Image 3" descr="gen-dedup-5ded2734a4752e9733a221f9dd1c4cfd.png">    </p:cNvPr>
          <p:cNvPicPr>
            <a:picLocks noChangeAspect="1"/>
          </p:cNvPicPr>
          <p:nvPr/>
        </p:nvPicPr>
        <p:blipFill>
          <a:blip r:embed="rId4"/>
          <a:srcRect l="-400" r="-400" t="0" b="0"/>
          <a:stretch/>
        </p:blipFill>
        <p:spPr>
          <a:xfrm>
            <a:off x="9144000" y="7524598"/>
            <a:ext cx="38405" cy="571500"/>
          </a:xfrm>
          <a:prstGeom prst="rect">
            <a:avLst/>
          </a:prstGeom>
        </p:spPr>
      </p:pic>
      <p:pic>
        <p:nvPicPr>
          <p:cNvPr id="7" name="Image 4" descr="gen-dedup-85f5a3152fea0f44d09d4a6b92492e66.png">    </p:cNvPr>
          <p:cNvPicPr>
            <a:picLocks noChangeAspect="1"/>
          </p:cNvPicPr>
          <p:nvPr/>
        </p:nvPicPr>
        <p:blipFill>
          <a:blip r:embed="rId5"/>
          <a:srcRect l="-400" r="-400" t="0" b="0"/>
          <a:stretch/>
        </p:blipFill>
        <p:spPr>
          <a:xfrm>
            <a:off x="9144000" y="8287207"/>
            <a:ext cx="38405" cy="571500"/>
          </a:xfrm>
          <a:prstGeom prst="rect">
            <a:avLst/>
          </a:prstGeom>
        </p:spPr>
      </p:pic>
      <p:sp>
        <p:nvSpPr>
          <p:cNvPr id="8" name="Text 1"/>
          <p:cNvSpPr txBox="1"/>
          <p:nvPr/>
        </p:nvSpPr>
        <p:spPr>
          <a:xfrm>
            <a:off x="1143000" y="952805"/>
            <a:ext cx="1143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evidência · experimento controlado</a:t>
            </a:r>
            <a:endParaRPr lang="en-US" sz="1500" dirty="0"/>
          </a:p>
        </p:txBody>
      </p:sp>
      <p:sp>
        <p:nvSpPr>
          <p:cNvPr id="9" name="Text 2"/>
          <p:cNvSpPr txBox="1"/>
          <p:nvPr/>
        </p:nvSpPr>
        <p:spPr>
          <a:xfrm>
            <a:off x="1143000" y="1333195"/>
            <a:ext cx="15240305" cy="724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0" spc="-108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Quanto vale </a:t>
            </a:r>
            <a:pPr algn="l" indent="0" marL="0">
              <a:buNone/>
            </a:pPr>
            <a:r>
              <a:rPr lang="en-US" sz="5400" i="1" spc="-108" kern="0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saber usar IA?</a:t>
            </a:r>
            <a:endParaRPr lang="en-US" sz="5400" dirty="0"/>
          </a:p>
        </p:txBody>
      </p:sp>
      <p:sp>
        <p:nvSpPr>
          <p:cNvPr id="10" name="Text 3"/>
          <p:cNvSpPr txBox="1"/>
          <p:nvPr/>
        </p:nvSpPr>
        <p:spPr>
          <a:xfrm>
            <a:off x="1143000" y="2667305"/>
            <a:ext cx="10668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 médio para concluir a tarefa (min)</a:t>
            </a:r>
            <a:endParaRPr lang="en-US" sz="1650" dirty="0"/>
          </a:p>
        </p:txBody>
      </p:sp>
      <p:sp>
        <p:nvSpPr>
          <p:cNvPr id="11" name="Text 4"/>
          <p:cNvSpPr txBox="1"/>
          <p:nvPr/>
        </p:nvSpPr>
        <p:spPr>
          <a:xfrm>
            <a:off x="1143000" y="3290926"/>
            <a:ext cx="2857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IA</a:t>
            </a:r>
            <a:endParaRPr lang="en-US" sz="1800" dirty="0"/>
          </a:p>
        </p:txBody>
      </p:sp>
      <p:sp>
        <p:nvSpPr>
          <p:cNvPr id="12" name="Shape 5"/>
          <p:cNvSpPr/>
          <p:nvPr/>
        </p:nvSpPr>
        <p:spPr>
          <a:xfrm>
            <a:off x="4000500" y="3124505"/>
            <a:ext cx="6286500" cy="609905"/>
          </a:xfrm>
          <a:prstGeom prst="rect">
            <a:avLst/>
          </a:prstGeom>
          <a:solidFill>
            <a:srgbClr val="8B6F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6"/>
          <p:cNvSpPr txBox="1"/>
          <p:nvPr/>
        </p:nvSpPr>
        <p:spPr>
          <a:xfrm>
            <a:off x="10439705" y="3219602"/>
            <a:ext cx="1139342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B6F4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160,9</a:t>
            </a:r>
            <a:endParaRPr lang="en-US" sz="2700" dirty="0"/>
          </a:p>
        </p:txBody>
      </p:sp>
      <p:sp>
        <p:nvSpPr>
          <p:cNvPr id="14" name="Text 7"/>
          <p:cNvSpPr txBox="1"/>
          <p:nvPr/>
        </p:nvSpPr>
        <p:spPr>
          <a:xfrm>
            <a:off x="1143000" y="3962095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IA</a:t>
            </a:r>
            <a:pPr algn="l" indent="0" marL="0">
              <a:lnSpc>
                <a:spcPct val="125000"/>
              </a:lnSpc>
              <a:buNone/>
            </a:pPr>
            <a:endParaRPr lang="en-US" sz="1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(GitHub Copilot)</a:t>
            </a:r>
            <a:endParaRPr lang="en-US" sz="1800" dirty="0"/>
          </a:p>
        </p:txBody>
      </p:sp>
      <p:sp>
        <p:nvSpPr>
          <p:cNvPr id="15" name="Shape 8"/>
          <p:cNvSpPr/>
          <p:nvPr/>
        </p:nvSpPr>
        <p:spPr>
          <a:xfrm>
            <a:off x="4000500" y="3943807"/>
            <a:ext cx="2781605" cy="609905"/>
          </a:xfrm>
          <a:prstGeom prst="rect">
            <a:avLst/>
          </a:prstGeom>
          <a:solidFill>
            <a:srgbClr val="2F52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9"/>
          <p:cNvSpPr txBox="1"/>
          <p:nvPr/>
        </p:nvSpPr>
        <p:spPr>
          <a:xfrm>
            <a:off x="6933895" y="4038905"/>
            <a:ext cx="905256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71,2</a:t>
            </a:r>
            <a:endParaRPr lang="en-US" sz="2700" dirty="0"/>
          </a:p>
        </p:txBody>
      </p:sp>
      <p:sp>
        <p:nvSpPr>
          <p:cNvPr id="17" name="Text 10"/>
          <p:cNvSpPr txBox="1"/>
          <p:nvPr/>
        </p:nvSpPr>
        <p:spPr>
          <a:xfrm>
            <a:off x="12763195" y="2952598"/>
            <a:ext cx="4096512" cy="991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800" b="1" spc="-156" kern="0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55,8%</a:t>
            </a:r>
            <a:endParaRPr lang="en-US" sz="7800" dirty="0"/>
          </a:p>
        </p:txBody>
      </p:sp>
      <p:sp>
        <p:nvSpPr>
          <p:cNvPr id="18" name="Text 11"/>
          <p:cNvSpPr txBox="1"/>
          <p:nvPr/>
        </p:nvSpPr>
        <p:spPr>
          <a:xfrm>
            <a:off x="12763195" y="4019702"/>
            <a:ext cx="4096512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i="1" dirty="0">
                <a:solidFill>
                  <a:srgbClr val="C7922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mais rápido</a:t>
            </a:r>
            <a:endParaRPr lang="en-US" sz="2850" dirty="0"/>
          </a:p>
        </p:txBody>
      </p:sp>
      <p:sp>
        <p:nvSpPr>
          <p:cNvPr id="19" name="Text 12"/>
          <p:cNvSpPr txBox="1"/>
          <p:nvPr/>
        </p:nvSpPr>
        <p:spPr>
          <a:xfrm>
            <a:off x="12763195" y="4677156"/>
            <a:ext cx="40965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DDD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 = 0,0017 · IC 95%: 21% a 89%</a:t>
            </a:r>
            <a:endParaRPr lang="en-US" sz="1650" dirty="0"/>
          </a:p>
        </p:txBody>
      </p:sp>
      <p:sp>
        <p:nvSpPr>
          <p:cNvPr id="20" name="Text 13"/>
          <p:cNvSpPr txBox="1"/>
          <p:nvPr/>
        </p:nvSpPr>
        <p:spPr>
          <a:xfrm>
            <a:off x="1143000" y="5715000"/>
            <a:ext cx="1600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adaptado de PENG, S. et al. The impact of AI on developer productivity: evidence from GitHub Copilot. arXiv:2302.06590, 2023.</a:t>
            </a:r>
            <a:endParaRPr lang="en-US" sz="1275" dirty="0"/>
          </a:p>
        </p:txBody>
      </p:sp>
      <p:sp>
        <p:nvSpPr>
          <p:cNvPr id="21" name="Text 14"/>
          <p:cNvSpPr txBox="1"/>
          <p:nvPr/>
        </p:nvSpPr>
        <p:spPr>
          <a:xfrm>
            <a:off x="1143000" y="6572707"/>
            <a:ext cx="2572207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Ganho que os participantes estimaram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3715207" y="6601054"/>
            <a:ext cx="2152498" cy="418795"/>
          </a:xfrm>
          <a:prstGeom prst="rect">
            <a:avLst/>
          </a:prstGeom>
          <a:solidFill>
            <a:srgbClr val="A8B5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5982005" y="6633972"/>
            <a:ext cx="571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B8E4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35%</a:t>
            </a:r>
            <a:endParaRPr lang="en-US" sz="2250" dirty="0"/>
          </a:p>
        </p:txBody>
      </p:sp>
      <p:sp>
        <p:nvSpPr>
          <p:cNvPr id="24" name="Text 17"/>
          <p:cNvSpPr txBox="1"/>
          <p:nvPr/>
        </p:nvSpPr>
        <p:spPr>
          <a:xfrm>
            <a:off x="1143000" y="7291426"/>
            <a:ext cx="2572207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Ganho real medido</a:t>
            </a:r>
            <a:endParaRPr lang="en-US" sz="1500" dirty="0"/>
          </a:p>
        </p:txBody>
      </p:sp>
      <p:sp>
        <p:nvSpPr>
          <p:cNvPr id="25" name="Shape 18"/>
          <p:cNvSpPr/>
          <p:nvPr/>
        </p:nvSpPr>
        <p:spPr>
          <a:xfrm>
            <a:off x="3715207" y="7200900"/>
            <a:ext cx="3429000" cy="418795"/>
          </a:xfrm>
          <a:prstGeom prst="rect">
            <a:avLst/>
          </a:prstGeom>
          <a:solidFill>
            <a:srgbClr val="2F52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7258507" y="7233818"/>
            <a:ext cx="919886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55,8%</a:t>
            </a:r>
            <a:endParaRPr lang="en-US" sz="2250" dirty="0"/>
          </a:p>
        </p:txBody>
      </p:sp>
      <p:sp>
        <p:nvSpPr>
          <p:cNvPr id="27" name="Text 20"/>
          <p:cNvSpPr txBox="1"/>
          <p:nvPr/>
        </p:nvSpPr>
        <p:spPr>
          <a:xfrm>
            <a:off x="1143000" y="7810805"/>
            <a:ext cx="70491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B250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As pessoas subestimam o ganho.</a:t>
            </a:r>
            <a:endParaRPr lang="en-US" sz="2100" dirty="0"/>
          </a:p>
        </p:txBody>
      </p:sp>
      <p:sp>
        <p:nvSpPr>
          <p:cNvPr id="28" name="Text 21"/>
          <p:cNvSpPr txBox="1"/>
          <p:nvPr/>
        </p:nvSpPr>
        <p:spPr>
          <a:xfrm>
            <a:off x="9430207" y="6534302"/>
            <a:ext cx="77157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 programadores</a:t>
            </a:r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sorteados em 2 grupos (com e sem IA) — um experimento com grupo controle, como os nossos.</a:t>
            </a:r>
            <a:endParaRPr lang="en-US" sz="1650" dirty="0"/>
          </a:p>
        </p:txBody>
      </p:sp>
      <p:sp>
        <p:nvSpPr>
          <p:cNvPr id="29" name="Text 22"/>
          <p:cNvSpPr txBox="1"/>
          <p:nvPr/>
        </p:nvSpPr>
        <p:spPr>
          <a:xfrm>
            <a:off x="9430207" y="7487107"/>
            <a:ext cx="7715707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grupo com IA recebeu só </a:t>
            </a:r>
            <a:pPr algn="l" indent="0" marL="0">
              <a:buNone/>
            </a:pPr>
            <a:r>
              <a:rPr lang="en-US" sz="1650" b="1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minuto de treino</a:t>
            </a:r>
            <a:pPr algn="l" indent="0" marL="0">
              <a:buNone/>
            </a:pPr>
            <a:r>
              <a:rPr lang="en-US" sz="165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em vídeo.</a:t>
            </a:r>
            <a:endParaRPr lang="en-US" sz="1650" dirty="0"/>
          </a:p>
        </p:txBody>
      </p:sp>
      <p:sp>
        <p:nvSpPr>
          <p:cNvPr id="30" name="Text 23"/>
          <p:cNvSpPr txBox="1"/>
          <p:nvPr/>
        </p:nvSpPr>
        <p:spPr>
          <a:xfrm>
            <a:off x="9430207" y="8248802"/>
            <a:ext cx="7715707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Quem tinha </a:t>
            </a:r>
            <a:pPr algn="l" indent="0" marL="0">
              <a:buNone/>
            </a:pPr>
            <a:r>
              <a:rPr lang="en-US" sz="1650" b="1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MENOS</a:t>
            </a:r>
            <a:pPr algn="l" indent="0" marL="0">
              <a:buNone/>
            </a:pPr>
            <a:r>
              <a:rPr lang="en-US" sz="165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experiência ganhou </a:t>
            </a:r>
            <a:pPr algn="l" indent="0" marL="0">
              <a:buNone/>
            </a:pPr>
            <a:r>
              <a:rPr lang="en-US" sz="1650" b="1" dirty="0">
                <a:solidFill>
                  <a:srgbClr val="2F5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MAIS</a:t>
            </a:r>
            <a:pPr algn="l" indent="0" marL="0">
              <a:buNone/>
            </a:pPr>
            <a:r>
              <a:rPr lang="en-US" sz="165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50" dirty="0"/>
          </a:p>
        </p:txBody>
      </p:sp>
      <p:sp>
        <p:nvSpPr>
          <p:cNvPr id="31" name="Text 24"/>
          <p:cNvSpPr txBox="1"/>
          <p:nvPr/>
        </p:nvSpPr>
        <p:spPr>
          <a:xfrm>
            <a:off x="1143000" y="9525305"/>
            <a:ext cx="14859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Ressalva: tarefa de programação; o ganho varia com a tarefa e a qualidade precisa ser conferida.</a:t>
            </a:r>
            <a:endParaRPr lang="en-US" sz="1350" dirty="0"/>
          </a:p>
        </p:txBody>
      </p:sp>
      <p:sp>
        <p:nvSpPr>
          <p:cNvPr id="32" name="Text 25"/>
          <p:cNvSpPr txBox="1"/>
          <p:nvPr/>
        </p:nvSpPr>
        <p:spPr>
          <a:xfrm>
            <a:off x="16954805" y="9667951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45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D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3810305"/>
            <a:ext cx="7619695" cy="5333695"/>
          </a:xfrm>
          <a:prstGeom prst="roundRect">
            <a:avLst>
              <a:gd name="adj" fmla="val 720"/>
            </a:avLst>
          </a:prstGeom>
          <a:solidFill>
            <a:srgbClr val="E6DF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25305" y="3810305"/>
            <a:ext cx="7619695" cy="5333695"/>
          </a:xfrm>
          <a:prstGeom prst="roundRect">
            <a:avLst>
              <a:gd name="adj" fmla="val 720"/>
            </a:avLst>
          </a:prstGeom>
          <a:solidFill>
            <a:srgbClr val="B2503C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430207"/>
            <a:ext cx="18288000" cy="857707"/>
          </a:xfrm>
          <a:prstGeom prst="rect">
            <a:avLst/>
          </a:prstGeom>
          <a:solidFill>
            <a:srgbClr val="1E2A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gen-dedup-609ca5620bc91a301e35b29a91fab242.png">    </p:cNvPr>
          <p:cNvPicPr>
            <a:picLocks noChangeAspect="1"/>
          </p:cNvPicPr>
          <p:nvPr/>
        </p:nvPicPr>
        <p:blipFill>
          <a:blip r:embed="rId1"/>
          <a:srcRect l="-385" r="-385" t="0" b="0"/>
          <a:stretch/>
        </p:blipFill>
        <p:spPr>
          <a:xfrm>
            <a:off x="1143000" y="1333195"/>
            <a:ext cx="761695" cy="28346"/>
          </a:xfrm>
          <a:prstGeom prst="rect">
            <a:avLst/>
          </a:prstGeom>
        </p:spPr>
      </p:pic>
      <p:pic>
        <p:nvPicPr>
          <p:cNvPr id="6" name="Image 1" descr="gen-dedup-870290af5cecfebb5b95a132d69784b3.png">    </p:cNvPr>
          <p:cNvPicPr>
            <a:picLocks noChangeAspect="1"/>
          </p:cNvPicPr>
          <p:nvPr/>
        </p:nvPicPr>
        <p:blipFill>
          <a:blip r:embed="rId2"/>
          <a:srcRect l="0" r="0" t="-402" b="-402"/>
          <a:stretch/>
        </p:blipFill>
        <p:spPr>
          <a:xfrm>
            <a:off x="1143000" y="3810305"/>
            <a:ext cx="7619695" cy="57607"/>
          </a:xfrm>
          <a:prstGeom prst="rect">
            <a:avLst/>
          </a:prstGeom>
        </p:spPr>
      </p:pic>
      <p:pic>
        <p:nvPicPr>
          <p:cNvPr id="7" name="Image 2" descr="gen-dedup-54920420d8079e989d84465fac1811c2.png">    </p:cNvPr>
          <p:cNvPicPr>
            <a:picLocks noChangeAspect="1"/>
          </p:cNvPicPr>
          <p:nvPr/>
        </p:nvPicPr>
        <p:blipFill>
          <a:blip r:embed="rId3"/>
          <a:srcRect l="0" r="0" t="-402" b="-402"/>
          <a:stretch/>
        </p:blipFill>
        <p:spPr>
          <a:xfrm>
            <a:off x="9525305" y="3810305"/>
            <a:ext cx="7619695" cy="57607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143000" y="1524305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esperar dela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1143000" y="1904695"/>
            <a:ext cx="142875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spc="-144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Bem </a:t>
            </a:r>
            <a:pPr algn="l" indent="0" marL="0">
              <a:buNone/>
            </a:pPr>
            <a:r>
              <a:rPr lang="en-US" sz="7200" spc="-144" kern="0" dirty="0">
                <a:solidFill>
                  <a:srgbClr val="6B8E4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×</a:t>
            </a:r>
            <a:pPr algn="l" indent="0" marL="0">
              <a:buNone/>
            </a:pPr>
            <a:r>
              <a:rPr lang="en-US" sz="7200" spc="-144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Mal</a:t>
            </a:r>
            <a:endParaRPr lang="en-US" sz="7200" dirty="0"/>
          </a:p>
        </p:txBody>
      </p:sp>
      <p:sp>
        <p:nvSpPr>
          <p:cNvPr id="10" name="Text 5"/>
          <p:cNvSpPr txBox="1"/>
          <p:nvPr/>
        </p:nvSpPr>
        <p:spPr>
          <a:xfrm>
            <a:off x="1524305" y="4190695"/>
            <a:ext cx="6667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2F5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ela faz bem</a:t>
            </a:r>
            <a:endParaRPr lang="en-US" sz="1650" dirty="0"/>
          </a:p>
        </p:txBody>
      </p:sp>
      <p:sp>
        <p:nvSpPr>
          <p:cNvPr id="11" name="Text 6"/>
          <p:cNvSpPr txBox="1"/>
          <p:nvPr/>
        </p:nvSpPr>
        <p:spPr>
          <a:xfrm>
            <a:off x="1524305" y="4572000"/>
            <a:ext cx="6667805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spc="-48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É </a:t>
            </a:r>
            <a:pPr algn="l" indent="0" marL="0">
              <a:lnSpc>
                <a:spcPct val="100000"/>
              </a:lnSpc>
              <a:buNone/>
            </a:pPr>
            <a:r>
              <a:rPr lang="en-US" sz="4800" b="1" i="1" spc="-48" kern="0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rápida</a:t>
            </a:r>
            <a:pPr algn="l" indent="0" marL="0">
              <a:lnSpc>
                <a:spcPct val="100000"/>
              </a:lnSpc>
              <a:buNone/>
            </a:pPr>
            <a:r>
              <a:rPr lang="en-US" sz="4800" b="1" spc="-48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e</a:t>
            </a:r>
            <a:pPr algn="l" indent="0" marL="0">
              <a:lnSpc>
                <a:spcPct val="100000"/>
              </a:lnSpc>
              <a:buNone/>
            </a:pPr>
            <a:endParaRPr lang="en-US" sz="4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800" b="1" spc="-48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versátil.</a:t>
            </a:r>
            <a:endParaRPr lang="en-US" sz="4800" dirty="0"/>
          </a:p>
        </p:txBody>
      </p:sp>
      <p:sp>
        <p:nvSpPr>
          <p:cNvPr id="12" name="Text 7"/>
          <p:cNvSpPr txBox="1"/>
          <p:nvPr/>
        </p:nvSpPr>
        <p:spPr>
          <a:xfrm>
            <a:off x="1524305" y="6286500"/>
            <a:ext cx="66678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F5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l" indent="0" marL="0">
              <a:buNone/>
            </a:pPr>
            <a:r>
              <a:rPr lang="en-US" sz="195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Escrever código de qualquer análise</a:t>
            </a:r>
            <a:endParaRPr lang="en-US" sz="1950" dirty="0"/>
          </a:p>
        </p:txBody>
      </p:sp>
      <p:sp>
        <p:nvSpPr>
          <p:cNvPr id="13" name="Text 8"/>
          <p:cNvSpPr txBox="1"/>
          <p:nvPr/>
        </p:nvSpPr>
        <p:spPr>
          <a:xfrm>
            <a:off x="1524305" y="6817766"/>
            <a:ext cx="66678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F5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l" indent="0" marL="0">
              <a:buNone/>
            </a:pPr>
            <a:r>
              <a:rPr lang="en-US" sz="195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Explicar conceitos em linguagem simples</a:t>
            </a:r>
            <a:endParaRPr lang="en-US" sz="1950" dirty="0"/>
          </a:p>
        </p:txBody>
      </p:sp>
      <p:sp>
        <p:nvSpPr>
          <p:cNvPr id="14" name="Text 9"/>
          <p:cNvSpPr txBox="1"/>
          <p:nvPr/>
        </p:nvSpPr>
        <p:spPr>
          <a:xfrm>
            <a:off x="1524305" y="7349033"/>
            <a:ext cx="66678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F5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l" indent="0" marL="0">
              <a:buNone/>
            </a:pPr>
            <a:r>
              <a:rPr lang="en-US" sz="195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Organizar e limpar planilhas</a:t>
            </a:r>
            <a:endParaRPr lang="en-US" sz="1950" dirty="0"/>
          </a:p>
        </p:txBody>
      </p:sp>
      <p:sp>
        <p:nvSpPr>
          <p:cNvPr id="15" name="Text 10"/>
          <p:cNvSpPr txBox="1"/>
          <p:nvPr/>
        </p:nvSpPr>
        <p:spPr>
          <a:xfrm>
            <a:off x="1524305" y="7881214"/>
            <a:ext cx="66678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F5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l" indent="0" marL="0">
              <a:buNone/>
            </a:pPr>
            <a:r>
              <a:rPr lang="en-US" sz="195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Redigir a seção de resultados</a:t>
            </a:r>
            <a:endParaRPr lang="en-US" sz="1950" dirty="0"/>
          </a:p>
        </p:txBody>
      </p:sp>
      <p:sp>
        <p:nvSpPr>
          <p:cNvPr id="16" name="Text 11"/>
          <p:cNvSpPr txBox="1"/>
          <p:nvPr/>
        </p:nvSpPr>
        <p:spPr>
          <a:xfrm>
            <a:off x="9905695" y="4190695"/>
            <a:ext cx="6667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B25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onde tropeça</a:t>
            </a:r>
            <a:endParaRPr lang="en-US" sz="1650" dirty="0"/>
          </a:p>
        </p:txBody>
      </p:sp>
      <p:sp>
        <p:nvSpPr>
          <p:cNvPr id="17" name="Text 12"/>
          <p:cNvSpPr txBox="1"/>
          <p:nvPr/>
        </p:nvSpPr>
        <p:spPr>
          <a:xfrm>
            <a:off x="9905695" y="4572000"/>
            <a:ext cx="6667805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spc="-48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Sem você,</a:t>
            </a:r>
            <a:pPr algn="l" indent="0" marL="0">
              <a:lnSpc>
                <a:spcPct val="100000"/>
              </a:lnSpc>
              <a:buNone/>
            </a:pPr>
            <a:endParaRPr lang="en-US" sz="4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800" b="1" spc="-48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ela </a:t>
            </a:r>
            <a:pPr algn="l" indent="0" marL="0">
              <a:lnSpc>
                <a:spcPct val="100000"/>
              </a:lnSpc>
              <a:buNone/>
            </a:pPr>
            <a:r>
              <a:rPr lang="en-US" sz="4800" b="1" i="1" spc="-48" kern="0" dirty="0">
                <a:solidFill>
                  <a:srgbClr val="B250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alucina.</a:t>
            </a:r>
            <a:endParaRPr lang="en-US" sz="4800" dirty="0"/>
          </a:p>
        </p:txBody>
      </p:sp>
      <p:sp>
        <p:nvSpPr>
          <p:cNvPr id="18" name="Text 13"/>
          <p:cNvSpPr txBox="1"/>
          <p:nvPr/>
        </p:nvSpPr>
        <p:spPr>
          <a:xfrm>
            <a:off x="9905695" y="6286500"/>
            <a:ext cx="68580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25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l" indent="0" marL="0">
              <a:buNone/>
            </a:pPr>
            <a:r>
              <a:rPr lang="en-US" sz="195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Fazer conta “de cabeça”</a:t>
            </a:r>
            <a:endParaRPr lang="en-US" sz="1950" dirty="0"/>
          </a:p>
        </p:txBody>
      </p:sp>
      <p:sp>
        <p:nvSpPr>
          <p:cNvPr id="19" name="Text 14"/>
          <p:cNvSpPr txBox="1"/>
          <p:nvPr/>
        </p:nvSpPr>
        <p:spPr>
          <a:xfrm>
            <a:off x="9905695" y="6817766"/>
            <a:ext cx="68580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25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l" indent="0" marL="0">
              <a:buNone/>
            </a:pPr>
            <a:r>
              <a:rPr lang="en-US" sz="195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Lembrar dados que não viu</a:t>
            </a:r>
            <a:endParaRPr lang="en-US" sz="1950" dirty="0"/>
          </a:p>
        </p:txBody>
      </p:sp>
      <p:sp>
        <p:nvSpPr>
          <p:cNvPr id="20" name="Text 15"/>
          <p:cNvSpPr txBox="1"/>
          <p:nvPr/>
        </p:nvSpPr>
        <p:spPr>
          <a:xfrm>
            <a:off x="9905695" y="7349033"/>
            <a:ext cx="68580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25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l" indent="0" marL="0">
              <a:buNone/>
            </a:pPr>
            <a:r>
              <a:rPr lang="en-US" sz="195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Adivinhar seu delineamento</a:t>
            </a:r>
            <a:endParaRPr lang="en-US" sz="1950" dirty="0"/>
          </a:p>
        </p:txBody>
      </p:sp>
      <p:sp>
        <p:nvSpPr>
          <p:cNvPr id="21" name="Text 16"/>
          <p:cNvSpPr txBox="1"/>
          <p:nvPr/>
        </p:nvSpPr>
        <p:spPr>
          <a:xfrm>
            <a:off x="1143000" y="9620402"/>
            <a:ext cx="16193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i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Mensagem: </a:t>
            </a:r>
            <a:pPr algn="l" indent="0" marL="0">
              <a:buNone/>
            </a:pPr>
            <a:r>
              <a:rPr lang="en-US" sz="2550" b="1" i="1" dirty="0">
                <a:solidFill>
                  <a:srgbClr val="C7922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IA é estagiária muito rápida</a:t>
            </a:r>
            <a:pPr algn="l" indent="0" marL="0">
              <a:buNone/>
            </a:pPr>
            <a:r>
              <a:rPr lang="en-US" sz="2550" i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— você é o orientador.</a:t>
            </a:r>
            <a:endParaRPr lang="en-US" sz="2550" dirty="0"/>
          </a:p>
        </p:txBody>
      </p:sp>
      <p:sp>
        <p:nvSpPr>
          <p:cNvPr id="22" name="Text 17"/>
          <p:cNvSpPr txBox="1"/>
          <p:nvPr/>
        </p:nvSpPr>
        <p:spPr>
          <a:xfrm>
            <a:off x="16954805" y="9667951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A8B5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45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D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305" y="1714500"/>
            <a:ext cx="15240305" cy="6858000"/>
          </a:xfrm>
          <a:prstGeom prst="roundRect">
            <a:avLst>
              <a:gd name="adj" fmla="val 840"/>
            </a:avLst>
          </a:prstGeom>
          <a:solidFill>
            <a:srgbClr val="1E2A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gen-dedup-b9a8d73200db6dc8e9ade2a9cd906447.png">    </p:cNvPr>
          <p:cNvPicPr>
            <a:picLocks noChangeAspect="1"/>
          </p:cNvPicPr>
          <p:nvPr/>
        </p:nvPicPr>
        <p:blipFill>
          <a:blip r:embed="rId1"/>
          <a:srcRect l="-202" r="-202" t="0" b="0"/>
          <a:stretch/>
        </p:blipFill>
        <p:spPr>
          <a:xfrm>
            <a:off x="1524305" y="1714500"/>
            <a:ext cx="15240305" cy="75895"/>
          </a:xfrm>
          <a:prstGeom prst="rect">
            <a:avLst/>
          </a:prstGeom>
        </p:spPr>
      </p:pic>
      <p:pic>
        <p:nvPicPr>
          <p:cNvPr id="4" name="Image 1" descr="gen-dedup-41c1ce55b2fc926e10794a60e58f5c76.png">    </p:cNvPr>
          <p:cNvPicPr>
            <a:picLocks noChangeAspect="1"/>
          </p:cNvPicPr>
          <p:nvPr/>
        </p:nvPicPr>
        <p:blipFill>
          <a:blip r:embed="rId2"/>
          <a:srcRect l="0" r="0" t="-420" b="-420"/>
          <a:stretch/>
        </p:blipFill>
        <p:spPr>
          <a:xfrm>
            <a:off x="2286000" y="5524805"/>
            <a:ext cx="761695" cy="1920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2286000" y="2190902"/>
            <a:ext cx="11430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spc="363" kern="0" dirty="0">
                <a:solidFill>
                  <a:srgbClr val="C792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Alerta</a:t>
            </a:r>
            <a:endParaRPr lang="en-US" sz="1650" dirty="0"/>
          </a:p>
        </p:txBody>
      </p:sp>
      <p:sp>
        <p:nvSpPr>
          <p:cNvPr id="6" name="Text 2"/>
          <p:cNvSpPr txBox="1"/>
          <p:nvPr/>
        </p:nvSpPr>
        <p:spPr>
          <a:xfrm>
            <a:off x="2286000" y="2667305"/>
            <a:ext cx="1219261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0" spc="-162" kern="0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Ela inventa números</a:t>
            </a:r>
            <a:pPr algn="l" indent="0" marL="0">
              <a:lnSpc>
                <a:spcPct val="100000"/>
              </a:lnSpc>
              <a:buNone/>
            </a:pPr>
            <a:endParaRPr lang="en-US" sz="8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100" spc="-162" kern="0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com </a:t>
            </a:r>
            <a:pPr algn="l" indent="0" marL="0">
              <a:lnSpc>
                <a:spcPct val="100000"/>
              </a:lnSpc>
              <a:buNone/>
            </a:pPr>
            <a:r>
              <a:rPr lang="en-US" sz="8100" i="1" spc="-162" kern="0" dirty="0">
                <a:solidFill>
                  <a:srgbClr val="B250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total confiança.</a:t>
            </a:r>
            <a:endParaRPr lang="en-US" sz="8100" dirty="0"/>
          </a:p>
        </p:txBody>
      </p:sp>
      <p:sp>
        <p:nvSpPr>
          <p:cNvPr id="7" name="Text 3"/>
          <p:cNvSpPr txBox="1"/>
          <p:nvPr/>
        </p:nvSpPr>
        <p:spPr>
          <a:xfrm>
            <a:off x="2286000" y="5905195"/>
            <a:ext cx="12192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DDD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</a:t>
            </a:r>
            <a:pPr algn="l" indent="0" marL="0">
              <a:buNone/>
            </a:pPr>
            <a:r>
              <a:rPr lang="en-US" sz="2100" dirty="0">
                <a:solidFill>
                  <a:srgbClr val="FAF6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p-valores</a:t>
            </a:r>
            <a:pPr algn="l" indent="0" marL="0">
              <a:buNone/>
            </a:pPr>
            <a:r>
              <a:rPr lang="en-US" sz="2100" dirty="0">
                <a:solidFill>
                  <a:srgbClr val="DDD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 parecem reais, mas não são.</a:t>
            </a:r>
            <a:endParaRPr lang="en-US" sz="2100" dirty="0"/>
          </a:p>
        </p:txBody>
      </p:sp>
      <p:sp>
        <p:nvSpPr>
          <p:cNvPr id="8" name="Text 4"/>
          <p:cNvSpPr txBox="1"/>
          <p:nvPr/>
        </p:nvSpPr>
        <p:spPr>
          <a:xfrm>
            <a:off x="2286000" y="6488582"/>
            <a:ext cx="12192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DDD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</a:t>
            </a:r>
            <a:pPr algn="l" indent="0" marL="0">
              <a:buNone/>
            </a:pPr>
            <a:r>
              <a:rPr lang="en-US" sz="2100" dirty="0">
                <a:solidFill>
                  <a:srgbClr val="FAF6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referências bibliográficas</a:t>
            </a:r>
            <a:pPr algn="l" indent="0" marL="0">
              <a:buNone/>
            </a:pPr>
            <a:r>
              <a:rPr lang="en-US" sz="2100" dirty="0">
                <a:solidFill>
                  <a:srgbClr val="DDD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 não existem.</a:t>
            </a:r>
            <a:endParaRPr lang="en-US" sz="2100" dirty="0"/>
          </a:p>
        </p:txBody>
      </p:sp>
      <p:sp>
        <p:nvSpPr>
          <p:cNvPr id="9" name="Text 5"/>
          <p:cNvSpPr txBox="1"/>
          <p:nvPr/>
        </p:nvSpPr>
        <p:spPr>
          <a:xfrm>
            <a:off x="2286000" y="7071055"/>
            <a:ext cx="12192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DDD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</a:t>
            </a:r>
            <a:pPr algn="l" indent="0" marL="0">
              <a:buNone/>
            </a:pPr>
            <a:r>
              <a:rPr lang="en-US" sz="2100" dirty="0">
                <a:solidFill>
                  <a:srgbClr val="FAF6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médias</a:t>
            </a:r>
            <a:pPr algn="l" indent="0" marL="0">
              <a:buNone/>
            </a:pPr>
            <a:r>
              <a:rPr lang="en-US" sz="2100" dirty="0">
                <a:solidFill>
                  <a:srgbClr val="DDD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inventadas para preencher a tabela.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8953805"/>
            <a:ext cx="16193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Regra de ouro: </a:t>
            </a:r>
            <a:pPr algn="l" indent="0" marL="0">
              <a:buNone/>
            </a:pPr>
            <a:r>
              <a:rPr lang="en-US" sz="2700" b="1" i="1" dirty="0">
                <a:solidFill>
                  <a:srgbClr val="B250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nunca aceite um resultado sem ver o código e conferir.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16954805" y="9667951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45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549c97aab5a663d3d6439f18f8cfd7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609ca5620bc91a301e35b29a91fab242.png">    </p:cNvPr>
          <p:cNvPicPr>
            <a:picLocks noChangeAspect="1"/>
          </p:cNvPicPr>
          <p:nvPr/>
        </p:nvPicPr>
        <p:blipFill>
          <a:blip r:embed="rId2"/>
          <a:srcRect l="-385" r="-385" t="0" b="0"/>
          <a:stretch/>
        </p:blipFill>
        <p:spPr>
          <a:xfrm>
            <a:off x="1143000" y="1143000"/>
            <a:ext cx="761695" cy="2834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43000" y="4095598"/>
            <a:ext cx="2857500" cy="2476195"/>
          </a:xfrm>
          <a:prstGeom prst="roundRect">
            <a:avLst>
              <a:gd name="adj" fmla="val 1551"/>
            </a:avLst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2" descr="gen-dedup-1d4cf10513ad10864906ddb13e477356.png">    </p:cNvPr>
          <p:cNvPicPr>
            <a:picLocks noChangeAspect="1"/>
          </p:cNvPicPr>
          <p:nvPr/>
        </p:nvPicPr>
        <p:blipFill>
          <a:blip r:embed="rId3"/>
          <a:srcRect l="0" r="0" t="-393" b="-393"/>
          <a:stretch/>
        </p:blipFill>
        <p:spPr>
          <a:xfrm>
            <a:off x="4048049" y="5191049"/>
            <a:ext cx="523951" cy="19202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4476902" y="5095951"/>
            <a:ext cx="133502" cy="190195"/>
          </a:xfrm>
          <a:prstGeom prst="rect">
            <a:avLst/>
          </a:prstGeom>
          <a:noFill/>
          <a:ln w="1270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4714646" y="4095598"/>
            <a:ext cx="2857500" cy="2476195"/>
          </a:xfrm>
          <a:prstGeom prst="roundRect">
            <a:avLst>
              <a:gd name="adj" fmla="val 1551"/>
            </a:avLst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3" descr="gen-dedup-1d4cf10513ad10864906ddb13e477356.png">    </p:cNvPr>
          <p:cNvPicPr>
            <a:picLocks noChangeAspect="1"/>
          </p:cNvPicPr>
          <p:nvPr/>
        </p:nvPicPr>
        <p:blipFill>
          <a:blip r:embed="rId4"/>
          <a:srcRect l="0" r="0" t="-393" b="-393"/>
          <a:stretch/>
        </p:blipFill>
        <p:spPr>
          <a:xfrm>
            <a:off x="7619695" y="5191049"/>
            <a:ext cx="523951" cy="19202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8048549" y="5095951"/>
            <a:ext cx="133502" cy="190195"/>
          </a:xfrm>
          <a:prstGeom prst="rect">
            <a:avLst/>
          </a:prstGeom>
          <a:noFill/>
          <a:ln w="1270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Shape 4"/>
          <p:cNvSpPr/>
          <p:nvPr/>
        </p:nvSpPr>
        <p:spPr>
          <a:xfrm>
            <a:off x="8287207" y="4095598"/>
            <a:ext cx="2857500" cy="2476195"/>
          </a:xfrm>
          <a:prstGeom prst="roundRect">
            <a:avLst>
              <a:gd name="adj" fmla="val 1551"/>
            </a:avLst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4" descr="gen-dedup-1d4cf10513ad10864906ddb13e477356.png">    </p:cNvPr>
          <p:cNvPicPr>
            <a:picLocks noChangeAspect="1"/>
          </p:cNvPicPr>
          <p:nvPr/>
        </p:nvPicPr>
        <p:blipFill>
          <a:blip r:embed="rId5"/>
          <a:srcRect l="0" r="0" t="-393" b="-393"/>
          <a:stretch/>
        </p:blipFill>
        <p:spPr>
          <a:xfrm>
            <a:off x="11192256" y="5191049"/>
            <a:ext cx="523951" cy="19202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11620195" y="5095951"/>
            <a:ext cx="133502" cy="190195"/>
          </a:xfrm>
          <a:prstGeom prst="rect">
            <a:avLst/>
          </a:prstGeom>
          <a:noFill/>
          <a:ln w="1270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11858854" y="4095598"/>
            <a:ext cx="2857500" cy="2476195"/>
          </a:xfrm>
          <a:prstGeom prst="roundRect">
            <a:avLst>
              <a:gd name="adj" fmla="val 1551"/>
            </a:avLst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5" descr="gen-dedup-1d4cf10513ad10864906ddb13e477356.png">    </p:cNvPr>
          <p:cNvPicPr>
            <a:picLocks noChangeAspect="1"/>
          </p:cNvPicPr>
          <p:nvPr/>
        </p:nvPicPr>
        <p:blipFill>
          <a:blip r:embed="rId6"/>
          <a:srcRect l="0" r="0" t="-393" b="-393"/>
          <a:stretch/>
        </p:blipFill>
        <p:spPr>
          <a:xfrm>
            <a:off x="14763902" y="5191049"/>
            <a:ext cx="523951" cy="19202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15192756" y="5095951"/>
            <a:ext cx="133502" cy="190195"/>
          </a:xfrm>
          <a:prstGeom prst="rect">
            <a:avLst/>
          </a:prstGeom>
          <a:noFill/>
          <a:ln w="1270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hape 8"/>
          <p:cNvSpPr/>
          <p:nvPr/>
        </p:nvSpPr>
        <p:spPr>
          <a:xfrm>
            <a:off x="15430500" y="4095598"/>
            <a:ext cx="1904695" cy="2476195"/>
          </a:xfrm>
          <a:prstGeom prst="roundRect">
            <a:avLst>
              <a:gd name="adj" fmla="val 2016"/>
            </a:avLst>
          </a:prstGeom>
          <a:solidFill>
            <a:srgbClr val="C792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6" descr="gen-dedup-41c1ce55b2fc926e10794a60e58f5c76.png">    </p:cNvPr>
          <p:cNvPicPr>
            <a:picLocks noChangeAspect="1"/>
          </p:cNvPicPr>
          <p:nvPr/>
        </p:nvPicPr>
        <p:blipFill>
          <a:blip r:embed="rId7"/>
          <a:srcRect l="0" r="0" t="-420" b="-420"/>
          <a:stretch/>
        </p:blipFill>
        <p:spPr>
          <a:xfrm>
            <a:off x="1143000" y="8382305"/>
            <a:ext cx="761695" cy="19202"/>
          </a:xfrm>
          <a:prstGeom prst="rect">
            <a:avLst/>
          </a:prstGeom>
        </p:spPr>
      </p:pic>
      <p:pic>
        <p:nvPicPr>
          <p:cNvPr id="18" name="Image 7" descr="gen-dedup-52c65641322900accbcca640f580dd42.png">    </p:cNvPr>
          <p:cNvPicPr>
            <a:picLocks noChangeAspect="1"/>
          </p:cNvPicPr>
          <p:nvPr/>
        </p:nvPicPr>
        <p:blipFill>
          <a:blip r:embed="rId8"/>
          <a:srcRect l="0" r="0" t="-400" b="-400"/>
          <a:stretch/>
        </p:blipFill>
        <p:spPr>
          <a:xfrm>
            <a:off x="1143000" y="4095598"/>
            <a:ext cx="2857500" cy="57607"/>
          </a:xfrm>
          <a:prstGeom prst="rect">
            <a:avLst/>
          </a:prstGeom>
        </p:spPr>
      </p:pic>
      <p:pic>
        <p:nvPicPr>
          <p:cNvPr id="19" name="Image 8" descr="gen-dedup-d0564d3edf5cab9db06417244559e2cd.png">    </p:cNvPr>
          <p:cNvPicPr>
            <a:picLocks noChangeAspect="1"/>
          </p:cNvPicPr>
          <p:nvPr/>
        </p:nvPicPr>
        <p:blipFill>
          <a:blip r:embed="rId9"/>
          <a:srcRect l="0" r="0" t="-400" b="-400"/>
          <a:stretch/>
        </p:blipFill>
        <p:spPr>
          <a:xfrm>
            <a:off x="4714646" y="4095598"/>
            <a:ext cx="2857500" cy="57607"/>
          </a:xfrm>
          <a:prstGeom prst="rect">
            <a:avLst/>
          </a:prstGeom>
        </p:spPr>
      </p:pic>
      <p:pic>
        <p:nvPicPr>
          <p:cNvPr id="20" name="Image 9" descr="gen-dedup-a54f879272160e50a8b3f0602f59e047.png">    </p:cNvPr>
          <p:cNvPicPr>
            <a:picLocks noChangeAspect="1"/>
          </p:cNvPicPr>
          <p:nvPr/>
        </p:nvPicPr>
        <p:blipFill>
          <a:blip r:embed="rId10"/>
          <a:srcRect l="0" r="0" t="-400" b="-400"/>
          <a:stretch/>
        </p:blipFill>
        <p:spPr>
          <a:xfrm>
            <a:off x="8287207" y="4095598"/>
            <a:ext cx="2857500" cy="57607"/>
          </a:xfrm>
          <a:prstGeom prst="rect">
            <a:avLst/>
          </a:prstGeom>
        </p:spPr>
      </p:pic>
      <p:pic>
        <p:nvPicPr>
          <p:cNvPr id="21" name="Image 10" descr="gen-dedup-1d11ebca58a6f43383c8716f9d55d86b.png">    </p:cNvPr>
          <p:cNvPicPr>
            <a:picLocks noChangeAspect="1"/>
          </p:cNvPicPr>
          <p:nvPr/>
        </p:nvPicPr>
        <p:blipFill>
          <a:blip r:embed="rId11"/>
          <a:srcRect l="0" r="0" t="-400" b="-400"/>
          <a:stretch/>
        </p:blipFill>
        <p:spPr>
          <a:xfrm>
            <a:off x="11858854" y="4095598"/>
            <a:ext cx="2857500" cy="57607"/>
          </a:xfrm>
          <a:prstGeom prst="rect">
            <a:avLst/>
          </a:prstGeom>
        </p:spPr>
      </p:pic>
      <p:sp>
        <p:nvSpPr>
          <p:cNvPr id="22" name="Text 9"/>
          <p:cNvSpPr txBox="1"/>
          <p:nvPr/>
        </p:nvSpPr>
        <p:spPr>
          <a:xfrm>
            <a:off x="1143000" y="1333195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A8B5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trás do resultado</a:t>
            </a:r>
            <a:endParaRPr lang="en-US" sz="1500" dirty="0"/>
          </a:p>
        </p:txBody>
      </p:sp>
      <p:sp>
        <p:nvSpPr>
          <p:cNvPr id="23" name="Text 10"/>
          <p:cNvSpPr txBox="1"/>
          <p:nvPr/>
        </p:nvSpPr>
        <p:spPr>
          <a:xfrm>
            <a:off x="1143000" y="1714500"/>
            <a:ext cx="15589606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spc="-144" kern="0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IA não faz </a:t>
            </a:r>
            <a:pPr algn="l" indent="0" marL="0">
              <a:buNone/>
            </a:pPr>
            <a:r>
              <a:rPr lang="en-US" sz="7200" i="1" spc="-144" kern="0" dirty="0">
                <a:solidFill>
                  <a:srgbClr val="C7922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conta</a:t>
            </a:r>
            <a:pPr algn="l" indent="0" marL="0">
              <a:buNone/>
            </a:pPr>
            <a:r>
              <a:rPr lang="en-US" sz="7200" spc="-144" kern="0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de cabeça.</a:t>
            </a:r>
            <a:endParaRPr lang="en-US" sz="7200" dirty="0"/>
          </a:p>
        </p:txBody>
      </p:sp>
      <p:sp>
        <p:nvSpPr>
          <p:cNvPr id="24" name="Text 11"/>
          <p:cNvSpPr txBox="1"/>
          <p:nvPr/>
        </p:nvSpPr>
        <p:spPr>
          <a:xfrm>
            <a:off x="1143000" y="4381805"/>
            <a:ext cx="285750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7922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4800" dirty="0"/>
          </a:p>
        </p:txBody>
      </p:sp>
      <p:sp>
        <p:nvSpPr>
          <p:cNvPr id="25" name="Text 12"/>
          <p:cNvSpPr txBox="1"/>
          <p:nvPr/>
        </p:nvSpPr>
        <p:spPr>
          <a:xfrm>
            <a:off x="1371600" y="5162702"/>
            <a:ext cx="24003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Você pergunta em português</a:t>
            </a:r>
            <a:endParaRPr lang="en-US" sz="1800" dirty="0"/>
          </a:p>
        </p:txBody>
      </p:sp>
      <p:sp>
        <p:nvSpPr>
          <p:cNvPr id="26" name="Text 13"/>
          <p:cNvSpPr txBox="1"/>
          <p:nvPr/>
        </p:nvSpPr>
        <p:spPr>
          <a:xfrm>
            <a:off x="4714646" y="4381805"/>
            <a:ext cx="285750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B8E4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4800" dirty="0"/>
          </a:p>
        </p:txBody>
      </p:sp>
      <p:sp>
        <p:nvSpPr>
          <p:cNvPr id="27" name="Text 14"/>
          <p:cNvSpPr txBox="1"/>
          <p:nvPr/>
        </p:nvSpPr>
        <p:spPr>
          <a:xfrm>
            <a:off x="4943246" y="5162702"/>
            <a:ext cx="24003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IA escreve um programa (Python/R)</a:t>
            </a:r>
            <a:endParaRPr lang="en-US" sz="1800" dirty="0"/>
          </a:p>
        </p:txBody>
      </p:sp>
      <p:sp>
        <p:nvSpPr>
          <p:cNvPr id="28" name="Text 15"/>
          <p:cNvSpPr txBox="1"/>
          <p:nvPr/>
        </p:nvSpPr>
        <p:spPr>
          <a:xfrm>
            <a:off x="8287207" y="4381805"/>
            <a:ext cx="285750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8B6F4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</a:t>
            </a:r>
            <a:endParaRPr lang="en-US" sz="4800" dirty="0"/>
          </a:p>
        </p:txBody>
      </p:sp>
      <p:sp>
        <p:nvSpPr>
          <p:cNvPr id="29" name="Text 16"/>
          <p:cNvSpPr txBox="1"/>
          <p:nvPr/>
        </p:nvSpPr>
        <p:spPr>
          <a:xfrm>
            <a:off x="8515807" y="5162702"/>
            <a:ext cx="24003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 executa o programa</a:t>
            </a:r>
            <a:endParaRPr lang="en-US" sz="1800" dirty="0"/>
          </a:p>
        </p:txBody>
      </p:sp>
      <p:sp>
        <p:nvSpPr>
          <p:cNvPr id="30" name="Text 17"/>
          <p:cNvSpPr txBox="1"/>
          <p:nvPr/>
        </p:nvSpPr>
        <p:spPr>
          <a:xfrm>
            <a:off x="11858854" y="4381805"/>
            <a:ext cx="285750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</a:t>
            </a:r>
            <a:endParaRPr lang="en-US" sz="4800" dirty="0"/>
          </a:p>
        </p:txBody>
      </p:sp>
      <p:sp>
        <p:nvSpPr>
          <p:cNvPr id="31" name="Text 18"/>
          <p:cNvSpPr txBox="1"/>
          <p:nvPr/>
        </p:nvSpPr>
        <p:spPr>
          <a:xfrm>
            <a:off x="12087454" y="5162702"/>
            <a:ext cx="24003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Lê o resultado</a:t>
            </a:r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numérico</a:t>
            </a:r>
            <a:endParaRPr lang="en-US" sz="1800" dirty="0"/>
          </a:p>
        </p:txBody>
      </p:sp>
      <p:sp>
        <p:nvSpPr>
          <p:cNvPr id="32" name="Text 19"/>
          <p:cNvSpPr txBox="1"/>
          <p:nvPr/>
        </p:nvSpPr>
        <p:spPr>
          <a:xfrm>
            <a:off x="15430500" y="4381805"/>
            <a:ext cx="190561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</a:t>
            </a:r>
            <a:endParaRPr lang="en-US" sz="4800" dirty="0"/>
          </a:p>
        </p:txBody>
      </p:sp>
      <p:sp>
        <p:nvSpPr>
          <p:cNvPr id="33" name="Text 20"/>
          <p:cNvSpPr txBox="1"/>
          <p:nvPr/>
        </p:nvSpPr>
        <p:spPr>
          <a:xfrm>
            <a:off x="15620695" y="5162702"/>
            <a:ext cx="1524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FAF6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Explica</a:t>
            </a:r>
            <a:pPr algn="ctr" indent="0" marL="0">
              <a:lnSpc>
                <a:spcPct val="130000"/>
              </a:lnSpc>
              <a:buNone/>
            </a:pPr>
            <a:endParaRPr lang="en-US" sz="16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FAF6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você</a:t>
            </a:r>
            <a:endParaRPr lang="en-US" sz="1650" dirty="0"/>
          </a:p>
        </p:txBody>
      </p:sp>
      <p:sp>
        <p:nvSpPr>
          <p:cNvPr id="34" name="Text 21"/>
          <p:cNvSpPr txBox="1"/>
          <p:nvPr/>
        </p:nvSpPr>
        <p:spPr>
          <a:xfrm>
            <a:off x="1143000" y="7429500"/>
            <a:ext cx="1619311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i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“Mostre o código que você usou” </a:t>
            </a:r>
            <a:pPr algn="l" indent="0" marL="0">
              <a:buNone/>
            </a:pPr>
            <a:r>
              <a:rPr lang="en-US" sz="3300" b="1" i="1" dirty="0">
                <a:solidFill>
                  <a:srgbClr val="C7922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é a sua garantia.</a:t>
            </a:r>
            <a:endParaRPr lang="en-US" sz="3300" dirty="0"/>
          </a:p>
        </p:txBody>
      </p:sp>
      <p:sp>
        <p:nvSpPr>
          <p:cNvPr id="35" name="Text 22"/>
          <p:cNvSpPr txBox="1"/>
          <p:nvPr/>
        </p:nvSpPr>
        <p:spPr>
          <a:xfrm>
            <a:off x="1143000" y="8667598"/>
            <a:ext cx="1424178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DD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ela não executar código, está chutando. Peça sempre o código executado e os valores exatos da saída.</a:t>
            </a:r>
            <a:endParaRPr lang="en-US" sz="1800" dirty="0"/>
          </a:p>
        </p:txBody>
      </p:sp>
      <p:sp>
        <p:nvSpPr>
          <p:cNvPr id="36" name="Text 23"/>
          <p:cNvSpPr txBox="1"/>
          <p:nvPr/>
        </p:nvSpPr>
        <p:spPr>
          <a:xfrm>
            <a:off x="16954805" y="9667951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A8B5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45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D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5333695"/>
            <a:ext cx="5143500" cy="3619195"/>
          </a:xfrm>
          <a:prstGeom prst="roundRect">
            <a:avLst>
              <a:gd name="adj" fmla="val 1592"/>
            </a:avLst>
          </a:prstGeom>
          <a:solidFill>
            <a:srgbClr val="E6DF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72707" y="5333695"/>
            <a:ext cx="5143500" cy="3619195"/>
          </a:xfrm>
          <a:prstGeom prst="roundRect">
            <a:avLst>
              <a:gd name="adj" fmla="val 1592"/>
            </a:avLst>
          </a:prstGeom>
          <a:solidFill>
            <a:srgbClr val="E6DF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0" y="5333695"/>
            <a:ext cx="5143500" cy="3619195"/>
          </a:xfrm>
          <a:prstGeom prst="roundRect">
            <a:avLst>
              <a:gd name="adj" fmla="val 1592"/>
            </a:avLst>
          </a:prstGeom>
          <a:solidFill>
            <a:srgbClr val="E6DF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gen-dedup-609ca5620bc91a301e35b29a91fab242.png">    </p:cNvPr>
          <p:cNvPicPr>
            <a:picLocks noChangeAspect="1"/>
          </p:cNvPicPr>
          <p:nvPr/>
        </p:nvPicPr>
        <p:blipFill>
          <a:blip r:embed="rId1"/>
          <a:srcRect l="-385" r="-385" t="0" b="0"/>
          <a:stretch/>
        </p:blipFill>
        <p:spPr>
          <a:xfrm>
            <a:off x="1143000" y="1333195"/>
            <a:ext cx="761695" cy="28346"/>
          </a:xfrm>
          <a:prstGeom prst="rect">
            <a:avLst/>
          </a:prstGeom>
        </p:spPr>
      </p:pic>
      <p:pic>
        <p:nvPicPr>
          <p:cNvPr id="6" name="Image 1" descr="gen-dedup-1c0ae16ec920acc028560bc697d3e011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1143000" y="5333695"/>
            <a:ext cx="5143500" cy="57607"/>
          </a:xfrm>
          <a:prstGeom prst="rect">
            <a:avLst/>
          </a:prstGeom>
        </p:spPr>
      </p:pic>
      <p:pic>
        <p:nvPicPr>
          <p:cNvPr id="7" name="Image 2" descr="gen-dedup-cc24a61d0066eb89052f6b3c09b0a82c.png">    </p:cNvPr>
          <p:cNvPicPr>
            <a:picLocks noChangeAspect="1"/>
          </p:cNvPicPr>
          <p:nvPr/>
        </p:nvPicPr>
        <p:blipFill>
          <a:blip r:embed="rId3"/>
          <a:srcRect l="0" r="0" t="-400" b="-400"/>
          <a:stretch/>
        </p:blipFill>
        <p:spPr>
          <a:xfrm>
            <a:off x="6572707" y="5333695"/>
            <a:ext cx="5143500" cy="57607"/>
          </a:xfrm>
          <a:prstGeom prst="rect">
            <a:avLst/>
          </a:prstGeom>
        </p:spPr>
      </p:pic>
      <p:pic>
        <p:nvPicPr>
          <p:cNvPr id="8" name="Image 3" descr="gen-dedup-d07c1f13d823531e211db1e0668f51c1.png">    </p:cNvPr>
          <p:cNvPicPr>
            <a:picLocks noChangeAspect="1"/>
          </p:cNvPicPr>
          <p:nvPr/>
        </p:nvPicPr>
        <p:blipFill>
          <a:blip r:embed="rId4"/>
          <a:srcRect l="0" r="0" t="-400" b="-400"/>
          <a:stretch/>
        </p:blipFill>
        <p:spPr>
          <a:xfrm>
            <a:off x="12001500" y="5333695"/>
            <a:ext cx="5143500" cy="57607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1143000" y="1524305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ferramentas</a:t>
            </a:r>
            <a:endParaRPr lang="en-US" sz="1500" dirty="0"/>
          </a:p>
        </p:txBody>
      </p:sp>
      <p:sp>
        <p:nvSpPr>
          <p:cNvPr id="10" name="Text 4"/>
          <p:cNvSpPr txBox="1"/>
          <p:nvPr/>
        </p:nvSpPr>
        <p:spPr>
          <a:xfrm>
            <a:off x="1143000" y="1904695"/>
            <a:ext cx="142875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As linguagens</a:t>
            </a:r>
            <a:pPr algn="l" indent="0" marL="0">
              <a:lnSpc>
                <a:spcPct val="100000"/>
              </a:lnSpc>
              <a:buNone/>
            </a:pPr>
            <a:endParaRPr lang="en-US" sz="7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da </a:t>
            </a:r>
            <a:pPr algn="l" indent="0" marL="0">
              <a:lnSpc>
                <a:spcPct val="100000"/>
              </a:lnSpc>
              <a:buNone/>
            </a:pPr>
            <a:r>
              <a:rPr lang="en-US" sz="7200" i="1" spc="-144" kern="0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análise de dados</a:t>
            </a:r>
            <a:endParaRPr lang="en-US" sz="7200" dirty="0"/>
          </a:p>
        </p:txBody>
      </p:sp>
      <p:sp>
        <p:nvSpPr>
          <p:cNvPr id="11" name="Text 5"/>
          <p:cNvSpPr txBox="1"/>
          <p:nvPr/>
        </p:nvSpPr>
        <p:spPr>
          <a:xfrm>
            <a:off x="1143000" y="4572000"/>
            <a:ext cx="16193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IA fala todas. </a:t>
            </a:r>
            <a:pPr algn="l" indent="0" marL="0">
              <a:buNone/>
            </a:pPr>
            <a:r>
              <a:rPr lang="en-US" sz="1800" b="1" dirty="0">
                <a:solidFill>
                  <a:srgbClr val="2F5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Você não precisa falar nenhuma.</a:t>
            </a:r>
            <a:endParaRPr lang="en-US" sz="1800" dirty="0"/>
          </a:p>
        </p:txBody>
      </p:sp>
      <p:sp>
        <p:nvSpPr>
          <p:cNvPr id="12" name="Text 6"/>
          <p:cNvSpPr txBox="1"/>
          <p:nvPr/>
        </p:nvSpPr>
        <p:spPr>
          <a:xfrm>
            <a:off x="1524305" y="5715000"/>
            <a:ext cx="45720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b="1" spc="-144" kern="0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</a:t>
            </a:r>
            <a:endParaRPr lang="en-US" sz="7200" dirty="0"/>
          </a:p>
        </p:txBody>
      </p:sp>
      <p:sp>
        <p:nvSpPr>
          <p:cNvPr id="13" name="Text 7"/>
          <p:cNvSpPr txBox="1"/>
          <p:nvPr/>
        </p:nvSpPr>
        <p:spPr>
          <a:xfrm>
            <a:off x="1524305" y="6762902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spc="165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padrão da agronomia</a:t>
            </a:r>
            <a:endParaRPr lang="en-US" sz="1650" dirty="0"/>
          </a:p>
        </p:txBody>
      </p:sp>
      <p:sp>
        <p:nvSpPr>
          <p:cNvPr id="14" name="Text 8"/>
          <p:cNvSpPr txBox="1"/>
          <p:nvPr/>
        </p:nvSpPr>
        <p:spPr>
          <a:xfrm>
            <a:off x="1524305" y="7239305"/>
            <a:ext cx="45720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Pacotes </a:t>
            </a:r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F5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ExpDes.pt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</a:t>
            </a:r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F5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agricolae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Muito usado em pós-graduação.</a:t>
            </a:r>
            <a:endParaRPr lang="en-US" sz="1800" dirty="0"/>
          </a:p>
        </p:txBody>
      </p:sp>
      <p:sp>
        <p:nvSpPr>
          <p:cNvPr id="15" name="Text 9"/>
          <p:cNvSpPr txBox="1"/>
          <p:nvPr/>
        </p:nvSpPr>
        <p:spPr>
          <a:xfrm>
            <a:off x="6953098" y="5715000"/>
            <a:ext cx="45720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b="1" spc="-144" kern="0" dirty="0">
                <a:solidFill>
                  <a:srgbClr val="6B8E4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Python</a:t>
            </a:r>
            <a:endParaRPr lang="en-US" sz="7200" dirty="0"/>
          </a:p>
        </p:txBody>
      </p:sp>
      <p:sp>
        <p:nvSpPr>
          <p:cNvPr id="16" name="Text 10"/>
          <p:cNvSpPr txBox="1"/>
          <p:nvPr/>
        </p:nvSpPr>
        <p:spPr>
          <a:xfrm>
            <a:off x="6953098" y="6762902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spc="165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língua nativa das IAs</a:t>
            </a:r>
            <a:endParaRPr lang="en-US" sz="1650" dirty="0"/>
          </a:p>
        </p:txBody>
      </p:sp>
      <p:sp>
        <p:nvSpPr>
          <p:cNvPr id="17" name="Text 11"/>
          <p:cNvSpPr txBox="1"/>
          <p:nvPr/>
        </p:nvSpPr>
        <p:spPr>
          <a:xfrm>
            <a:off x="6953098" y="7239305"/>
            <a:ext cx="45720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Bibliotecas </a:t>
            </a:r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6B8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pandas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</a:t>
            </a:r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6B8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statsmodels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Padrão de fato de quem usa LLM.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12382805" y="5715000"/>
            <a:ext cx="4572000" cy="152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spc="-120" kern="0" dirty="0">
                <a:solidFill>
                  <a:srgbClr val="8B6F4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SISVAR / Excel</a:t>
            </a:r>
            <a:endParaRPr lang="en-US" sz="6000" dirty="0"/>
          </a:p>
        </p:txBody>
      </p:sp>
      <p:sp>
        <p:nvSpPr>
          <p:cNvPr id="19" name="Text 13"/>
          <p:cNvSpPr txBox="1"/>
          <p:nvPr/>
        </p:nvSpPr>
        <p:spPr>
          <a:xfrm>
            <a:off x="12382805" y="7372807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spc="165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clássicos com cliques</a:t>
            </a:r>
            <a:endParaRPr lang="en-US" sz="1650" dirty="0"/>
          </a:p>
        </p:txBody>
      </p:sp>
      <p:sp>
        <p:nvSpPr>
          <p:cNvPr id="20" name="Text 14"/>
          <p:cNvSpPr txBox="1"/>
          <p:nvPr/>
        </p:nvSpPr>
        <p:spPr>
          <a:xfrm>
            <a:off x="12382805" y="7848295"/>
            <a:ext cx="45720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SISVAR é popular no Brasil; </a:t>
            </a:r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resolve problemas simples.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16954805" y="9667951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45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D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3238805"/>
            <a:ext cx="5143500" cy="4762195"/>
          </a:xfrm>
          <a:prstGeom prst="roundRect">
            <a:avLst>
              <a:gd name="adj" fmla="val 1210"/>
            </a:avLst>
          </a:prstGeom>
          <a:solidFill>
            <a:srgbClr val="FAF6EC"/>
          </a:solidFill>
          <a:ln w="12700">
            <a:solidFill>
              <a:srgbClr val="DDD7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72707" y="3238805"/>
            <a:ext cx="5143500" cy="4762195"/>
          </a:xfrm>
          <a:prstGeom prst="roundRect">
            <a:avLst>
              <a:gd name="adj" fmla="val 1210"/>
            </a:avLst>
          </a:prstGeom>
          <a:solidFill>
            <a:srgbClr val="FAF6EC"/>
          </a:solidFill>
          <a:ln w="12700">
            <a:solidFill>
              <a:srgbClr val="DDD7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0" y="3238805"/>
            <a:ext cx="5143500" cy="4762195"/>
          </a:xfrm>
          <a:prstGeom prst="roundRect">
            <a:avLst>
              <a:gd name="adj" fmla="val 1210"/>
            </a:avLst>
          </a:prstGeom>
          <a:solidFill>
            <a:srgbClr val="FAF6EC"/>
          </a:solidFill>
          <a:ln w="12700">
            <a:solidFill>
              <a:srgbClr val="DDD7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8287207"/>
            <a:ext cx="16002000" cy="1143000"/>
          </a:xfrm>
          <a:prstGeom prst="roundRect">
            <a:avLst>
              <a:gd name="adj" fmla="val 5040"/>
            </a:avLst>
          </a:prstGeom>
          <a:solidFill>
            <a:srgbClr val="2F52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gen-dedup-609ca5620bc91a301e35b29a91fab242.png">    </p:cNvPr>
          <p:cNvPicPr>
            <a:picLocks noChangeAspect="1"/>
          </p:cNvPicPr>
          <p:nvPr/>
        </p:nvPicPr>
        <p:blipFill>
          <a:blip r:embed="rId1"/>
          <a:srcRect l="-385" r="-385" t="0" b="0"/>
          <a:stretch/>
        </p:blipFill>
        <p:spPr>
          <a:xfrm>
            <a:off x="1143000" y="1143000"/>
            <a:ext cx="76169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33195" y="4572000"/>
            <a:ext cx="4762195" cy="1904695"/>
          </a:xfrm>
          <a:prstGeom prst="roundRect">
            <a:avLst>
              <a:gd name="adj" fmla="val 2016"/>
            </a:avLst>
          </a:prstGeom>
          <a:solidFill>
            <a:srgbClr val="1E2A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762902" y="4572000"/>
            <a:ext cx="4762195" cy="1904695"/>
          </a:xfrm>
          <a:prstGeom prst="roundRect">
            <a:avLst>
              <a:gd name="adj" fmla="val 2016"/>
            </a:avLst>
          </a:prstGeom>
          <a:solidFill>
            <a:srgbClr val="1E2A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191695" y="4572000"/>
            <a:ext cx="4762195" cy="1904695"/>
          </a:xfrm>
          <a:prstGeom prst="roundRect">
            <a:avLst>
              <a:gd name="adj" fmla="val 2016"/>
            </a:avLst>
          </a:prstGeom>
          <a:solidFill>
            <a:srgbClr val="1E2A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43000" y="1333195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mesma pergunta, três respostas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1714500"/>
            <a:ext cx="1619311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0" spc="-120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mesma ANOVA, </a:t>
            </a:r>
            <a:pPr algn="l" indent="0" marL="0">
              <a:buNone/>
            </a:pPr>
            <a:r>
              <a:rPr lang="en-US" sz="6000" i="1" spc="-120" kern="0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três jeitos</a:t>
            </a:r>
            <a:endParaRPr lang="en-US" sz="6000" dirty="0"/>
          </a:p>
        </p:txBody>
      </p:sp>
      <p:sp>
        <p:nvSpPr>
          <p:cNvPr id="12" name="Text 9"/>
          <p:cNvSpPr txBox="1"/>
          <p:nvPr/>
        </p:nvSpPr>
        <p:spPr>
          <a:xfrm>
            <a:off x="1333195" y="3524098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2F5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333195" y="3829507"/>
            <a:ext cx="45720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agronomia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1524305" y="4772254"/>
            <a:ext cx="9058961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8B58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library(ExpDes.pt) dic(d$substrato, d$altura_cm, mcomp = "tukey")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333195" y="6762902"/>
            <a:ext cx="4763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DIC com Tukey a 5%, numa linha só.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762902" y="3524098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6B8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762902" y="3829507"/>
            <a:ext cx="45720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língua da IA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0" y="4762195"/>
            <a:ext cx="1461211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8B58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statsmodels.formula.api import ols import statsmodels.stats.anova as sa m = ols("altura_cm ~ C(substrato)", data=d).fit() sa.anova_lm(m)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6762902" y="6762902"/>
            <a:ext cx="4763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linear + ANOVA clássica.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2191695" y="3524098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2191695" y="3829507"/>
            <a:ext cx="45720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em português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12382805" y="4743907"/>
            <a:ext cx="4381805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i="1" dirty="0">
                <a:solidFill>
                  <a:srgbClr val="FAF6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“Faça a ANOVA em DIC e o teste de Tukey a 5% da altura das mudas por substrato.”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2191695" y="6762902"/>
            <a:ext cx="4763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IA escolhe a linguagem. Você confere.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524305" y="8382305"/>
            <a:ext cx="11430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A8B5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mesmo resultado em tudo</a:t>
            </a:r>
            <a:endParaRPr lang="en-US" sz="1650" dirty="0"/>
          </a:p>
        </p:txBody>
      </p:sp>
      <p:sp>
        <p:nvSpPr>
          <p:cNvPr id="25" name="Text 22"/>
          <p:cNvSpPr txBox="1"/>
          <p:nvPr/>
        </p:nvSpPr>
        <p:spPr>
          <a:xfrm>
            <a:off x="1524305" y="8762695"/>
            <a:ext cx="5715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DD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</a:t>
            </a:r>
            <a:pPr algn="l" indent="0" marL="0">
              <a:buNone/>
            </a:pPr>
            <a:r>
              <a:rPr lang="en-US" sz="1250" dirty="0">
                <a:solidFill>
                  <a:srgbClr val="DDD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substrato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524305" y="9048902"/>
            <a:ext cx="57150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34,57</a:t>
            </a:r>
            <a:endParaRPr lang="en-US" sz="3150" dirty="0"/>
          </a:p>
        </p:txBody>
      </p:sp>
      <p:sp>
        <p:nvSpPr>
          <p:cNvPr id="27" name="Text 24"/>
          <p:cNvSpPr txBox="1"/>
          <p:nvPr/>
        </p:nvSpPr>
        <p:spPr>
          <a:xfrm>
            <a:off x="7429500" y="8762695"/>
            <a:ext cx="3620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DD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valor-p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7429500" y="9010498"/>
            <a:ext cx="3620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&lt; 0,001</a:t>
            </a:r>
            <a:endParaRPr lang="en-US" sz="3150" dirty="0"/>
          </a:p>
        </p:txBody>
      </p:sp>
      <p:sp>
        <p:nvSpPr>
          <p:cNvPr id="29" name="Text 26"/>
          <p:cNvSpPr txBox="1"/>
          <p:nvPr/>
        </p:nvSpPr>
        <p:spPr>
          <a:xfrm>
            <a:off x="11239805" y="8762695"/>
            <a:ext cx="3620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DD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11239805" y="9010498"/>
            <a:ext cx="3620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6,1 %</a:t>
            </a:r>
            <a:endParaRPr lang="en-US" sz="3150" dirty="0"/>
          </a:p>
        </p:txBody>
      </p:sp>
      <p:sp>
        <p:nvSpPr>
          <p:cNvPr id="31" name="Text 28"/>
          <p:cNvSpPr txBox="1"/>
          <p:nvPr/>
        </p:nvSpPr>
        <p:spPr>
          <a:xfrm>
            <a:off x="16954805" y="9667951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45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D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305" y="1333195"/>
            <a:ext cx="15240305" cy="8001000"/>
          </a:xfrm>
          <a:prstGeom prst="roundRect">
            <a:avLst>
              <a:gd name="adj" fmla="val 949"/>
            </a:avLst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gen-dedup-05e0ad56b995d9b65463bf1fc7718da3.png">    </p:cNvPr>
          <p:cNvPicPr>
            <a:picLocks noChangeAspect="1"/>
          </p:cNvPicPr>
          <p:nvPr/>
        </p:nvPicPr>
        <p:blipFill>
          <a:blip r:embed="rId1"/>
          <a:srcRect l="-420" r="-420" t="0" b="0"/>
          <a:stretch/>
        </p:blipFill>
        <p:spPr>
          <a:xfrm>
            <a:off x="1904695" y="4095598"/>
            <a:ext cx="952805" cy="2834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904695" y="4572000"/>
            <a:ext cx="14287500" cy="1714500"/>
          </a:xfrm>
          <a:prstGeom prst="roundRect">
            <a:avLst>
              <a:gd name="adj" fmla="val 3360"/>
            </a:avLst>
          </a:prstGeom>
          <a:solidFill>
            <a:srgbClr val="1E2A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gen-dedup-38b086ab42b4ebf365452e07733b7dbb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5430500" y="7810805"/>
            <a:ext cx="1143000" cy="11430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904695" y="1904695"/>
            <a:ext cx="40005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spc="486" kern="0" dirty="0">
                <a:solidFill>
                  <a:srgbClr val="C7922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regra nº 1</a:t>
            </a:r>
            <a:endParaRPr lang="en-US" sz="2700" dirty="0"/>
          </a:p>
        </p:txBody>
      </p:sp>
      <p:sp>
        <p:nvSpPr>
          <p:cNvPr id="7" name="Text 3"/>
          <p:cNvSpPr txBox="1"/>
          <p:nvPr/>
        </p:nvSpPr>
        <p:spPr>
          <a:xfrm>
            <a:off x="1904695" y="2476195"/>
            <a:ext cx="142875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spc="-144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Peça para </a:t>
            </a:r>
            <a:pPr algn="l" indent="0" marL="0">
              <a:buNone/>
            </a:pPr>
            <a:r>
              <a:rPr lang="en-US" sz="7200" i="1" spc="-144" kern="0" dirty="0">
                <a:solidFill>
                  <a:srgbClr val="B250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ver o código.</a:t>
            </a:r>
            <a:endParaRPr lang="en-US" sz="7200" dirty="0"/>
          </a:p>
        </p:txBody>
      </p:sp>
      <p:sp>
        <p:nvSpPr>
          <p:cNvPr id="8" name="Text 4"/>
          <p:cNvSpPr txBox="1"/>
          <p:nvPr/>
        </p:nvSpPr>
        <p:spPr>
          <a:xfrm>
            <a:off x="2286000" y="4762195"/>
            <a:ext cx="14097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A8B5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útil</a:t>
            </a:r>
            <a:endParaRPr lang="en-US" sz="1350" dirty="0"/>
          </a:p>
        </p:txBody>
      </p:sp>
      <p:sp>
        <p:nvSpPr>
          <p:cNvPr id="9" name="Text 5"/>
          <p:cNvSpPr txBox="1"/>
          <p:nvPr/>
        </p:nvSpPr>
        <p:spPr>
          <a:xfrm>
            <a:off x="2286000" y="5143500"/>
            <a:ext cx="140973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FAF6E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“Mostre o código que você executou e os valores exatos da saída.”</a:t>
            </a:r>
            <a:endParaRPr lang="en-US" sz="2250" dirty="0"/>
          </a:p>
        </p:txBody>
      </p:sp>
      <p:sp>
        <p:nvSpPr>
          <p:cNvPr id="10" name="Text 6"/>
          <p:cNvSpPr txBox="1"/>
          <p:nvPr/>
        </p:nvSpPr>
        <p:spPr>
          <a:xfrm>
            <a:off x="1904695" y="6667805"/>
            <a:ext cx="1428750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Se a IA não executou código, </a:t>
            </a:r>
            <a:pPr algn="l" indent="0" marL="0">
              <a:buNone/>
            </a:pPr>
            <a:r>
              <a:rPr lang="en-US" sz="2700" dirty="0">
                <a:solidFill>
                  <a:srgbClr val="B250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desconfie.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1904695" y="7429500"/>
            <a:ext cx="142875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código, não há auditoria. Sem auditoria, não há análise confiável.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16809415" y="9667951"/>
            <a:ext cx="90708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45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ED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3619195"/>
            <a:ext cx="7429500" cy="5333695"/>
          </a:xfrm>
          <a:prstGeom prst="roundRect">
            <a:avLst>
              <a:gd name="adj" fmla="val 1423"/>
            </a:avLst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5500" y="3619195"/>
            <a:ext cx="7429500" cy="5333695"/>
          </a:xfrm>
          <a:prstGeom prst="roundRect">
            <a:avLst>
              <a:gd name="adj" fmla="val 1423"/>
            </a:avLst>
          </a:prstGeom>
          <a:solidFill>
            <a:srgbClr val="2F52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609ca5620bc91a301e35b29a91fab242.png">    </p:cNvPr>
          <p:cNvPicPr>
            <a:picLocks noChangeAspect="1"/>
          </p:cNvPicPr>
          <p:nvPr/>
        </p:nvPicPr>
        <p:blipFill>
          <a:blip r:embed="rId1"/>
          <a:srcRect l="-385" r="-385" t="0" b="0"/>
          <a:stretch/>
        </p:blipFill>
        <p:spPr>
          <a:xfrm>
            <a:off x="1143000" y="1143000"/>
            <a:ext cx="761695" cy="283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333195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formatos de planilha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1714500"/>
            <a:ext cx="16193110" cy="838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0" spc="-132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 linha = 1 parcela</a:t>
            </a:r>
            <a:endParaRPr lang="en-US" sz="66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3905402"/>
            <a:ext cx="6477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B25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 Ruim · formato largo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4209898"/>
            <a:ext cx="6477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Uma coluna por repetição.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14500" y="4953305"/>
          <a:ext cx="6286500" cy="1705356"/>
        </p:xfrm>
        <a:graphic>
          <a:graphicData uri="http://schemas.openxmlformats.org/drawingml/2006/table">
            <a:tbl>
              <a:tblPr/>
              <a:tblGrid>
                <a:gridCol w="1737360"/>
                <a:gridCol w="1074420"/>
                <a:gridCol w="1162202"/>
                <a:gridCol w="1153058"/>
                <a:gridCol w="1158545"/>
              </a:tblGrid>
              <a:tr h="426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A45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substrato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FC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A45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rep_1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FC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A45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rep_2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FC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A45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rep_3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FC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A45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rep_4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FC9"/>
                    </a:solidFill>
                  </a:tcPr>
                </a:tc>
              </a:tr>
              <a:tr h="426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5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composto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5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36,1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5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38,2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5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37,5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5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37,9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5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terra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5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25,8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5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27,1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5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26,3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5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26,9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5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areia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5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24,9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5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25,2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5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25,4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5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24,7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DD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1524305" y="7905902"/>
            <a:ext cx="71634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IA não consegue ler isso direto. Precisa reformatar antes.</a:t>
            </a:r>
            <a:endParaRPr lang="en-US" sz="1650" dirty="0"/>
          </a:p>
        </p:txBody>
      </p:sp>
      <p:sp>
        <p:nvSpPr>
          <p:cNvPr id="11" name="Text 7"/>
          <p:cNvSpPr txBox="1"/>
          <p:nvPr/>
        </p:nvSpPr>
        <p:spPr>
          <a:xfrm>
            <a:off x="10096805" y="3905402"/>
            <a:ext cx="6667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A8B5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Bom · formato longo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0096805" y="4209898"/>
            <a:ext cx="6667805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 colunas. Acabou.</a:t>
            </a:r>
            <a:endParaRPr lang="en-US" sz="24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287000" y="4953305"/>
          <a:ext cx="6286500" cy="2677363"/>
        </p:xfrm>
        <a:graphic>
          <a:graphicData uri="http://schemas.openxmlformats.org/drawingml/2006/table">
            <a:tbl>
              <a:tblPr/>
              <a:tblGrid>
                <a:gridCol w="2091843"/>
                <a:gridCol w="2068986"/>
                <a:gridCol w="2125671"/>
              </a:tblGrid>
              <a:tr h="4462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FAF6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substrato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B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FAF6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repeticao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B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FAF6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altura_cm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B43"/>
                    </a:solidFill>
                  </a:tcPr>
                </a:tc>
              </a:tr>
              <a:tr h="4462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FAF6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composto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D7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FAF6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FAF6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36,1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62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FAF6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composto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D7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FAF6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FAF6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38,2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62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FAF6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terra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D7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FAF6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FAF6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25,8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62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FAF6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terra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D7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FAF6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FAF6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27,1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62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FAF6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areia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FAF6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FAF6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24,9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A8B5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10096805" y="7905902"/>
            <a:ext cx="66678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DDD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Lê em qualquer software: R, Python, Excel, SISVAR.</a:t>
            </a:r>
            <a:endParaRPr lang="en-US" sz="1650" dirty="0"/>
          </a:p>
        </p:txBody>
      </p:sp>
      <p:sp>
        <p:nvSpPr>
          <p:cNvPr id="15" name="Text 10"/>
          <p:cNvSpPr txBox="1"/>
          <p:nvPr/>
        </p:nvSpPr>
        <p:spPr>
          <a:xfrm>
            <a:off x="16954805" y="9667951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45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ED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a52905c9fc00580e5e84637eb7429577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143000" y="4762195"/>
            <a:ext cx="16002000" cy="9144"/>
          </a:xfrm>
          <a:prstGeom prst="rect">
            <a:avLst/>
          </a:prstGeom>
        </p:spPr>
      </p:pic>
      <p:pic>
        <p:nvPicPr>
          <p:cNvPr id="3" name="Image 1" descr="gen-dedup-a52905c9fc00580e5e84637eb7429577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143000" y="5715000"/>
            <a:ext cx="16002000" cy="9144"/>
          </a:xfrm>
          <a:prstGeom prst="rect">
            <a:avLst/>
          </a:prstGeom>
        </p:spPr>
      </p:pic>
      <p:pic>
        <p:nvPicPr>
          <p:cNvPr id="4" name="Image 2" descr="gen-dedup-a52905c9fc00580e5e84637eb7429577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1143000" y="6667805"/>
            <a:ext cx="16002000" cy="9144"/>
          </a:xfrm>
          <a:prstGeom prst="rect">
            <a:avLst/>
          </a:prstGeom>
        </p:spPr>
      </p:pic>
      <p:pic>
        <p:nvPicPr>
          <p:cNvPr id="5" name="Image 3" descr="gen-dedup-a52905c9fc00580e5e84637eb7429577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1143000" y="7619695"/>
            <a:ext cx="16002000" cy="9144"/>
          </a:xfrm>
          <a:prstGeom prst="rect">
            <a:avLst/>
          </a:prstGeom>
        </p:spPr>
      </p:pic>
      <p:pic>
        <p:nvPicPr>
          <p:cNvPr id="6" name="Image 4" descr="gen-dedup-609ca5620bc91a301e35b29a91fab242.png">    </p:cNvPr>
          <p:cNvPicPr>
            <a:picLocks noChangeAspect="1"/>
          </p:cNvPicPr>
          <p:nvPr/>
        </p:nvPicPr>
        <p:blipFill>
          <a:blip r:embed="rId5"/>
          <a:srcRect l="-385" r="-385" t="0" b="0"/>
          <a:stretch/>
        </p:blipFill>
        <p:spPr>
          <a:xfrm>
            <a:off x="1143000" y="1333195"/>
            <a:ext cx="761695" cy="28346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1143000" y="1524305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regras da planilha</a:t>
            </a:r>
            <a:endParaRPr lang="en-US" sz="1500" dirty="0"/>
          </a:p>
        </p:txBody>
      </p:sp>
      <p:sp>
        <p:nvSpPr>
          <p:cNvPr id="8" name="Text 1"/>
          <p:cNvSpPr txBox="1"/>
          <p:nvPr/>
        </p:nvSpPr>
        <p:spPr>
          <a:xfrm>
            <a:off x="1143000" y="1904695"/>
            <a:ext cx="16193110" cy="876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900" spc="-138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Cinco regras </a:t>
            </a:r>
            <a:pPr algn="l" indent="0" marL="0">
              <a:buNone/>
            </a:pPr>
            <a:r>
              <a:rPr lang="en-US" sz="6900" i="1" spc="-138" kern="0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de ouro</a:t>
            </a:r>
            <a:endParaRPr lang="en-US" sz="6900" dirty="0"/>
          </a:p>
        </p:txBody>
      </p:sp>
      <p:sp>
        <p:nvSpPr>
          <p:cNvPr id="9" name="Text 2"/>
          <p:cNvSpPr txBox="1"/>
          <p:nvPr/>
        </p:nvSpPr>
        <p:spPr>
          <a:xfrm>
            <a:off x="1333195" y="4000500"/>
            <a:ext cx="76261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01</a:t>
            </a:r>
            <a:endParaRPr lang="en-US" sz="4800" dirty="0"/>
          </a:p>
        </p:txBody>
      </p:sp>
      <p:sp>
        <p:nvSpPr>
          <p:cNvPr id="10" name="Text 3"/>
          <p:cNvSpPr txBox="1"/>
          <p:nvPr/>
        </p:nvSpPr>
        <p:spPr>
          <a:xfrm>
            <a:off x="2476195" y="4000500"/>
            <a:ext cx="8572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Nomes de coluna sem acento nem espaço</a:t>
            </a:r>
            <a:endParaRPr lang="en-US" sz="2250" dirty="0"/>
          </a:p>
        </p:txBody>
      </p:sp>
      <p:sp>
        <p:nvSpPr>
          <p:cNvPr id="11" name="Text 4"/>
          <p:cNvSpPr txBox="1"/>
          <p:nvPr/>
        </p:nvSpPr>
        <p:spPr>
          <a:xfrm>
            <a:off x="2476195" y="4419295"/>
            <a:ext cx="8572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6F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altura_cm, nao “altura (cm)”</a:t>
            </a:r>
            <a:endParaRPr lang="en-US" sz="1500" dirty="0"/>
          </a:p>
        </p:txBody>
      </p:sp>
      <p:sp>
        <p:nvSpPr>
          <p:cNvPr id="12" name="Text 5"/>
          <p:cNvSpPr txBox="1"/>
          <p:nvPr/>
        </p:nvSpPr>
        <p:spPr>
          <a:xfrm>
            <a:off x="1333195" y="4953305"/>
            <a:ext cx="76261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6B8E4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02</a:t>
            </a:r>
            <a:endParaRPr lang="en-US" sz="4800" dirty="0"/>
          </a:p>
        </p:txBody>
      </p:sp>
      <p:sp>
        <p:nvSpPr>
          <p:cNvPr id="13" name="Text 6"/>
          <p:cNvSpPr txBox="1"/>
          <p:nvPr/>
        </p:nvSpPr>
        <p:spPr>
          <a:xfrm>
            <a:off x="2476195" y="4953305"/>
            <a:ext cx="14287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Uma informação por coluna · unidade no nome da coluna</a:t>
            </a:r>
            <a:endParaRPr lang="en-US" sz="2250" dirty="0"/>
          </a:p>
        </p:txBody>
      </p:sp>
      <p:sp>
        <p:nvSpPr>
          <p:cNvPr id="14" name="Text 7"/>
          <p:cNvSpPr txBox="1"/>
          <p:nvPr/>
        </p:nvSpPr>
        <p:spPr>
          <a:xfrm>
            <a:off x="1333195" y="5905195"/>
            <a:ext cx="76261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8B6F4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03</a:t>
            </a:r>
            <a:endParaRPr lang="en-US" sz="4800" dirty="0"/>
          </a:p>
        </p:txBody>
      </p:sp>
      <p:sp>
        <p:nvSpPr>
          <p:cNvPr id="15" name="Text 8"/>
          <p:cNvSpPr txBox="1"/>
          <p:nvPr/>
        </p:nvSpPr>
        <p:spPr>
          <a:xfrm>
            <a:off x="2476195" y="5905195"/>
            <a:ext cx="14287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Ponto decimal</a:t>
            </a:r>
            <a:endParaRPr lang="en-US" sz="2250" dirty="0"/>
          </a:p>
        </p:txBody>
      </p:sp>
      <p:sp>
        <p:nvSpPr>
          <p:cNvPr id="16" name="Text 9"/>
          <p:cNvSpPr txBox="1"/>
          <p:nvPr/>
        </p:nvSpPr>
        <p:spPr>
          <a:xfrm>
            <a:off x="2476195" y="6324905"/>
            <a:ext cx="14287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ou avise a IA que você usa vírgula.</a:t>
            </a:r>
            <a:endParaRPr lang="en-US" sz="1650" dirty="0"/>
          </a:p>
        </p:txBody>
      </p:sp>
      <p:sp>
        <p:nvSpPr>
          <p:cNvPr id="17" name="Text 10"/>
          <p:cNvSpPr txBox="1"/>
          <p:nvPr/>
        </p:nvSpPr>
        <p:spPr>
          <a:xfrm>
            <a:off x="1333195" y="6858000"/>
            <a:ext cx="76261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B250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04</a:t>
            </a:r>
            <a:endParaRPr lang="en-US" sz="4800" dirty="0"/>
          </a:p>
        </p:txBody>
      </p:sp>
      <p:sp>
        <p:nvSpPr>
          <p:cNvPr id="18" name="Text 11"/>
          <p:cNvSpPr txBox="1"/>
          <p:nvPr/>
        </p:nvSpPr>
        <p:spPr>
          <a:xfrm>
            <a:off x="2476195" y="6858000"/>
            <a:ext cx="14287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Parcela perdida = célula vazia</a:t>
            </a:r>
            <a:endParaRPr lang="en-US" sz="2250" dirty="0"/>
          </a:p>
        </p:txBody>
      </p:sp>
      <p:sp>
        <p:nvSpPr>
          <p:cNvPr id="19" name="Text 12"/>
          <p:cNvSpPr txBox="1"/>
          <p:nvPr/>
        </p:nvSpPr>
        <p:spPr>
          <a:xfrm>
            <a:off x="2476195" y="7276795"/>
            <a:ext cx="14287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nunca escreva “perdida”, nem 0 nem NA.</a:t>
            </a:r>
            <a:endParaRPr lang="en-US" sz="1650" dirty="0"/>
          </a:p>
        </p:txBody>
      </p:sp>
      <p:sp>
        <p:nvSpPr>
          <p:cNvPr id="20" name="Text 13"/>
          <p:cNvSpPr txBox="1"/>
          <p:nvPr/>
        </p:nvSpPr>
        <p:spPr>
          <a:xfrm>
            <a:off x="1333195" y="7810805"/>
            <a:ext cx="76261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7922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05</a:t>
            </a:r>
            <a:endParaRPr lang="en-US" sz="4800" dirty="0"/>
          </a:p>
        </p:txBody>
      </p:sp>
      <p:sp>
        <p:nvSpPr>
          <p:cNvPr id="21" name="Text 14"/>
          <p:cNvSpPr txBox="1"/>
          <p:nvPr/>
        </p:nvSpPr>
        <p:spPr>
          <a:xfrm>
            <a:off x="2476195" y="7810805"/>
            <a:ext cx="14287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CSV para a IA · XLSX para você</a:t>
            </a:r>
            <a:endParaRPr lang="en-US" sz="2250" dirty="0"/>
          </a:p>
        </p:txBody>
      </p:sp>
      <p:sp>
        <p:nvSpPr>
          <p:cNvPr id="22" name="Text 15"/>
          <p:cNvSpPr txBox="1"/>
          <p:nvPr/>
        </p:nvSpPr>
        <p:spPr>
          <a:xfrm>
            <a:off x="16954805" y="9667951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45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ED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3238805"/>
            <a:ext cx="7905902" cy="2095805"/>
          </a:xfrm>
          <a:prstGeom prst="roundRect">
            <a:avLst>
              <a:gd name="adj" fmla="val 3621"/>
            </a:avLst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39098" y="3238805"/>
            <a:ext cx="7905902" cy="2095805"/>
          </a:xfrm>
          <a:prstGeom prst="roundRect">
            <a:avLst>
              <a:gd name="adj" fmla="val 3621"/>
            </a:avLst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5524805"/>
            <a:ext cx="7905902" cy="2095805"/>
          </a:xfrm>
          <a:prstGeom prst="roundRect">
            <a:avLst>
              <a:gd name="adj" fmla="val 3621"/>
            </a:avLst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9098" y="5524805"/>
            <a:ext cx="7905902" cy="2095805"/>
          </a:xfrm>
          <a:prstGeom prst="roundRect">
            <a:avLst>
              <a:gd name="adj" fmla="val 3621"/>
            </a:avLst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7905902"/>
            <a:ext cx="16002000" cy="1524305"/>
          </a:xfrm>
          <a:prstGeom prst="roundRect">
            <a:avLst>
              <a:gd name="adj" fmla="val 4979"/>
            </a:avLst>
          </a:prstGeom>
          <a:solidFill>
            <a:srgbClr val="B2503C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gen-dedup-609ca5620bc91a301e35b29a91fab242.png">    </p:cNvPr>
          <p:cNvPicPr>
            <a:picLocks noChangeAspect="1"/>
          </p:cNvPicPr>
          <p:nvPr/>
        </p:nvPicPr>
        <p:blipFill>
          <a:blip r:embed="rId1"/>
          <a:srcRect l="-385" r="-385" t="0" b="0"/>
          <a:stretch/>
        </p:blipFill>
        <p:spPr>
          <a:xfrm>
            <a:off x="1143000" y="952805"/>
            <a:ext cx="761695" cy="28346"/>
          </a:xfrm>
          <a:prstGeom prst="rect">
            <a:avLst/>
          </a:prstGeom>
        </p:spPr>
      </p:pic>
      <p:pic>
        <p:nvPicPr>
          <p:cNvPr id="8" name="Image 1" descr="gen-dedup-3120765f3a326dd18d5d13134dc607e0.png">    </p:cNvPr>
          <p:cNvPicPr>
            <a:picLocks noChangeAspect="1"/>
          </p:cNvPicPr>
          <p:nvPr/>
        </p:nvPicPr>
        <p:blipFill>
          <a:blip r:embed="rId2"/>
          <a:srcRect l="0" r="0" t="-399" b="-399"/>
          <a:stretch/>
        </p:blipFill>
        <p:spPr>
          <a:xfrm>
            <a:off x="1143000" y="3238805"/>
            <a:ext cx="7905902" cy="57607"/>
          </a:xfrm>
          <a:prstGeom prst="rect">
            <a:avLst/>
          </a:prstGeom>
        </p:spPr>
      </p:pic>
      <p:pic>
        <p:nvPicPr>
          <p:cNvPr id="9" name="Image 2" descr="gen-dedup-56d7a6a556acacf19e717da5af1992f3.png">    </p:cNvPr>
          <p:cNvPicPr>
            <a:picLocks noChangeAspect="1"/>
          </p:cNvPicPr>
          <p:nvPr/>
        </p:nvPicPr>
        <p:blipFill>
          <a:blip r:embed="rId3"/>
          <a:srcRect l="0" r="0" t="-399" b="-399"/>
          <a:stretch/>
        </p:blipFill>
        <p:spPr>
          <a:xfrm>
            <a:off x="9239098" y="3238805"/>
            <a:ext cx="7905902" cy="57607"/>
          </a:xfrm>
          <a:prstGeom prst="rect">
            <a:avLst/>
          </a:prstGeom>
        </p:spPr>
      </p:pic>
      <p:pic>
        <p:nvPicPr>
          <p:cNvPr id="10" name="Image 3" descr="gen-dedup-70f3bb4b080145fa8877c7b0a944f711.png">    </p:cNvPr>
          <p:cNvPicPr>
            <a:picLocks noChangeAspect="1"/>
          </p:cNvPicPr>
          <p:nvPr/>
        </p:nvPicPr>
        <p:blipFill>
          <a:blip r:embed="rId4"/>
          <a:srcRect l="0" r="0" t="-399" b="-399"/>
          <a:stretch/>
        </p:blipFill>
        <p:spPr>
          <a:xfrm>
            <a:off x="1143000" y="5524805"/>
            <a:ext cx="7905902" cy="57607"/>
          </a:xfrm>
          <a:prstGeom prst="rect">
            <a:avLst/>
          </a:prstGeom>
        </p:spPr>
      </p:pic>
      <p:pic>
        <p:nvPicPr>
          <p:cNvPr id="11" name="Image 4" descr="gen-dedup-c101bd0b4158742c9cc43b06bd108d54.png">    </p:cNvPr>
          <p:cNvPicPr>
            <a:picLocks noChangeAspect="1"/>
          </p:cNvPicPr>
          <p:nvPr/>
        </p:nvPicPr>
        <p:blipFill>
          <a:blip r:embed="rId5"/>
          <a:srcRect l="0" r="0" t="-399" b="-399"/>
          <a:stretch/>
        </p:blipFill>
        <p:spPr>
          <a:xfrm>
            <a:off x="9239098" y="5524805"/>
            <a:ext cx="7905902" cy="57607"/>
          </a:xfrm>
          <a:prstGeom prst="rect">
            <a:avLst/>
          </a:prstGeom>
        </p:spPr>
      </p:pic>
      <p:pic>
        <p:nvPicPr>
          <p:cNvPr id="12" name="Image 5" descr="gen-dedup-3808a5615f3d1007f319c06f5afad34c.png">    </p:cNvPr>
          <p:cNvPicPr>
            <a:picLocks noChangeAspect="1"/>
          </p:cNvPicPr>
          <p:nvPr/>
        </p:nvPicPr>
        <p:blipFill>
          <a:blip r:embed="rId6"/>
          <a:srcRect l="-390" r="-390" t="0" b="0"/>
          <a:stretch/>
        </p:blipFill>
        <p:spPr>
          <a:xfrm>
            <a:off x="1143000" y="7905902"/>
            <a:ext cx="57607" cy="1524305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1143000" y="1143000"/>
            <a:ext cx="9525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formatos que entram no Gemini</a:t>
            </a:r>
            <a:endParaRPr lang="en-US" sz="1500" dirty="0"/>
          </a:p>
        </p:txBody>
      </p:sp>
      <p:sp>
        <p:nvSpPr>
          <p:cNvPr id="14" name="Text 6"/>
          <p:cNvSpPr txBox="1"/>
          <p:nvPr/>
        </p:nvSpPr>
        <p:spPr>
          <a:xfrm>
            <a:off x="1143000" y="1524305"/>
            <a:ext cx="1619311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300" spc="-126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Qual formato usar </a:t>
            </a:r>
            <a:pPr algn="l" indent="0" marL="0">
              <a:buNone/>
            </a:pPr>
            <a:r>
              <a:rPr lang="en-US" sz="6300" i="1" spc="-126" kern="0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no Gemini?</a:t>
            </a:r>
            <a:endParaRPr lang="en-US" sz="6300" dirty="0"/>
          </a:p>
        </p:txBody>
      </p:sp>
      <p:sp>
        <p:nvSpPr>
          <p:cNvPr id="15" name="Text 7"/>
          <p:cNvSpPr txBox="1"/>
          <p:nvPr/>
        </p:nvSpPr>
        <p:spPr>
          <a:xfrm>
            <a:off x="1143000" y="2667305"/>
            <a:ext cx="16193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melhor ao aceitável — em ordem.</a:t>
            </a:r>
            <a:endParaRPr lang="en-US" sz="1650" dirty="0"/>
          </a:p>
        </p:txBody>
      </p:sp>
      <p:sp>
        <p:nvSpPr>
          <p:cNvPr id="16" name="Text 8"/>
          <p:cNvSpPr txBox="1"/>
          <p:nvPr/>
        </p:nvSpPr>
        <p:spPr>
          <a:xfrm>
            <a:off x="1524305" y="3619195"/>
            <a:ext cx="152430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b="1" spc="-144" kern="0" dirty="0">
                <a:solidFill>
                  <a:srgbClr val="C7922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01</a:t>
            </a:r>
            <a:endParaRPr lang="en-US" sz="7200" dirty="0"/>
          </a:p>
        </p:txBody>
      </p:sp>
      <p:sp>
        <p:nvSpPr>
          <p:cNvPr id="17" name="Text 9"/>
          <p:cNvSpPr txBox="1"/>
          <p:nvPr/>
        </p:nvSpPr>
        <p:spPr>
          <a:xfrm>
            <a:off x="1524305" y="4591202"/>
            <a:ext cx="1524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97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melhor</a:t>
            </a:r>
            <a:endParaRPr lang="en-US" sz="1350" dirty="0"/>
          </a:p>
        </p:txBody>
      </p:sp>
      <p:sp>
        <p:nvSpPr>
          <p:cNvPr id="18" name="Text 10"/>
          <p:cNvSpPr txBox="1"/>
          <p:nvPr/>
        </p:nvSpPr>
        <p:spPr>
          <a:xfrm>
            <a:off x="3238805" y="3619195"/>
            <a:ext cx="55248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CSV em UTF-8</a:t>
            </a:r>
            <a:endParaRPr lang="en-US" sz="2700" dirty="0"/>
          </a:p>
        </p:txBody>
      </p:sp>
      <p:sp>
        <p:nvSpPr>
          <p:cNvPr id="19" name="Text 11"/>
          <p:cNvSpPr txBox="1"/>
          <p:nvPr/>
        </p:nvSpPr>
        <p:spPr>
          <a:xfrm>
            <a:off x="3238805" y="4130345"/>
            <a:ext cx="5524805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Texto puro, leve, lido por qualquer ferramenta. Padrão de mercado.</a:t>
            </a:r>
            <a:endParaRPr lang="en-US" sz="1650" dirty="0"/>
          </a:p>
        </p:txBody>
      </p:sp>
      <p:sp>
        <p:nvSpPr>
          <p:cNvPr id="20" name="Text 12"/>
          <p:cNvSpPr txBox="1"/>
          <p:nvPr/>
        </p:nvSpPr>
        <p:spPr>
          <a:xfrm>
            <a:off x="9620402" y="3619195"/>
            <a:ext cx="152430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b="1" spc="-144" kern="0" dirty="0">
                <a:solidFill>
                  <a:srgbClr val="6B8E4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02</a:t>
            </a:r>
            <a:endParaRPr lang="en-US" sz="7200" dirty="0"/>
          </a:p>
        </p:txBody>
      </p:sp>
      <p:sp>
        <p:nvSpPr>
          <p:cNvPr id="21" name="Text 13"/>
          <p:cNvSpPr txBox="1"/>
          <p:nvPr/>
        </p:nvSpPr>
        <p:spPr>
          <a:xfrm>
            <a:off x="9620402" y="4591202"/>
            <a:ext cx="1524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spc="297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segundo</a:t>
            </a:r>
            <a:endParaRPr lang="en-US" sz="1350" dirty="0"/>
          </a:p>
        </p:txBody>
      </p:sp>
      <p:sp>
        <p:nvSpPr>
          <p:cNvPr id="22" name="Text 14"/>
          <p:cNvSpPr txBox="1"/>
          <p:nvPr/>
        </p:nvSpPr>
        <p:spPr>
          <a:xfrm>
            <a:off x="11334902" y="3619195"/>
            <a:ext cx="55248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XLSX · 1 aba · 1 tabela</a:t>
            </a:r>
            <a:endParaRPr lang="en-US" sz="2700" dirty="0"/>
          </a:p>
        </p:txBody>
      </p:sp>
      <p:sp>
        <p:nvSpPr>
          <p:cNvPr id="23" name="Text 15"/>
          <p:cNvSpPr txBox="1"/>
          <p:nvPr/>
        </p:nvSpPr>
        <p:spPr>
          <a:xfrm>
            <a:off x="11334902" y="4130345"/>
            <a:ext cx="5524805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Cabeçalho na primeira linha, dados embaixo. Nada de abas extras.</a:t>
            </a:r>
            <a:endParaRPr lang="en-US" sz="1650" dirty="0"/>
          </a:p>
        </p:txBody>
      </p:sp>
      <p:sp>
        <p:nvSpPr>
          <p:cNvPr id="24" name="Text 16"/>
          <p:cNvSpPr txBox="1"/>
          <p:nvPr/>
        </p:nvSpPr>
        <p:spPr>
          <a:xfrm>
            <a:off x="1524305" y="5905195"/>
            <a:ext cx="152430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b="1" spc="-144" kern="0" dirty="0">
                <a:solidFill>
                  <a:srgbClr val="8B6F4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03</a:t>
            </a:r>
            <a:endParaRPr lang="en-US" sz="7200" dirty="0"/>
          </a:p>
        </p:txBody>
      </p:sp>
      <p:sp>
        <p:nvSpPr>
          <p:cNvPr id="25" name="Text 17"/>
          <p:cNvSpPr txBox="1"/>
          <p:nvPr/>
        </p:nvSpPr>
        <p:spPr>
          <a:xfrm>
            <a:off x="1524305" y="6877202"/>
            <a:ext cx="1524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97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 B</a:t>
            </a:r>
            <a:endParaRPr lang="en-US" sz="1350" dirty="0"/>
          </a:p>
        </p:txBody>
      </p:sp>
      <p:sp>
        <p:nvSpPr>
          <p:cNvPr id="26" name="Text 18"/>
          <p:cNvSpPr txBox="1"/>
          <p:nvPr/>
        </p:nvSpPr>
        <p:spPr>
          <a:xfrm>
            <a:off x="3238805" y="5905195"/>
            <a:ext cx="55248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Colar como texto no chat</a:t>
            </a:r>
            <a:endParaRPr lang="en-US" sz="2700" dirty="0"/>
          </a:p>
        </p:txBody>
      </p:sp>
      <p:sp>
        <p:nvSpPr>
          <p:cNvPr id="27" name="Text 19"/>
          <p:cNvSpPr txBox="1"/>
          <p:nvPr/>
        </p:nvSpPr>
        <p:spPr>
          <a:xfrm>
            <a:off x="3238805" y="6416345"/>
            <a:ext cx="5524805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Pequenos experimentos, até </a:t>
            </a:r>
            <a:pPr algn="l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~100 linhas</a:t>
            </a:r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Funciona em qualquer plano se o upload falhar.</a:t>
            </a:r>
            <a:endParaRPr lang="en-US" sz="1650" dirty="0"/>
          </a:p>
        </p:txBody>
      </p:sp>
      <p:sp>
        <p:nvSpPr>
          <p:cNvPr id="28" name="Text 20"/>
          <p:cNvSpPr txBox="1"/>
          <p:nvPr/>
        </p:nvSpPr>
        <p:spPr>
          <a:xfrm>
            <a:off x="9620402" y="5905195"/>
            <a:ext cx="152430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b="1" spc="-144" kern="0" dirty="0">
                <a:solidFill>
                  <a:srgbClr val="4A6B49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04</a:t>
            </a:r>
            <a:endParaRPr lang="en-US" sz="7200" dirty="0"/>
          </a:p>
        </p:txBody>
      </p:sp>
      <p:sp>
        <p:nvSpPr>
          <p:cNvPr id="29" name="Text 21"/>
          <p:cNvSpPr txBox="1"/>
          <p:nvPr/>
        </p:nvSpPr>
        <p:spPr>
          <a:xfrm>
            <a:off x="9620402" y="6877202"/>
            <a:ext cx="160751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97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alternativa</a:t>
            </a:r>
            <a:endParaRPr lang="en-US" sz="1350" dirty="0"/>
          </a:p>
        </p:txBody>
      </p:sp>
      <p:sp>
        <p:nvSpPr>
          <p:cNvPr id="30" name="Text 22"/>
          <p:cNvSpPr txBox="1"/>
          <p:nvPr/>
        </p:nvSpPr>
        <p:spPr>
          <a:xfrm>
            <a:off x="11334902" y="5905195"/>
            <a:ext cx="5930798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Google Planilhas via </a:t>
            </a:r>
            <a:pPr algn="l" indent="0" marL="0">
              <a:buNone/>
            </a:pPr>
            <a:r>
              <a:rPr lang="en-US" sz="2700" b="1" dirty="0">
                <a:solidFill>
                  <a:srgbClr val="4A6B49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@Drive</a:t>
            </a:r>
            <a:endParaRPr lang="en-US" sz="2700" dirty="0"/>
          </a:p>
        </p:txBody>
      </p:sp>
      <p:sp>
        <p:nvSpPr>
          <p:cNvPr id="31" name="Text 23"/>
          <p:cNvSpPr txBox="1"/>
          <p:nvPr/>
        </p:nvSpPr>
        <p:spPr>
          <a:xfrm>
            <a:off x="11334902" y="6416345"/>
            <a:ext cx="55248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Mencione o arquivo com </a:t>
            </a:r>
            <a:pPr algn="l" indent="0" marL="0">
              <a:buNone/>
            </a:pPr>
            <a:r>
              <a:rPr lang="en-US" sz="1650" b="1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</a:t>
            </a:r>
            <a:pPr algn="l" indent="0" marL="0">
              <a:buNone/>
            </a:pPr>
            <a:r>
              <a:rPr lang="en-US" sz="16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peça para abrir.</a:t>
            </a:r>
            <a:endParaRPr lang="en-US" sz="1650" dirty="0"/>
          </a:p>
        </p:txBody>
      </p:sp>
      <p:sp>
        <p:nvSpPr>
          <p:cNvPr id="32" name="Text 24"/>
          <p:cNvSpPr txBox="1"/>
          <p:nvPr/>
        </p:nvSpPr>
        <p:spPr>
          <a:xfrm>
            <a:off x="1524305" y="8191195"/>
            <a:ext cx="3048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spc="363" kern="0" dirty="0">
                <a:solidFill>
                  <a:srgbClr val="B25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 evitar</a:t>
            </a:r>
            <a:endParaRPr lang="en-US" sz="1650" dirty="0"/>
          </a:p>
        </p:txBody>
      </p:sp>
      <p:sp>
        <p:nvSpPr>
          <p:cNvPr id="33" name="Text 25"/>
          <p:cNvSpPr txBox="1"/>
          <p:nvPr/>
        </p:nvSpPr>
        <p:spPr>
          <a:xfrm>
            <a:off x="1524305" y="8667598"/>
            <a:ext cx="152403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PDF ou foto de tabela — a IA precisa </a:t>
            </a:r>
            <a:pPr algn="l" indent="0" marL="0">
              <a:buNone/>
            </a:pPr>
            <a:r>
              <a:rPr lang="en-US" sz="2400" i="1" dirty="0">
                <a:solidFill>
                  <a:srgbClr val="B250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“ler”</a:t>
            </a:r>
            <a:pPr algn="l" indent="0" marL="0">
              <a:buNone/>
            </a:pPr>
            <a:r>
              <a:rPr lang="en-US" sz="240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a imagem e pode errar números.</a:t>
            </a:r>
            <a:endParaRPr lang="en-US" sz="2400" dirty="0"/>
          </a:p>
        </p:txBody>
      </p:sp>
      <p:sp>
        <p:nvSpPr>
          <p:cNvPr id="34" name="Text 26"/>
          <p:cNvSpPr txBox="1"/>
          <p:nvPr/>
        </p:nvSpPr>
        <p:spPr>
          <a:xfrm>
            <a:off x="16954805" y="9667951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45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ED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2857500"/>
            <a:ext cx="16002000" cy="2857500"/>
          </a:xfrm>
          <a:prstGeom prst="roundRect">
            <a:avLst>
              <a:gd name="adj" fmla="val 2656"/>
            </a:avLst>
          </a:prstGeom>
          <a:solidFill>
            <a:srgbClr val="B2503C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6572707"/>
            <a:ext cx="7810805" cy="2286000"/>
          </a:xfrm>
          <a:prstGeom prst="roundRect">
            <a:avLst>
              <a:gd name="adj" fmla="val 3320"/>
            </a:avLst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195" y="6572707"/>
            <a:ext cx="7810805" cy="2286000"/>
          </a:xfrm>
          <a:prstGeom prst="roundRect">
            <a:avLst>
              <a:gd name="adj" fmla="val 3320"/>
            </a:avLst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gen-dedup-609ca5620bc91a301e35b29a91fab242.png">    </p:cNvPr>
          <p:cNvPicPr>
            <a:picLocks noChangeAspect="1"/>
          </p:cNvPicPr>
          <p:nvPr/>
        </p:nvPicPr>
        <p:blipFill>
          <a:blip r:embed="rId1"/>
          <a:srcRect l="-385" r="-385" t="0" b="0"/>
          <a:stretch/>
        </p:blipFill>
        <p:spPr>
          <a:xfrm>
            <a:off x="1143000" y="952805"/>
            <a:ext cx="761695" cy="28346"/>
          </a:xfrm>
          <a:prstGeom prst="rect">
            <a:avLst/>
          </a:prstGeom>
        </p:spPr>
      </p:pic>
      <p:pic>
        <p:nvPicPr>
          <p:cNvPr id="6" name="Image 1" descr="gen-dedup-882d47caf5710159cfb8eb2e8464a157.png">    </p:cNvPr>
          <p:cNvPicPr>
            <a:picLocks noChangeAspect="1"/>
          </p:cNvPicPr>
          <p:nvPr/>
        </p:nvPicPr>
        <p:blipFill>
          <a:blip r:embed="rId2"/>
          <a:srcRect l="-400" r="-400" t="0" b="0"/>
          <a:stretch/>
        </p:blipFill>
        <p:spPr>
          <a:xfrm>
            <a:off x="1143000" y="2857500"/>
            <a:ext cx="57607" cy="28575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477195" y="3238805"/>
            <a:ext cx="6286500" cy="2095805"/>
          </a:xfrm>
          <a:prstGeom prst="roundRect">
            <a:avLst>
              <a:gd name="adj" fmla="val 2749"/>
            </a:avLst>
          </a:prstGeom>
          <a:solidFill>
            <a:srgbClr val="1E2A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2" descr="gen-dedup-2fe56cb549e2db74a160a55fd7ea311f.png">    </p:cNvPr>
          <p:cNvPicPr>
            <a:picLocks noChangeAspect="1"/>
          </p:cNvPicPr>
          <p:nvPr/>
        </p:nvPicPr>
        <p:blipFill>
          <a:blip r:embed="rId3"/>
          <a:srcRect l="-400" r="-400" t="0" b="0"/>
          <a:stretch/>
        </p:blipFill>
        <p:spPr>
          <a:xfrm>
            <a:off x="1143000" y="6572707"/>
            <a:ext cx="57607" cy="2286000"/>
          </a:xfrm>
          <a:prstGeom prst="rect">
            <a:avLst/>
          </a:prstGeom>
        </p:spPr>
      </p:pic>
      <p:pic>
        <p:nvPicPr>
          <p:cNvPr id="9" name="Image 3" descr="gen-dedup-e58d19d82ec7cadd7b63d600101af6ee.png">    </p:cNvPr>
          <p:cNvPicPr>
            <a:picLocks noChangeAspect="1"/>
          </p:cNvPicPr>
          <p:nvPr/>
        </p:nvPicPr>
        <p:blipFill>
          <a:blip r:embed="rId4"/>
          <a:srcRect l="-400" r="-400" t="0" b="0"/>
          <a:stretch/>
        </p:blipFill>
        <p:spPr>
          <a:xfrm>
            <a:off x="9334195" y="6572707"/>
            <a:ext cx="57607" cy="228600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9715500" y="7905902"/>
            <a:ext cx="7048195" cy="761695"/>
          </a:xfrm>
          <a:prstGeom prst="roundRect">
            <a:avLst>
              <a:gd name="adj" fmla="val 7563"/>
            </a:avLst>
          </a:prstGeom>
          <a:solidFill>
            <a:srgbClr val="1E2A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1143000" y="1143000"/>
            <a:ext cx="9525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pegadinha comum</a:t>
            </a:r>
            <a:endParaRPr lang="en-US" sz="1500" dirty="0"/>
          </a:p>
        </p:txBody>
      </p:sp>
      <p:sp>
        <p:nvSpPr>
          <p:cNvPr id="12" name="Text 6"/>
          <p:cNvSpPr txBox="1"/>
          <p:nvPr/>
        </p:nvSpPr>
        <p:spPr>
          <a:xfrm>
            <a:off x="1143000" y="1524305"/>
            <a:ext cx="1619311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0" spc="-120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armadilha do </a:t>
            </a:r>
            <a:pPr algn="l" indent="0" marL="0">
              <a:buNone/>
            </a:pPr>
            <a:r>
              <a:rPr lang="en-US" sz="6000" i="1" spc="-120" kern="0" dirty="0">
                <a:solidFill>
                  <a:srgbClr val="B250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Excel brasileiro</a:t>
            </a:r>
            <a:endParaRPr lang="en-US" sz="6000" dirty="0"/>
          </a:p>
        </p:txBody>
      </p:sp>
      <p:sp>
        <p:nvSpPr>
          <p:cNvPr id="13" name="Text 7"/>
          <p:cNvSpPr txBox="1"/>
          <p:nvPr/>
        </p:nvSpPr>
        <p:spPr>
          <a:xfrm>
            <a:off x="1524305" y="3238805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B25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acontece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1524305" y="3600907"/>
            <a:ext cx="9970618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 “CSV” do Excel em PT sai com ponto-e-vírgula</a:t>
            </a:r>
            <a:endParaRPr lang="en-US" sz="2700" dirty="0"/>
          </a:p>
        </p:txBody>
      </p:sp>
      <p:sp>
        <p:nvSpPr>
          <p:cNvPr id="15" name="Text 9"/>
          <p:cNvSpPr txBox="1"/>
          <p:nvPr/>
        </p:nvSpPr>
        <p:spPr>
          <a:xfrm>
            <a:off x="1524305" y="4051706"/>
            <a:ext cx="85725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 com vírgula como decimal.</a:t>
            </a:r>
            <a:endParaRPr lang="en-US" sz="2700" dirty="0"/>
          </a:p>
        </p:txBody>
      </p:sp>
      <p:sp>
        <p:nvSpPr>
          <p:cNvPr id="16" name="Text 10"/>
          <p:cNvSpPr txBox="1"/>
          <p:nvPr/>
        </p:nvSpPr>
        <p:spPr>
          <a:xfrm>
            <a:off x="1524305" y="4655210"/>
            <a:ext cx="8572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25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pPr algn="l" indent="0" marL="0">
              <a:buNone/>
            </a:pPr>
            <a:r>
              <a:rPr lang="en-US" sz="15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Acentos quebrados — </a:t>
            </a:r>
            <a:pPr algn="l" indent="0" marL="0">
              <a:buNone/>
            </a:pPr>
            <a:r>
              <a:rPr lang="en-US" sz="1500" dirty="0">
                <a:solidFill>
                  <a:srgbClr val="3A453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araucÃ¡ria</a:t>
            </a:r>
            <a:pPr algn="l" indent="0" marL="0">
              <a:buNone/>
            </a:pPr>
            <a:r>
              <a:rPr lang="en-US" sz="15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em vez de araucária.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524305" y="4979822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25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pPr algn="l" indent="0" marL="0">
              <a:buNone/>
            </a:pPr>
            <a:r>
              <a:rPr lang="en-US" sz="15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Diagnóstico: o arquivo não está em UTF-8.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0668305" y="3429000"/>
            <a:ext cx="5906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A8B5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 do que o Excel exporta</a:t>
            </a:r>
            <a:endParaRPr lang="en-US" sz="1050" dirty="0"/>
          </a:p>
        </p:txBody>
      </p:sp>
      <p:sp>
        <p:nvSpPr>
          <p:cNvPr id="19" name="Text 13"/>
          <p:cNvSpPr txBox="1"/>
          <p:nvPr/>
        </p:nvSpPr>
        <p:spPr>
          <a:xfrm>
            <a:off x="10668305" y="3762756"/>
            <a:ext cx="86868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AF6E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substrato;repeticao;altura_cm composto;1;36,1 terra;1;25,8 araucária;2;24,9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1143000" y="6096305"/>
            <a:ext cx="16193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2F5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duas saídas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1524305" y="6896405"/>
            <a:ext cx="70491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 · exporte pelo Planilhas</a:t>
            </a:r>
            <a:endParaRPr lang="en-US" sz="2250" dirty="0"/>
          </a:p>
        </p:txBody>
      </p:sp>
      <p:sp>
        <p:nvSpPr>
          <p:cNvPr id="22" name="Text 16"/>
          <p:cNvSpPr txBox="1"/>
          <p:nvPr/>
        </p:nvSpPr>
        <p:spPr>
          <a:xfrm>
            <a:off x="1524305" y="7396582"/>
            <a:ext cx="70491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Planilhas → Arquivo → Fazer download → CSV</a:t>
            </a:r>
            <a:pPr algn="l" indent="0" marL="0">
              <a:buNone/>
            </a:pPr>
            <a:r>
              <a:rPr lang="en-US" sz="16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50" dirty="0"/>
          </a:p>
        </p:txBody>
      </p:sp>
      <p:sp>
        <p:nvSpPr>
          <p:cNvPr id="23" name="Text 17"/>
          <p:cNvSpPr txBox="1"/>
          <p:nvPr/>
        </p:nvSpPr>
        <p:spPr>
          <a:xfrm>
            <a:off x="1524305" y="7746797"/>
            <a:ext cx="70491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 sai em UTF-8, vírgula como decimal.</a:t>
            </a:r>
            <a:endParaRPr lang="en-US" sz="1650" dirty="0"/>
          </a:p>
        </p:txBody>
      </p:sp>
      <p:sp>
        <p:nvSpPr>
          <p:cNvPr id="24" name="Text 18"/>
          <p:cNvSpPr txBox="1"/>
          <p:nvPr/>
        </p:nvSpPr>
        <p:spPr>
          <a:xfrm>
            <a:off x="9715500" y="6896405"/>
            <a:ext cx="7239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 · ou avise a IA</a:t>
            </a:r>
            <a:endParaRPr lang="en-US" sz="2250" dirty="0"/>
          </a:p>
        </p:txBody>
      </p:sp>
      <p:sp>
        <p:nvSpPr>
          <p:cNvPr id="25" name="Text 19"/>
          <p:cNvSpPr txBox="1"/>
          <p:nvPr/>
        </p:nvSpPr>
        <p:spPr>
          <a:xfrm>
            <a:off x="9715500" y="7358177"/>
            <a:ext cx="72393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Cole no prompt, antes do arquivo:</a:t>
            </a:r>
            <a:endParaRPr lang="en-US" sz="1650" dirty="0"/>
          </a:p>
        </p:txBody>
      </p:sp>
      <p:sp>
        <p:nvSpPr>
          <p:cNvPr id="26" name="Text 20"/>
          <p:cNvSpPr txBox="1"/>
          <p:nvPr/>
        </p:nvSpPr>
        <p:spPr>
          <a:xfrm>
            <a:off x="9905695" y="8096098"/>
            <a:ext cx="6667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A8B58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“O arquivo usa ; como separador e vírgula como decimal.”</a:t>
            </a:r>
            <a:endParaRPr lang="en-US" sz="1275" dirty="0"/>
          </a:p>
        </p:txBody>
      </p:sp>
      <p:sp>
        <p:nvSpPr>
          <p:cNvPr id="27" name="Text 21"/>
          <p:cNvSpPr txBox="1"/>
          <p:nvPr/>
        </p:nvSpPr>
        <p:spPr>
          <a:xfrm>
            <a:off x="16954805" y="9667951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45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ED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2857500"/>
            <a:ext cx="16002000" cy="2667305"/>
          </a:xfrm>
          <a:prstGeom prst="roundRect">
            <a:avLst>
              <a:gd name="adj" fmla="val 2845"/>
            </a:avLst>
          </a:prstGeom>
          <a:solidFill>
            <a:srgbClr val="1E2A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7239305"/>
            <a:ext cx="3810305" cy="1714500"/>
          </a:xfrm>
          <a:prstGeom prst="roundRect">
            <a:avLst>
              <a:gd name="adj" fmla="val 4427"/>
            </a:avLst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43500" y="7239305"/>
            <a:ext cx="3810305" cy="1714500"/>
          </a:xfrm>
          <a:prstGeom prst="roundRect">
            <a:avLst>
              <a:gd name="adj" fmla="val 4427"/>
            </a:avLst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7239305"/>
            <a:ext cx="3810305" cy="1714500"/>
          </a:xfrm>
          <a:prstGeom prst="roundRect">
            <a:avLst>
              <a:gd name="adj" fmla="val 4427"/>
            </a:avLst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144500" y="7239305"/>
            <a:ext cx="4000500" cy="1714500"/>
          </a:xfrm>
          <a:prstGeom prst="roundRect">
            <a:avLst>
              <a:gd name="adj" fmla="val 4427"/>
            </a:avLst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gen-dedup-609ca5620bc91a301e35b29a91fab242.png">    </p:cNvPr>
          <p:cNvPicPr>
            <a:picLocks noChangeAspect="1"/>
          </p:cNvPicPr>
          <p:nvPr/>
        </p:nvPicPr>
        <p:blipFill>
          <a:blip r:embed="rId1"/>
          <a:srcRect l="-385" r="-385" t="0" b="0"/>
          <a:stretch/>
        </p:blipFill>
        <p:spPr>
          <a:xfrm>
            <a:off x="1143000" y="952805"/>
            <a:ext cx="761695" cy="28346"/>
          </a:xfrm>
          <a:prstGeom prst="rect">
            <a:avLst/>
          </a:prstGeom>
        </p:spPr>
      </p:pic>
      <p:pic>
        <p:nvPicPr>
          <p:cNvPr id="8" name="Image 1" descr="gen-dedup-f4ad34ce5a7cc44596469318c5d048b8.png">    </p:cNvPr>
          <p:cNvPicPr>
            <a:picLocks noChangeAspect="1"/>
          </p:cNvPicPr>
          <p:nvPr/>
        </p:nvPicPr>
        <p:blipFill>
          <a:blip r:embed="rId2"/>
          <a:srcRect l="0" r="0" t="-396" b="-396"/>
          <a:stretch/>
        </p:blipFill>
        <p:spPr>
          <a:xfrm>
            <a:off x="1143000" y="7239305"/>
            <a:ext cx="3810305" cy="57607"/>
          </a:xfrm>
          <a:prstGeom prst="rect">
            <a:avLst/>
          </a:prstGeom>
        </p:spPr>
      </p:pic>
      <p:pic>
        <p:nvPicPr>
          <p:cNvPr id="9" name="Image 2" descr="gen-dedup-b5612c3670f48c6af611c770756f3e05.png">    </p:cNvPr>
          <p:cNvPicPr>
            <a:picLocks noChangeAspect="1"/>
          </p:cNvPicPr>
          <p:nvPr/>
        </p:nvPicPr>
        <p:blipFill>
          <a:blip r:embed="rId3"/>
          <a:srcRect l="0" r="0" t="-396" b="-396"/>
          <a:stretch/>
        </p:blipFill>
        <p:spPr>
          <a:xfrm>
            <a:off x="5143500" y="7239305"/>
            <a:ext cx="3810305" cy="57607"/>
          </a:xfrm>
          <a:prstGeom prst="rect">
            <a:avLst/>
          </a:prstGeom>
        </p:spPr>
      </p:pic>
      <p:pic>
        <p:nvPicPr>
          <p:cNvPr id="10" name="Image 3" descr="gen-dedup-0cf25c7e4d37899a4100c29543840561.png">    </p:cNvPr>
          <p:cNvPicPr>
            <a:picLocks noChangeAspect="1"/>
          </p:cNvPicPr>
          <p:nvPr/>
        </p:nvPicPr>
        <p:blipFill>
          <a:blip r:embed="rId4"/>
          <a:srcRect l="0" r="0" t="-396" b="-396"/>
          <a:stretch/>
        </p:blipFill>
        <p:spPr>
          <a:xfrm>
            <a:off x="9144000" y="7239305"/>
            <a:ext cx="3810305" cy="57607"/>
          </a:xfrm>
          <a:prstGeom prst="rect">
            <a:avLst/>
          </a:prstGeom>
        </p:spPr>
      </p:pic>
      <p:pic>
        <p:nvPicPr>
          <p:cNvPr id="11" name="Image 4" descr="gen-dedup-f985c2a0c8f63fc86371cb7b18dd6e92.png">    </p:cNvPr>
          <p:cNvPicPr>
            <a:picLocks noChangeAspect="1"/>
          </p:cNvPicPr>
          <p:nvPr/>
        </p:nvPicPr>
        <p:blipFill>
          <a:blip r:embed="rId5"/>
          <a:srcRect l="0" r="0" t="-400" b="-400"/>
          <a:stretch/>
        </p:blipFill>
        <p:spPr>
          <a:xfrm>
            <a:off x="13144500" y="7239305"/>
            <a:ext cx="4000500" cy="57607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143000" y="1143000"/>
            <a:ext cx="9525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ganhando velocidade — e confiança</a:t>
            </a:r>
            <a:endParaRPr lang="en-US" sz="1500" dirty="0"/>
          </a:p>
        </p:txBody>
      </p:sp>
      <p:sp>
        <p:nvSpPr>
          <p:cNvPr id="13" name="Text 6"/>
          <p:cNvSpPr txBox="1"/>
          <p:nvPr/>
        </p:nvSpPr>
        <p:spPr>
          <a:xfrm>
            <a:off x="1143000" y="1524305"/>
            <a:ext cx="1619311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0" spc="-120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Feche o ciclo: </a:t>
            </a:r>
            <a:pPr algn="l" indent="0" marL="0">
              <a:buNone/>
            </a:pPr>
            <a:r>
              <a:rPr lang="en-US" sz="6000" i="1" spc="-120" kern="0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confira a leitura</a:t>
            </a:r>
            <a:endParaRPr lang="en-US" sz="6000" dirty="0"/>
          </a:p>
        </p:txBody>
      </p:sp>
      <p:sp>
        <p:nvSpPr>
          <p:cNvPr id="14" name="Text 7"/>
          <p:cNvSpPr txBox="1"/>
          <p:nvPr/>
        </p:nvSpPr>
        <p:spPr>
          <a:xfrm>
            <a:off x="1524305" y="3143707"/>
            <a:ext cx="15240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97" kern="0" dirty="0">
                <a:solidFill>
                  <a:srgbClr val="A8B5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de entrada</a:t>
            </a:r>
            <a:endParaRPr lang="en-US" sz="1350" dirty="0"/>
          </a:p>
        </p:txBody>
      </p:sp>
      <p:sp>
        <p:nvSpPr>
          <p:cNvPr id="15" name="Text 8"/>
          <p:cNvSpPr txBox="1"/>
          <p:nvPr/>
        </p:nvSpPr>
        <p:spPr>
          <a:xfrm>
            <a:off x="1524305" y="3524098"/>
            <a:ext cx="152403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>
                <a:solidFill>
                  <a:srgbClr val="FAF6E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“Antes de analisar, diga quantas linhas e colunas você leu, os níveis de cada fator e mostre as 5 primeiras linhas. </a:t>
            </a:r>
            <a:pPr algn="l" indent="0" marL="0">
              <a:lnSpc>
                <a:spcPts val="3150"/>
              </a:lnSpc>
              <a:buNone/>
            </a:pPr>
            <a:r>
              <a:rPr lang="en-US" sz="2250" dirty="0">
                <a:solidFill>
                  <a:srgbClr val="C792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Depois rode a análise em Python e mostre o código.</a:t>
            </a:r>
            <a:pPr algn="l" indent="0" marL="0">
              <a:lnSpc>
                <a:spcPts val="3150"/>
              </a:lnSpc>
              <a:buNone/>
            </a:pPr>
            <a:r>
              <a:rPr lang="en-US" sz="2250" dirty="0">
                <a:solidFill>
                  <a:srgbClr val="FAF6E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”</a:t>
            </a:r>
            <a:endParaRPr lang="en-US" sz="2250" dirty="0"/>
          </a:p>
        </p:txBody>
      </p:sp>
      <p:sp>
        <p:nvSpPr>
          <p:cNvPr id="16" name="Text 9"/>
          <p:cNvSpPr txBox="1"/>
          <p:nvPr/>
        </p:nvSpPr>
        <p:spPr>
          <a:xfrm>
            <a:off x="1143000" y="5905195"/>
            <a:ext cx="6667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levando o resultado embora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1143000" y="6229807"/>
            <a:ext cx="6667805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Quatro saídas práticas.</a:t>
            </a:r>
            <a:endParaRPr lang="en-US" sz="3450" dirty="0"/>
          </a:p>
        </p:txBody>
      </p:sp>
      <p:sp>
        <p:nvSpPr>
          <p:cNvPr id="18" name="Text 11"/>
          <p:cNvSpPr txBox="1"/>
          <p:nvPr/>
        </p:nvSpPr>
        <p:spPr>
          <a:xfrm>
            <a:off x="1429207" y="7524598"/>
            <a:ext cx="3238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231" kern="0" dirty="0">
                <a:solidFill>
                  <a:srgbClr val="2F5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50" dirty="0"/>
          </a:p>
        </p:txBody>
      </p:sp>
      <p:sp>
        <p:nvSpPr>
          <p:cNvPr id="19" name="Text 12"/>
          <p:cNvSpPr txBox="1"/>
          <p:nvPr/>
        </p:nvSpPr>
        <p:spPr>
          <a:xfrm>
            <a:off x="1429207" y="7763256"/>
            <a:ext cx="3515868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Tabela em CSV / Markdown</a:t>
            </a:r>
            <a:endParaRPr lang="en-US" sz="1800" dirty="0"/>
          </a:p>
        </p:txBody>
      </p:sp>
      <p:sp>
        <p:nvSpPr>
          <p:cNvPr id="20" name="Text 13"/>
          <p:cNvSpPr txBox="1"/>
          <p:nvPr/>
        </p:nvSpPr>
        <p:spPr>
          <a:xfrm>
            <a:off x="1429207" y="8120786"/>
            <a:ext cx="323880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colar no Planilhas.</a:t>
            </a:r>
            <a:endParaRPr lang="en-US" sz="1350" dirty="0"/>
          </a:p>
        </p:txBody>
      </p:sp>
      <p:sp>
        <p:nvSpPr>
          <p:cNvPr id="21" name="Text 14"/>
          <p:cNvSpPr txBox="1"/>
          <p:nvPr/>
        </p:nvSpPr>
        <p:spPr>
          <a:xfrm>
            <a:off x="5429707" y="7524598"/>
            <a:ext cx="3238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231" kern="0" dirty="0">
                <a:solidFill>
                  <a:srgbClr val="6B8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50" dirty="0"/>
          </a:p>
        </p:txBody>
      </p:sp>
      <p:sp>
        <p:nvSpPr>
          <p:cNvPr id="22" name="Text 15"/>
          <p:cNvSpPr txBox="1"/>
          <p:nvPr/>
        </p:nvSpPr>
        <p:spPr>
          <a:xfrm>
            <a:off x="5429707" y="7763256"/>
            <a:ext cx="32388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Exportar para Docs / Planilhas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5429707" y="8384134"/>
            <a:ext cx="323880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Peça “salve em meu Drive”.</a:t>
            </a:r>
            <a:endParaRPr lang="en-US" sz="1350" dirty="0"/>
          </a:p>
        </p:txBody>
      </p:sp>
      <p:sp>
        <p:nvSpPr>
          <p:cNvPr id="24" name="Text 17"/>
          <p:cNvSpPr txBox="1"/>
          <p:nvPr/>
        </p:nvSpPr>
        <p:spPr>
          <a:xfrm>
            <a:off x="9430207" y="7524598"/>
            <a:ext cx="3238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231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50" dirty="0"/>
          </a:p>
        </p:txBody>
      </p:sp>
      <p:sp>
        <p:nvSpPr>
          <p:cNvPr id="25" name="Text 18"/>
          <p:cNvSpPr txBox="1"/>
          <p:nvPr/>
        </p:nvSpPr>
        <p:spPr>
          <a:xfrm>
            <a:off x="9430207" y="7763256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Gráfico como imagem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9430207" y="8120786"/>
            <a:ext cx="323880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PNG pronto para o relatório.</a:t>
            </a:r>
            <a:endParaRPr lang="en-US" sz="1350" dirty="0"/>
          </a:p>
        </p:txBody>
      </p:sp>
      <p:sp>
        <p:nvSpPr>
          <p:cNvPr id="27" name="Text 20"/>
          <p:cNvSpPr txBox="1"/>
          <p:nvPr/>
        </p:nvSpPr>
        <p:spPr>
          <a:xfrm>
            <a:off x="13430707" y="7524598"/>
            <a:ext cx="3429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231" kern="0" dirty="0">
                <a:solidFill>
                  <a:srgbClr val="B25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050" dirty="0"/>
          </a:p>
        </p:txBody>
      </p:sp>
      <p:sp>
        <p:nvSpPr>
          <p:cNvPr id="28" name="Text 21"/>
          <p:cNvSpPr txBox="1"/>
          <p:nvPr/>
        </p:nvSpPr>
        <p:spPr>
          <a:xfrm>
            <a:off x="13430707" y="7763256"/>
            <a:ext cx="3429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Código em .txt</a:t>
            </a:r>
            <a:endParaRPr lang="en-US" sz="1800" dirty="0"/>
          </a:p>
        </p:txBody>
      </p:sp>
      <p:sp>
        <p:nvSpPr>
          <p:cNvPr id="29" name="Text 22"/>
          <p:cNvSpPr txBox="1"/>
          <p:nvPr/>
        </p:nvSpPr>
        <p:spPr>
          <a:xfrm>
            <a:off x="13430707" y="8120786"/>
            <a:ext cx="34290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Anexo da metodologia.</a:t>
            </a:r>
            <a:endParaRPr lang="en-US" sz="1350" dirty="0"/>
          </a:p>
        </p:txBody>
      </p:sp>
      <p:sp>
        <p:nvSpPr>
          <p:cNvPr id="30" name="Text 23"/>
          <p:cNvSpPr txBox="1"/>
          <p:nvPr/>
        </p:nvSpPr>
        <p:spPr>
          <a:xfrm>
            <a:off x="1143000" y="9239098"/>
            <a:ext cx="161931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792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Dica:</a:t>
            </a:r>
            <a:pPr algn="l" indent="0" marL="0">
              <a:buNone/>
            </a:pPr>
            <a:r>
              <a:rPr lang="en-US" sz="165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envie junto um pequeno dicionário de dados — </a:t>
            </a:r>
            <a:pPr algn="l" indent="0" marL="0">
              <a:buNone/>
            </a:pPr>
            <a:r>
              <a:rPr lang="en-US" sz="1650" i="1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é cada coluna, unidade, delineamento.</a:t>
            </a:r>
            <a:endParaRPr lang="en-US" sz="1650" dirty="0"/>
          </a:p>
        </p:txBody>
      </p:sp>
      <p:sp>
        <p:nvSpPr>
          <p:cNvPr id="31" name="Text 24"/>
          <p:cNvSpPr txBox="1"/>
          <p:nvPr/>
        </p:nvSpPr>
        <p:spPr>
          <a:xfrm>
            <a:off x="16954805" y="9667951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45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ED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3238805"/>
            <a:ext cx="2857500" cy="1904695"/>
          </a:xfrm>
          <a:prstGeom prst="roundRect">
            <a:avLst>
              <a:gd name="adj" fmla="val 3024"/>
            </a:avLst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34256" y="3238805"/>
            <a:ext cx="2857500" cy="1904695"/>
          </a:xfrm>
          <a:prstGeom prst="roundRect">
            <a:avLst>
              <a:gd name="adj" fmla="val 3024"/>
            </a:avLst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24598" y="3238805"/>
            <a:ext cx="2857500" cy="1904695"/>
          </a:xfrm>
          <a:prstGeom prst="roundRect">
            <a:avLst>
              <a:gd name="adj" fmla="val 3024"/>
            </a:avLst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15854" y="3238805"/>
            <a:ext cx="2857500" cy="1904695"/>
          </a:xfrm>
          <a:prstGeom prst="roundRect">
            <a:avLst>
              <a:gd name="adj" fmla="val 3024"/>
            </a:avLst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906195" y="3238805"/>
            <a:ext cx="3238805" cy="1904695"/>
          </a:xfrm>
          <a:prstGeom prst="roundRect">
            <a:avLst>
              <a:gd name="adj" fmla="val 3024"/>
            </a:avLst>
          </a:prstGeom>
          <a:solidFill>
            <a:srgbClr val="C792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5810098"/>
            <a:ext cx="16002000" cy="2857500"/>
          </a:xfrm>
          <a:prstGeom prst="roundRect">
            <a:avLst>
              <a:gd name="adj" fmla="val 2656"/>
            </a:avLst>
          </a:prstGeom>
          <a:solidFill>
            <a:srgbClr val="1E2A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0" descr="gen-dedup-609ca5620bc91a301e35b29a91fab242.png">    </p:cNvPr>
          <p:cNvPicPr>
            <a:picLocks noChangeAspect="1"/>
          </p:cNvPicPr>
          <p:nvPr/>
        </p:nvPicPr>
        <p:blipFill>
          <a:blip r:embed="rId1"/>
          <a:srcRect l="-385" r="-385" t="0" b="0"/>
          <a:stretch/>
        </p:blipFill>
        <p:spPr>
          <a:xfrm>
            <a:off x="1143000" y="1143000"/>
            <a:ext cx="761695" cy="28346"/>
          </a:xfrm>
          <a:prstGeom prst="rect">
            <a:avLst/>
          </a:prstGeom>
        </p:spPr>
      </p:pic>
      <p:pic>
        <p:nvPicPr>
          <p:cNvPr id="9" name="Image 1" descr="gen-dedup-1d11ebca58a6f43383c8716f9d55d86b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1143000" y="3238805"/>
            <a:ext cx="2857500" cy="57607"/>
          </a:xfrm>
          <a:prstGeom prst="rect">
            <a:avLst/>
          </a:prstGeom>
        </p:spPr>
      </p:pic>
      <p:pic>
        <p:nvPicPr>
          <p:cNvPr id="10" name="Image 2" descr="gen-dedup-08e156d979fe7604fbf86a32819b79a8.png">    </p:cNvPr>
          <p:cNvPicPr>
            <a:picLocks noChangeAspect="1"/>
          </p:cNvPicPr>
          <p:nvPr/>
        </p:nvPicPr>
        <p:blipFill>
          <a:blip r:embed="rId3"/>
          <a:srcRect l="0" r="0" t="-320" b="-320"/>
          <a:stretch/>
        </p:blipFill>
        <p:spPr>
          <a:xfrm>
            <a:off x="4048049" y="4143146"/>
            <a:ext cx="286207" cy="19202"/>
          </a:xfrm>
          <a:prstGeom prst="rect">
            <a:avLst/>
          </a:prstGeom>
        </p:spPr>
      </p:pic>
      <p:pic>
        <p:nvPicPr>
          <p:cNvPr id="11" name="Image 3" descr="gen-dedup-d0564d3edf5cab9db06417244559e2cd.png">    </p:cNvPr>
          <p:cNvPicPr>
            <a:picLocks noChangeAspect="1"/>
          </p:cNvPicPr>
          <p:nvPr/>
        </p:nvPicPr>
        <p:blipFill>
          <a:blip r:embed="rId4"/>
          <a:srcRect l="0" r="0" t="-400" b="-400"/>
          <a:stretch/>
        </p:blipFill>
        <p:spPr>
          <a:xfrm>
            <a:off x="4334256" y="3238805"/>
            <a:ext cx="2857500" cy="57607"/>
          </a:xfrm>
          <a:prstGeom prst="rect">
            <a:avLst/>
          </a:prstGeom>
        </p:spPr>
      </p:pic>
      <p:pic>
        <p:nvPicPr>
          <p:cNvPr id="12" name="Image 4" descr="gen-dedup-08e156d979fe7604fbf86a32819b79a8.png">    </p:cNvPr>
          <p:cNvPicPr>
            <a:picLocks noChangeAspect="1"/>
          </p:cNvPicPr>
          <p:nvPr/>
        </p:nvPicPr>
        <p:blipFill>
          <a:blip r:embed="rId5"/>
          <a:srcRect l="0" r="0" t="-320" b="-320"/>
          <a:stretch/>
        </p:blipFill>
        <p:spPr>
          <a:xfrm>
            <a:off x="7239305" y="4143146"/>
            <a:ext cx="286207" cy="19202"/>
          </a:xfrm>
          <a:prstGeom prst="rect">
            <a:avLst/>
          </a:prstGeom>
        </p:spPr>
      </p:pic>
      <p:pic>
        <p:nvPicPr>
          <p:cNvPr id="13" name="Image 5" descr="gen-dedup-a54f879272160e50a8b3f0602f59e047.png">    </p:cNvPr>
          <p:cNvPicPr>
            <a:picLocks noChangeAspect="1"/>
          </p:cNvPicPr>
          <p:nvPr/>
        </p:nvPicPr>
        <p:blipFill>
          <a:blip r:embed="rId6"/>
          <a:srcRect l="0" r="0" t="-400" b="-400"/>
          <a:stretch/>
        </p:blipFill>
        <p:spPr>
          <a:xfrm>
            <a:off x="7524598" y="3238805"/>
            <a:ext cx="2857500" cy="57607"/>
          </a:xfrm>
          <a:prstGeom prst="rect">
            <a:avLst/>
          </a:prstGeom>
        </p:spPr>
      </p:pic>
      <p:pic>
        <p:nvPicPr>
          <p:cNvPr id="14" name="Image 6" descr="gen-dedup-08e156d979fe7604fbf86a32819b79a8.png">    </p:cNvPr>
          <p:cNvPicPr>
            <a:picLocks noChangeAspect="1"/>
          </p:cNvPicPr>
          <p:nvPr/>
        </p:nvPicPr>
        <p:blipFill>
          <a:blip r:embed="rId7"/>
          <a:srcRect l="0" r="0" t="-320" b="-320"/>
          <a:stretch/>
        </p:blipFill>
        <p:spPr>
          <a:xfrm>
            <a:off x="10429646" y="4143146"/>
            <a:ext cx="286207" cy="19202"/>
          </a:xfrm>
          <a:prstGeom prst="rect">
            <a:avLst/>
          </a:prstGeom>
        </p:spPr>
      </p:pic>
      <p:pic>
        <p:nvPicPr>
          <p:cNvPr id="15" name="Image 7" descr="gen-dedup-55952491829445e37368f971efef4ebc.png">    </p:cNvPr>
          <p:cNvPicPr>
            <a:picLocks noChangeAspect="1"/>
          </p:cNvPicPr>
          <p:nvPr/>
        </p:nvPicPr>
        <p:blipFill>
          <a:blip r:embed="rId8"/>
          <a:srcRect l="0" r="0" t="-400" b="-400"/>
          <a:stretch/>
        </p:blipFill>
        <p:spPr>
          <a:xfrm>
            <a:off x="10715854" y="3238805"/>
            <a:ext cx="2857500" cy="57607"/>
          </a:xfrm>
          <a:prstGeom prst="rect">
            <a:avLst/>
          </a:prstGeom>
        </p:spPr>
      </p:pic>
      <p:pic>
        <p:nvPicPr>
          <p:cNvPr id="16" name="Image 8" descr="gen-dedup-08e156d979fe7604fbf86a32819b79a8.png">    </p:cNvPr>
          <p:cNvPicPr>
            <a:picLocks noChangeAspect="1"/>
          </p:cNvPicPr>
          <p:nvPr/>
        </p:nvPicPr>
        <p:blipFill>
          <a:blip r:embed="rId9"/>
          <a:srcRect l="0" r="0" t="-320" b="-320"/>
          <a:stretch/>
        </p:blipFill>
        <p:spPr>
          <a:xfrm>
            <a:off x="13620902" y="4143146"/>
            <a:ext cx="286207" cy="19202"/>
          </a:xfrm>
          <a:prstGeom prst="rect">
            <a:avLst/>
          </a:prstGeom>
        </p:spPr>
      </p:pic>
      <p:sp>
        <p:nvSpPr>
          <p:cNvPr id="17" name="Text 6"/>
          <p:cNvSpPr txBox="1"/>
          <p:nvPr/>
        </p:nvSpPr>
        <p:spPr>
          <a:xfrm>
            <a:off x="1143000" y="1333195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anatomia do prompt</a:t>
            </a:r>
            <a:endParaRPr lang="en-US" sz="1500" dirty="0"/>
          </a:p>
        </p:txBody>
      </p:sp>
      <p:sp>
        <p:nvSpPr>
          <p:cNvPr id="18" name="Text 7"/>
          <p:cNvSpPr txBox="1"/>
          <p:nvPr/>
        </p:nvSpPr>
        <p:spPr>
          <a:xfrm>
            <a:off x="1143000" y="1714500"/>
            <a:ext cx="1619311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300" spc="-126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estrutura do </a:t>
            </a:r>
            <a:pPr algn="l" indent="0" marL="0">
              <a:buNone/>
            </a:pPr>
            <a:r>
              <a:rPr lang="en-US" sz="6300" i="1" spc="-126" kern="0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bom prompt</a:t>
            </a:r>
            <a:endParaRPr lang="en-US" sz="6300" dirty="0"/>
          </a:p>
        </p:txBody>
      </p:sp>
      <p:sp>
        <p:nvSpPr>
          <p:cNvPr id="19" name="Text 8"/>
          <p:cNvSpPr txBox="1"/>
          <p:nvPr/>
        </p:nvSpPr>
        <p:spPr>
          <a:xfrm>
            <a:off x="1333195" y="3524098"/>
            <a:ext cx="2477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2F5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PAPEL</a:t>
            </a:r>
            <a:endParaRPr lang="en-US" sz="1350" dirty="0"/>
          </a:p>
        </p:txBody>
      </p:sp>
      <p:sp>
        <p:nvSpPr>
          <p:cNvPr id="20" name="Text 9"/>
          <p:cNvSpPr txBox="1"/>
          <p:nvPr/>
        </p:nvSpPr>
        <p:spPr>
          <a:xfrm>
            <a:off x="1333195" y="3895344"/>
            <a:ext cx="2477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Quem é a IA</a:t>
            </a:r>
            <a:endParaRPr lang="en-US" sz="2400" dirty="0"/>
          </a:p>
        </p:txBody>
      </p:sp>
      <p:sp>
        <p:nvSpPr>
          <p:cNvPr id="21" name="Text 10"/>
          <p:cNvSpPr txBox="1"/>
          <p:nvPr/>
        </p:nvSpPr>
        <p:spPr>
          <a:xfrm>
            <a:off x="1333195" y="4326026"/>
            <a:ext cx="2477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“Você é estatístico agrícola...”</a:t>
            </a:r>
            <a:endParaRPr lang="en-US" sz="1500" dirty="0"/>
          </a:p>
        </p:txBody>
      </p:sp>
      <p:sp>
        <p:nvSpPr>
          <p:cNvPr id="22" name="Text 11"/>
          <p:cNvSpPr txBox="1"/>
          <p:nvPr/>
        </p:nvSpPr>
        <p:spPr>
          <a:xfrm>
            <a:off x="4524451" y="3524098"/>
            <a:ext cx="2477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6B8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CONTEXTO</a:t>
            </a:r>
            <a:endParaRPr lang="en-US" sz="1350" dirty="0"/>
          </a:p>
        </p:txBody>
      </p:sp>
      <p:sp>
        <p:nvSpPr>
          <p:cNvPr id="23" name="Text 12"/>
          <p:cNvSpPr txBox="1"/>
          <p:nvPr/>
        </p:nvSpPr>
        <p:spPr>
          <a:xfrm>
            <a:off x="4524451" y="3895344"/>
            <a:ext cx="24771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Cenário do estudo</a:t>
            </a:r>
            <a:endParaRPr lang="en-US" sz="2400" dirty="0"/>
          </a:p>
        </p:txBody>
      </p:sp>
      <p:sp>
        <p:nvSpPr>
          <p:cNvPr id="24" name="Text 13"/>
          <p:cNvSpPr txBox="1"/>
          <p:nvPr/>
        </p:nvSpPr>
        <p:spPr>
          <a:xfrm>
            <a:off x="4524451" y="4661611"/>
            <a:ext cx="294711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DIC, 5 substratos, 4 reps.</a:t>
            </a:r>
            <a:endParaRPr lang="en-US" sz="1500" dirty="0"/>
          </a:p>
        </p:txBody>
      </p:sp>
      <p:sp>
        <p:nvSpPr>
          <p:cNvPr id="25" name="Text 14"/>
          <p:cNvSpPr txBox="1"/>
          <p:nvPr/>
        </p:nvSpPr>
        <p:spPr>
          <a:xfrm>
            <a:off x="7715707" y="3524098"/>
            <a:ext cx="2477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</a:t>
            </a:r>
            <a:endParaRPr lang="en-US" sz="1350" dirty="0"/>
          </a:p>
        </p:txBody>
      </p:sp>
      <p:sp>
        <p:nvSpPr>
          <p:cNvPr id="26" name="Text 15"/>
          <p:cNvSpPr txBox="1"/>
          <p:nvPr/>
        </p:nvSpPr>
        <p:spPr>
          <a:xfrm>
            <a:off x="7715707" y="3895344"/>
            <a:ext cx="2477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Onde estão</a:t>
            </a:r>
            <a:endParaRPr lang="en-US" sz="2400" dirty="0"/>
          </a:p>
        </p:txBody>
      </p:sp>
      <p:sp>
        <p:nvSpPr>
          <p:cNvPr id="27" name="Text 16"/>
          <p:cNvSpPr txBox="1"/>
          <p:nvPr/>
        </p:nvSpPr>
        <p:spPr>
          <a:xfrm>
            <a:off x="7715707" y="4326026"/>
            <a:ext cx="2477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“Arquivo anexo”.</a:t>
            </a:r>
            <a:endParaRPr lang="en-US" sz="1500" dirty="0"/>
          </a:p>
        </p:txBody>
      </p:sp>
      <p:sp>
        <p:nvSpPr>
          <p:cNvPr id="28" name="Text 17"/>
          <p:cNvSpPr txBox="1"/>
          <p:nvPr/>
        </p:nvSpPr>
        <p:spPr>
          <a:xfrm>
            <a:off x="10906049" y="3524098"/>
            <a:ext cx="2477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B25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TAREFA</a:t>
            </a:r>
            <a:endParaRPr lang="en-US" sz="1350" dirty="0"/>
          </a:p>
        </p:txBody>
      </p:sp>
      <p:sp>
        <p:nvSpPr>
          <p:cNvPr id="29" name="Text 18"/>
          <p:cNvSpPr txBox="1"/>
          <p:nvPr/>
        </p:nvSpPr>
        <p:spPr>
          <a:xfrm>
            <a:off x="10906049" y="3895344"/>
            <a:ext cx="2477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 que fazer</a:t>
            </a:r>
            <a:endParaRPr lang="en-US" sz="2400" dirty="0"/>
          </a:p>
        </p:txBody>
      </p:sp>
      <p:sp>
        <p:nvSpPr>
          <p:cNvPr id="30" name="Text 19"/>
          <p:cNvSpPr txBox="1"/>
          <p:nvPr/>
        </p:nvSpPr>
        <p:spPr>
          <a:xfrm>
            <a:off x="10906049" y="4326026"/>
            <a:ext cx="2477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ANOVA, pressupostos, Tukey 5%.</a:t>
            </a:r>
            <a:endParaRPr lang="en-US" sz="1500" dirty="0"/>
          </a:p>
        </p:txBody>
      </p:sp>
      <p:sp>
        <p:nvSpPr>
          <p:cNvPr id="31" name="Text 20"/>
          <p:cNvSpPr txBox="1"/>
          <p:nvPr/>
        </p:nvSpPr>
        <p:spPr>
          <a:xfrm>
            <a:off x="14097305" y="3524098"/>
            <a:ext cx="28575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FORMATO</a:t>
            </a:r>
            <a:endParaRPr lang="en-US" sz="1350" dirty="0"/>
          </a:p>
        </p:txBody>
      </p:sp>
      <p:sp>
        <p:nvSpPr>
          <p:cNvPr id="32" name="Text 21"/>
          <p:cNvSpPr txBox="1"/>
          <p:nvPr/>
        </p:nvSpPr>
        <p:spPr>
          <a:xfrm>
            <a:off x="14097305" y="3895344"/>
            <a:ext cx="2857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Como entregar</a:t>
            </a:r>
            <a:endParaRPr lang="en-US" sz="2400" dirty="0"/>
          </a:p>
        </p:txBody>
      </p:sp>
      <p:sp>
        <p:nvSpPr>
          <p:cNvPr id="33" name="Text 22"/>
          <p:cNvSpPr txBox="1"/>
          <p:nvPr/>
        </p:nvSpPr>
        <p:spPr>
          <a:xfrm>
            <a:off x="14097305" y="4326026"/>
            <a:ext cx="33147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Tabela + médias + parágrafo.</a:t>
            </a:r>
            <a:endParaRPr lang="en-US" sz="1500" dirty="0"/>
          </a:p>
        </p:txBody>
      </p:sp>
      <p:sp>
        <p:nvSpPr>
          <p:cNvPr id="34" name="Text 23"/>
          <p:cNvSpPr txBox="1"/>
          <p:nvPr/>
        </p:nvSpPr>
        <p:spPr>
          <a:xfrm>
            <a:off x="1524305" y="6096305"/>
            <a:ext cx="1524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A8B5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 pronto</a:t>
            </a:r>
            <a:endParaRPr lang="en-US" sz="1500" dirty="0"/>
          </a:p>
        </p:txBody>
      </p:sp>
      <p:sp>
        <p:nvSpPr>
          <p:cNvPr id="35" name="Text 24"/>
          <p:cNvSpPr txBox="1"/>
          <p:nvPr/>
        </p:nvSpPr>
        <p:spPr>
          <a:xfrm>
            <a:off x="1524305" y="6476695"/>
            <a:ext cx="15240305" cy="1200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i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“Você é estatístico agrícola. Experimento em DIC com 5 substratos e 4 repetições (arquivo anexo). Faça ANOVA, verifique pressupostos e aplique Tukey 5%. Entregue </a:t>
            </a:r>
            <a:pPr algn="l" indent="0" marL="0">
              <a:lnSpc>
                <a:spcPts val="3150"/>
              </a:lnSpc>
              <a:buNone/>
            </a:pPr>
            <a:r>
              <a:rPr lang="en-US" sz="2250" b="1" i="1" dirty="0">
                <a:solidFill>
                  <a:srgbClr val="C7922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tabela da ANOVA, médias com letras</a:t>
            </a:r>
            <a:pPr algn="l" indent="0" marL="0">
              <a:lnSpc>
                <a:spcPts val="3150"/>
              </a:lnSpc>
              <a:buNone/>
            </a:pPr>
            <a:r>
              <a:rPr lang="en-US" sz="2250" i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e </a:t>
            </a:r>
            <a:pPr algn="l" indent="0" marL="0">
              <a:lnSpc>
                <a:spcPts val="3150"/>
              </a:lnSpc>
              <a:buNone/>
            </a:pPr>
            <a:r>
              <a:rPr lang="en-US" sz="2250" b="1" i="1" dirty="0">
                <a:solidFill>
                  <a:srgbClr val="C7922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um parágrafo de interpretação</a:t>
            </a:r>
            <a:pPr algn="l" indent="0" marL="0">
              <a:lnSpc>
                <a:spcPts val="3150"/>
              </a:lnSpc>
              <a:buNone/>
            </a:pPr>
            <a:r>
              <a:rPr lang="en-US" sz="2250" i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.”</a:t>
            </a:r>
            <a:endParaRPr lang="en-US" sz="2250" dirty="0"/>
          </a:p>
        </p:txBody>
      </p:sp>
      <p:sp>
        <p:nvSpPr>
          <p:cNvPr id="36" name="Text 25"/>
          <p:cNvSpPr txBox="1"/>
          <p:nvPr/>
        </p:nvSpPr>
        <p:spPr>
          <a:xfrm>
            <a:off x="1524305" y="8096098"/>
            <a:ext cx="142875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DDD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Quanto mais específico, melhor — sem virar receita de bolo.</a:t>
            </a:r>
            <a:endParaRPr lang="en-US" sz="1650" dirty="0"/>
          </a:p>
        </p:txBody>
      </p:sp>
      <p:sp>
        <p:nvSpPr>
          <p:cNvPr id="37" name="Text 26"/>
          <p:cNvSpPr txBox="1"/>
          <p:nvPr/>
        </p:nvSpPr>
        <p:spPr>
          <a:xfrm>
            <a:off x="16954805" y="9667951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/ 45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ED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3619195"/>
            <a:ext cx="7429500" cy="4953305"/>
          </a:xfrm>
          <a:prstGeom prst="roundRect">
            <a:avLst>
              <a:gd name="adj" fmla="val 1532"/>
            </a:avLst>
          </a:prstGeom>
          <a:solidFill>
            <a:srgbClr val="B2503C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5500" y="3619195"/>
            <a:ext cx="7429500" cy="4953305"/>
          </a:xfrm>
          <a:prstGeom prst="roundRect">
            <a:avLst>
              <a:gd name="adj" fmla="val 1532"/>
            </a:avLst>
          </a:prstGeom>
          <a:solidFill>
            <a:srgbClr val="2F5233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609ca5620bc91a301e35b29a91fab242.png">    </p:cNvPr>
          <p:cNvPicPr>
            <a:picLocks noChangeAspect="1"/>
          </p:cNvPicPr>
          <p:nvPr/>
        </p:nvPicPr>
        <p:blipFill>
          <a:blip r:embed="rId1"/>
          <a:srcRect l="-385" r="-385" t="0" b="0"/>
          <a:stretch/>
        </p:blipFill>
        <p:spPr>
          <a:xfrm>
            <a:off x="1143000" y="1333195"/>
            <a:ext cx="76169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096805" y="4762195"/>
            <a:ext cx="6667805" cy="2286000"/>
          </a:xfrm>
          <a:prstGeom prst="roundRect">
            <a:avLst>
              <a:gd name="adj" fmla="val 2520"/>
            </a:avLst>
          </a:prstGeom>
          <a:solidFill>
            <a:srgbClr val="1E2A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43000" y="1524305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 e depois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1904695"/>
            <a:ext cx="142875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spc="-144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Prompt </a:t>
            </a:r>
            <a:pPr algn="l" indent="0" marL="0">
              <a:buNone/>
            </a:pPr>
            <a:r>
              <a:rPr lang="en-US" sz="7200" spc="-144" kern="0" dirty="0">
                <a:solidFill>
                  <a:srgbClr val="B250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ruim</a:t>
            </a:r>
            <a:pPr algn="l" indent="0" marL="0">
              <a:buNone/>
            </a:pPr>
            <a:r>
              <a:rPr lang="en-US" sz="7200" spc="-144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× </a:t>
            </a:r>
            <a:pPr algn="l" indent="0" marL="0">
              <a:buNone/>
            </a:pPr>
            <a:r>
              <a:rPr lang="en-US" sz="7200" spc="-144" kern="0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bom</a:t>
            </a:r>
            <a:endParaRPr lang="en-US" sz="72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4000500"/>
            <a:ext cx="6667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spc="330" kern="0" dirty="0">
                <a:solidFill>
                  <a:srgbClr val="B25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 assim não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381305" y="4953305"/>
            <a:ext cx="8953805" cy="838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600" b="1" i="1" dirty="0">
                <a:solidFill>
                  <a:srgbClr val="B250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“analisa isso aí.”</a:t>
            </a:r>
            <a:endParaRPr lang="en-US" sz="6600" dirty="0"/>
          </a:p>
        </p:txBody>
      </p:sp>
      <p:sp>
        <p:nvSpPr>
          <p:cNvPr id="10" name="Text 7"/>
          <p:cNvSpPr txBox="1"/>
          <p:nvPr/>
        </p:nvSpPr>
        <p:spPr>
          <a:xfrm>
            <a:off x="1524305" y="6286500"/>
            <a:ext cx="66678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ela não sabe que análise você quer.</a:t>
            </a:r>
            <a:endParaRPr lang="en-US" sz="1650" dirty="0"/>
          </a:p>
        </p:txBody>
      </p:sp>
      <p:sp>
        <p:nvSpPr>
          <p:cNvPr id="11" name="Text 8"/>
          <p:cNvSpPr txBox="1"/>
          <p:nvPr/>
        </p:nvSpPr>
        <p:spPr>
          <a:xfrm>
            <a:off x="1524305" y="6713525"/>
            <a:ext cx="66678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não sabe o que é “isso”.</a:t>
            </a:r>
            <a:endParaRPr lang="en-US" sz="1650" dirty="0"/>
          </a:p>
        </p:txBody>
      </p:sp>
      <p:sp>
        <p:nvSpPr>
          <p:cNvPr id="12" name="Text 9"/>
          <p:cNvSpPr txBox="1"/>
          <p:nvPr/>
        </p:nvSpPr>
        <p:spPr>
          <a:xfrm>
            <a:off x="1524305" y="7139635"/>
            <a:ext cx="66678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vai inventar um delineamento.</a:t>
            </a:r>
            <a:endParaRPr lang="en-US" sz="1650" dirty="0"/>
          </a:p>
        </p:txBody>
      </p:sp>
      <p:sp>
        <p:nvSpPr>
          <p:cNvPr id="13" name="Text 10"/>
          <p:cNvSpPr txBox="1"/>
          <p:nvPr/>
        </p:nvSpPr>
        <p:spPr>
          <a:xfrm>
            <a:off x="10096805" y="4000500"/>
            <a:ext cx="6667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spc="330" kern="0" dirty="0">
                <a:solidFill>
                  <a:srgbClr val="2F5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assim sim</a:t>
            </a:r>
            <a:endParaRPr lang="en-US" sz="1650" dirty="0"/>
          </a:p>
        </p:txBody>
      </p:sp>
      <p:sp>
        <p:nvSpPr>
          <p:cNvPr id="14" name="Text 11"/>
          <p:cNvSpPr txBox="1"/>
          <p:nvPr/>
        </p:nvSpPr>
        <p:spPr>
          <a:xfrm>
            <a:off x="10287000" y="4920386"/>
            <a:ext cx="6477610" cy="1805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FAF6E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Você é estatístico agrícola. Tenho um DIC com 5 substratos e 4 repetições (CSV em anexo).</a:t>
            </a:r>
            <a:pPr algn="l" indent="0" marL="0">
              <a:lnSpc>
                <a:spcPts val="2325"/>
              </a:lnSpc>
              <a:buNone/>
            </a:pP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FAF6E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Faça ANOVA, verifique pressupostos, aplique Tukey 5%. Entregue: tabela ANOVA, médias com letras e parágrafo de interpretação.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0096805" y="7334402"/>
            <a:ext cx="6667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F5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Resultado:</a:t>
            </a:r>
            <a:pPr algn="l" indent="0" marL="0">
              <a:buNone/>
            </a:pPr>
            <a:r>
              <a:rPr lang="en-US" sz="165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análise correta na primeira tentativa.</a:t>
            </a:r>
            <a:endParaRPr lang="en-US" sz="1650" dirty="0"/>
          </a:p>
        </p:txBody>
      </p:sp>
      <p:sp>
        <p:nvSpPr>
          <p:cNvPr id="16" name="Text 13"/>
          <p:cNvSpPr txBox="1"/>
          <p:nvPr/>
        </p:nvSpPr>
        <p:spPr>
          <a:xfrm>
            <a:off x="16954805" y="9667951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/ 45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8B6F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895b9b3e915fe43551677ea4d9a846a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3446a317d80b0d980c6a775d6a76bef8.png">    </p:cNvPr>
          <p:cNvPicPr>
            <a:picLocks noChangeAspect="1"/>
          </p:cNvPicPr>
          <p:nvPr/>
        </p:nvPicPr>
        <p:blipFill>
          <a:blip r:embed="rId2"/>
          <a:srcRect l="0" r="0" t="-4" b="-4"/>
          <a:stretch/>
        </p:blipFill>
        <p:spPr>
          <a:xfrm>
            <a:off x="1143000" y="2857500"/>
            <a:ext cx="3619195" cy="4572000"/>
          </a:xfrm>
          <a:prstGeom prst="rect">
            <a:avLst/>
          </a:prstGeom>
        </p:spPr>
      </p:pic>
      <p:pic>
        <p:nvPicPr>
          <p:cNvPr id="4" name="Image 2" descr="gen-dedup-128ae468b35084a7c58f393bd46c43e4.png">    </p:cNvPr>
          <p:cNvPicPr>
            <a:picLocks noChangeAspect="1"/>
          </p:cNvPicPr>
          <p:nvPr/>
        </p:nvPicPr>
        <p:blipFill>
          <a:blip r:embed="rId3"/>
          <a:srcRect l="-404" r="-404" t="0" b="0"/>
          <a:stretch/>
        </p:blipFill>
        <p:spPr>
          <a:xfrm>
            <a:off x="5333695" y="5715000"/>
            <a:ext cx="1143000" cy="28346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5333695" y="2857500"/>
            <a:ext cx="12192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396" kern="0" dirty="0">
                <a:solidFill>
                  <a:srgbClr val="F2EDD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Pausa</a:t>
            </a:r>
            <a:endParaRPr lang="en-US" sz="1800" dirty="0"/>
          </a:p>
        </p:txBody>
      </p:sp>
      <p:sp>
        <p:nvSpPr>
          <p:cNvPr id="6" name="Text 1"/>
          <p:cNvSpPr txBox="1"/>
          <p:nvPr/>
        </p:nvSpPr>
        <p:spPr>
          <a:xfrm>
            <a:off x="5333695" y="3238805"/>
            <a:ext cx="12192610" cy="1810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0" b="1" spc="-450" kern="0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Intervalo</a:t>
            </a:r>
            <a:endParaRPr lang="en-US" sz="15000" dirty="0"/>
          </a:p>
        </p:txBody>
      </p:sp>
      <p:sp>
        <p:nvSpPr>
          <p:cNvPr id="7" name="Text 2"/>
          <p:cNvSpPr txBox="1"/>
          <p:nvPr/>
        </p:nvSpPr>
        <p:spPr>
          <a:xfrm>
            <a:off x="5333695" y="6096305"/>
            <a:ext cx="1219261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i="1" spc="-144" kern="0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15 </a:t>
            </a:r>
            <a:pPr algn="l" indent="0" marL="0">
              <a:buNone/>
            </a:pPr>
            <a:r>
              <a:rPr lang="en-US" sz="7200" i="1" spc="-144" kern="0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minutos</a:t>
            </a:r>
            <a:endParaRPr lang="en-US" sz="7200" dirty="0"/>
          </a:p>
        </p:txBody>
      </p:sp>
      <p:sp>
        <p:nvSpPr>
          <p:cNvPr id="8" name="Text 3"/>
          <p:cNvSpPr txBox="1"/>
          <p:nvPr/>
        </p:nvSpPr>
        <p:spPr>
          <a:xfrm>
            <a:off x="5333695" y="7810805"/>
            <a:ext cx="952530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i="1" dirty="0">
                <a:solidFill>
                  <a:srgbClr val="F2EDDF">
                    <a:alpha val="85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Estique as costas. Beba água.</a:t>
            </a:r>
            <a:pPr algn="l" indent="0" marL="0">
              <a:lnSpc>
                <a:spcPct val="130000"/>
              </a:lnSpc>
              <a:buNone/>
            </a:pPr>
            <a:endParaRPr lang="en-US" sz="27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700" i="1" dirty="0">
                <a:solidFill>
                  <a:srgbClr val="F2EDDF">
                    <a:alpha val="85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Voltamos para o </a:t>
            </a:r>
            <a:pPr algn="l" indent="0" marL="0">
              <a:lnSpc>
                <a:spcPct val="130000"/>
              </a:lnSpc>
              <a:buNone/>
            </a:pPr>
            <a:r>
              <a:rPr lang="en-US" sz="2700" i="1" dirty="0">
                <a:solidFill>
                  <a:srgbClr val="C79224">
                    <a:alpha val="85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mão na massa.</a:t>
            </a:r>
            <a:endParaRPr lang="en-US" sz="2700" dirty="0"/>
          </a:p>
        </p:txBody>
      </p:sp>
      <p:sp>
        <p:nvSpPr>
          <p:cNvPr id="9" name="Text 4"/>
          <p:cNvSpPr txBox="1"/>
          <p:nvPr/>
        </p:nvSpPr>
        <p:spPr>
          <a:xfrm>
            <a:off x="16954805" y="9667951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F2EDD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/ 45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3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cacd84ec99e95d2f72054eb311ed4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ece07794e14822e69f1715bf441f39e6.png">    </p:cNvPr>
          <p:cNvPicPr>
            <a:picLocks noChangeAspect="1"/>
          </p:cNvPicPr>
          <p:nvPr/>
        </p:nvPicPr>
        <p:blipFill>
          <a:blip r:embed="rId2">
            <a:alphaModFix amt="30000"/>
          </a:blip>
          <a:srcRect l="0" r="0" t="0" b="0"/>
          <a:stretch/>
        </p:blipFill>
        <p:spPr>
          <a:xfrm>
            <a:off x="2667305" y="4000500"/>
            <a:ext cx="4572000" cy="571500"/>
          </a:xfrm>
          <a:prstGeom prst="rect">
            <a:avLst/>
          </a:prstGeom>
        </p:spPr>
      </p:pic>
      <p:pic>
        <p:nvPicPr>
          <p:cNvPr id="4" name="Image 2" descr="gen-dedup-609ca5620bc91a301e35b29a91fab242.png">    </p:cNvPr>
          <p:cNvPicPr>
            <a:picLocks noChangeAspect="1"/>
          </p:cNvPicPr>
          <p:nvPr/>
        </p:nvPicPr>
        <p:blipFill>
          <a:blip r:embed="rId3"/>
          <a:srcRect l="-385" r="-385" t="0" b="0"/>
          <a:stretch/>
        </p:blipFill>
        <p:spPr>
          <a:xfrm>
            <a:off x="1143000" y="952805"/>
            <a:ext cx="761695" cy="2834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7239305" y="4572000"/>
            <a:ext cx="3810305" cy="1524305"/>
          </a:xfrm>
          <a:prstGeom prst="roundRect">
            <a:avLst>
              <a:gd name="adj" fmla="val 49970"/>
            </a:avLst>
          </a:prstGeom>
          <a:solidFill>
            <a:srgbClr val="C792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1"/>
          <p:cNvSpPr/>
          <p:nvPr/>
        </p:nvSpPr>
        <p:spPr>
          <a:xfrm>
            <a:off x="1143000" y="3429000"/>
            <a:ext cx="2857500" cy="1238098"/>
          </a:xfrm>
          <a:prstGeom prst="roundRect">
            <a:avLst>
              <a:gd name="adj" fmla="val 6130"/>
            </a:avLst>
          </a:prstGeom>
          <a:solidFill>
            <a:srgbClr val="FAF6EC">
              <a:alpha val="6000"/>
            </a:srgbClr>
          </a:solidFill>
          <a:ln w="12700">
            <a:solidFill>
              <a:srgbClr val="A8B584">
                <a:alpha val="40000"/>
              </a:srgbClr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4381805" y="2667305"/>
            <a:ext cx="2857500" cy="1238098"/>
          </a:xfrm>
          <a:prstGeom prst="roundRect">
            <a:avLst>
              <a:gd name="adj" fmla="val 6130"/>
            </a:avLst>
          </a:prstGeom>
          <a:solidFill>
            <a:srgbClr val="FAF6EC">
              <a:alpha val="6000"/>
            </a:srgbClr>
          </a:solidFill>
          <a:ln w="12700">
            <a:solidFill>
              <a:srgbClr val="A8B584">
                <a:alpha val="40000"/>
              </a:srgbClr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11239805" y="2667305"/>
            <a:ext cx="2857500" cy="1238098"/>
          </a:xfrm>
          <a:prstGeom prst="roundRect">
            <a:avLst>
              <a:gd name="adj" fmla="val 6130"/>
            </a:avLst>
          </a:prstGeom>
          <a:solidFill>
            <a:srgbClr val="FAF6EC">
              <a:alpha val="6000"/>
            </a:srgbClr>
          </a:solidFill>
          <a:ln w="12700">
            <a:solidFill>
              <a:srgbClr val="A8B584">
                <a:alpha val="40000"/>
              </a:srgbClr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4477695" y="3429000"/>
            <a:ext cx="2857500" cy="1238098"/>
          </a:xfrm>
          <a:prstGeom prst="roundRect">
            <a:avLst>
              <a:gd name="adj" fmla="val 6130"/>
            </a:avLst>
          </a:prstGeom>
          <a:solidFill>
            <a:srgbClr val="FAF6EC">
              <a:alpha val="6000"/>
            </a:srgbClr>
          </a:solidFill>
          <a:ln w="12700">
            <a:solidFill>
              <a:srgbClr val="A8B584">
                <a:alpha val="4000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143000" y="6762902"/>
            <a:ext cx="2857500" cy="1238098"/>
          </a:xfrm>
          <a:prstGeom prst="roundRect">
            <a:avLst>
              <a:gd name="adj" fmla="val 6130"/>
            </a:avLst>
          </a:prstGeom>
          <a:solidFill>
            <a:srgbClr val="FAF6EC">
              <a:alpha val="6000"/>
            </a:srgbClr>
          </a:solidFill>
          <a:ln w="12700">
            <a:solidFill>
              <a:srgbClr val="A8B584">
                <a:alpha val="4000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4381805" y="7524598"/>
            <a:ext cx="2857500" cy="1238098"/>
          </a:xfrm>
          <a:prstGeom prst="roundRect">
            <a:avLst>
              <a:gd name="adj" fmla="val 6130"/>
            </a:avLst>
          </a:prstGeom>
          <a:solidFill>
            <a:srgbClr val="FAF6EC">
              <a:alpha val="6000"/>
            </a:srgbClr>
          </a:solidFill>
          <a:ln w="12700">
            <a:solidFill>
              <a:srgbClr val="A8B584">
                <a:alpha val="4000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11239805" y="7524598"/>
            <a:ext cx="2857500" cy="1238098"/>
          </a:xfrm>
          <a:prstGeom prst="roundRect">
            <a:avLst>
              <a:gd name="adj" fmla="val 6130"/>
            </a:avLst>
          </a:prstGeom>
          <a:solidFill>
            <a:srgbClr val="FAF6EC">
              <a:alpha val="6000"/>
            </a:srgbClr>
          </a:solidFill>
          <a:ln w="12700">
            <a:solidFill>
              <a:srgbClr val="A8B584">
                <a:alpha val="4000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4477695" y="6762902"/>
            <a:ext cx="2857500" cy="1238098"/>
          </a:xfrm>
          <a:prstGeom prst="roundRect">
            <a:avLst>
              <a:gd name="adj" fmla="val 6130"/>
            </a:avLst>
          </a:prstGeom>
          <a:solidFill>
            <a:srgbClr val="FAF6EC">
              <a:alpha val="6000"/>
            </a:srgbClr>
          </a:solidFill>
          <a:ln w="12700">
            <a:solidFill>
              <a:srgbClr val="A8B584">
                <a:alpha val="4000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1143000" y="1143000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A8B5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bloco 5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143000" y="1524305"/>
            <a:ext cx="142875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spc="-144" kern="0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Ecossistema </a:t>
            </a:r>
            <a:pPr algn="l" indent="0" marL="0">
              <a:buNone/>
            </a:pPr>
            <a:r>
              <a:rPr lang="en-US" sz="7200" i="1" spc="-144" kern="0" dirty="0">
                <a:solidFill>
                  <a:srgbClr val="C7922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Gemini</a:t>
            </a:r>
            <a:endParaRPr lang="en-US" sz="7200" dirty="0"/>
          </a:p>
        </p:txBody>
      </p:sp>
      <p:sp>
        <p:nvSpPr>
          <p:cNvPr id="16" name="Text 11"/>
          <p:cNvSpPr txBox="1"/>
          <p:nvPr/>
        </p:nvSpPr>
        <p:spPr>
          <a:xfrm>
            <a:off x="7239305" y="4895698"/>
            <a:ext cx="381030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spc="-90" kern="0" dirty="0">
                <a:solidFill>
                  <a:srgbClr val="1F3D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Gemini</a:t>
            </a:r>
            <a:endParaRPr lang="en-US" sz="4500" dirty="0"/>
          </a:p>
        </p:txBody>
      </p:sp>
      <p:sp>
        <p:nvSpPr>
          <p:cNvPr id="17" name="Text 12"/>
          <p:cNvSpPr txBox="1"/>
          <p:nvPr/>
        </p:nvSpPr>
        <p:spPr>
          <a:xfrm>
            <a:off x="7239305" y="5524805"/>
            <a:ext cx="3810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spc="243" kern="0" dirty="0">
                <a:solidFill>
                  <a:srgbClr val="1F3D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NÚCLEO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1333195" y="3619195"/>
            <a:ext cx="2477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Gemini app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1333195" y="4011473"/>
            <a:ext cx="2477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8B5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 padrão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4572000" y="2857500"/>
            <a:ext cx="2477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Gems</a:t>
            </a:r>
            <a:endParaRPr lang="en-US" sz="24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0" y="3249778"/>
            <a:ext cx="277429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8B5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assistentes personalizados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11430000" y="2857500"/>
            <a:ext cx="2477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Canvas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11430000" y="3249778"/>
            <a:ext cx="277429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8B5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texto e gráficos editáveis</a:t>
            </a:r>
            <a:endParaRPr lang="en-US" sz="1350" dirty="0"/>
          </a:p>
        </p:txBody>
      </p:sp>
      <p:sp>
        <p:nvSpPr>
          <p:cNvPr id="24" name="Text 19"/>
          <p:cNvSpPr txBox="1"/>
          <p:nvPr/>
        </p:nvSpPr>
        <p:spPr>
          <a:xfrm>
            <a:off x="14668805" y="3619195"/>
            <a:ext cx="2477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Deep Research</a:t>
            </a:r>
            <a:endParaRPr lang="en-US" sz="2400" dirty="0"/>
          </a:p>
        </p:txBody>
      </p:sp>
      <p:sp>
        <p:nvSpPr>
          <p:cNvPr id="25" name="Text 20"/>
          <p:cNvSpPr txBox="1"/>
          <p:nvPr/>
        </p:nvSpPr>
        <p:spPr>
          <a:xfrm>
            <a:off x="14668805" y="4011473"/>
            <a:ext cx="2477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8B5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revisão de literatura</a:t>
            </a:r>
            <a:endParaRPr lang="en-US" sz="1350" dirty="0"/>
          </a:p>
        </p:txBody>
      </p:sp>
      <p:sp>
        <p:nvSpPr>
          <p:cNvPr id="26" name="Text 21"/>
          <p:cNvSpPr txBox="1"/>
          <p:nvPr/>
        </p:nvSpPr>
        <p:spPr>
          <a:xfrm>
            <a:off x="1333195" y="6933895"/>
            <a:ext cx="2477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@Google Drive</a:t>
            </a:r>
            <a:endParaRPr lang="en-US" sz="2250" dirty="0"/>
          </a:p>
        </p:txBody>
      </p:sp>
      <p:sp>
        <p:nvSpPr>
          <p:cNvPr id="27" name="Text 22"/>
          <p:cNvSpPr txBox="1"/>
          <p:nvPr/>
        </p:nvSpPr>
        <p:spPr>
          <a:xfrm>
            <a:off x="1333195" y="7306056"/>
            <a:ext cx="2477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8B5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PDFs e planilhas direto</a:t>
            </a:r>
            <a:endParaRPr lang="en-US" sz="1350" dirty="0"/>
          </a:p>
        </p:txBody>
      </p:sp>
      <p:sp>
        <p:nvSpPr>
          <p:cNvPr id="28" name="Text 23"/>
          <p:cNvSpPr txBox="1"/>
          <p:nvPr/>
        </p:nvSpPr>
        <p:spPr>
          <a:xfrm>
            <a:off x="4572000" y="7715707"/>
            <a:ext cx="2477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NotebookLM</a:t>
            </a:r>
            <a:endParaRPr lang="en-US" sz="2250" dirty="0"/>
          </a:p>
        </p:txBody>
      </p:sp>
      <p:sp>
        <p:nvSpPr>
          <p:cNvPr id="29" name="Text 24"/>
          <p:cNvSpPr txBox="1"/>
          <p:nvPr/>
        </p:nvSpPr>
        <p:spPr>
          <a:xfrm>
            <a:off x="4572000" y="8086954"/>
            <a:ext cx="2477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8B5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pergunte aos seus PDFs</a:t>
            </a:r>
            <a:endParaRPr lang="en-US" sz="1350" dirty="0"/>
          </a:p>
        </p:txBody>
      </p:sp>
      <p:sp>
        <p:nvSpPr>
          <p:cNvPr id="30" name="Text 25"/>
          <p:cNvSpPr txBox="1"/>
          <p:nvPr/>
        </p:nvSpPr>
        <p:spPr>
          <a:xfrm>
            <a:off x="11430000" y="7715707"/>
            <a:ext cx="2477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Colab</a:t>
            </a:r>
            <a:endParaRPr lang="en-US" sz="2400" dirty="0"/>
          </a:p>
        </p:txBody>
      </p:sp>
      <p:sp>
        <p:nvSpPr>
          <p:cNvPr id="31" name="Text 26"/>
          <p:cNvSpPr txBox="1"/>
          <p:nvPr/>
        </p:nvSpPr>
        <p:spPr>
          <a:xfrm>
            <a:off x="11430000" y="8107985"/>
            <a:ext cx="2477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8B5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notebooks com Python</a:t>
            </a:r>
            <a:endParaRPr lang="en-US" sz="1350" dirty="0"/>
          </a:p>
        </p:txBody>
      </p:sp>
      <p:sp>
        <p:nvSpPr>
          <p:cNvPr id="32" name="Text 27"/>
          <p:cNvSpPr txBox="1"/>
          <p:nvPr/>
        </p:nvSpPr>
        <p:spPr>
          <a:xfrm>
            <a:off x="14668805" y="6953098"/>
            <a:ext cx="2477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Planilhas</a:t>
            </a:r>
            <a:endParaRPr lang="en-US" sz="2250" dirty="0"/>
          </a:p>
        </p:txBody>
      </p:sp>
      <p:sp>
        <p:nvSpPr>
          <p:cNvPr id="33" name="Text 28"/>
          <p:cNvSpPr txBox="1"/>
          <p:nvPr/>
        </p:nvSpPr>
        <p:spPr>
          <a:xfrm>
            <a:off x="14668805" y="7324344"/>
            <a:ext cx="2477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8B5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=AI() na célula</a:t>
            </a:r>
            <a:endParaRPr lang="en-US" sz="1350" dirty="0"/>
          </a:p>
        </p:txBody>
      </p:sp>
      <p:sp>
        <p:nvSpPr>
          <p:cNvPr id="34" name="Text 29"/>
          <p:cNvSpPr txBox="1"/>
          <p:nvPr/>
        </p:nvSpPr>
        <p:spPr>
          <a:xfrm>
            <a:off x="16954805" y="9667951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A8B5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/ 45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ED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3238805"/>
            <a:ext cx="7619695" cy="5524805"/>
          </a:xfrm>
          <a:prstGeom prst="roundRect">
            <a:avLst>
              <a:gd name="adj" fmla="val 1374"/>
            </a:avLst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25305" y="3238805"/>
            <a:ext cx="7619695" cy="5524805"/>
          </a:xfrm>
          <a:prstGeom prst="roundRect">
            <a:avLst>
              <a:gd name="adj" fmla="val 1374"/>
            </a:avLst>
          </a:prstGeom>
          <a:solidFill>
            <a:srgbClr val="B2503C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609ca5620bc91a301e35b29a91fab242.png">    </p:cNvPr>
          <p:cNvPicPr>
            <a:picLocks noChangeAspect="1"/>
          </p:cNvPicPr>
          <p:nvPr/>
        </p:nvPicPr>
        <p:blipFill>
          <a:blip r:embed="rId1"/>
          <a:srcRect l="-385" r="-385" t="0" b="0"/>
          <a:stretch/>
        </p:blipFill>
        <p:spPr>
          <a:xfrm>
            <a:off x="1143000" y="1143000"/>
            <a:ext cx="761695" cy="28346"/>
          </a:xfrm>
          <a:prstGeom prst="rect">
            <a:avLst/>
          </a:prstGeom>
        </p:spPr>
      </p:pic>
      <p:pic>
        <p:nvPicPr>
          <p:cNvPr id="5" name="Image 1" descr="gen-dedup-870290af5cecfebb5b95a132d69784b3.png">    </p:cNvPr>
          <p:cNvPicPr>
            <a:picLocks noChangeAspect="1"/>
          </p:cNvPicPr>
          <p:nvPr/>
        </p:nvPicPr>
        <p:blipFill>
          <a:blip r:embed="rId2"/>
          <a:srcRect l="0" r="0" t="-402" b="-402"/>
          <a:stretch/>
        </p:blipFill>
        <p:spPr>
          <a:xfrm>
            <a:off x="1143000" y="3238805"/>
            <a:ext cx="7619695" cy="57607"/>
          </a:xfrm>
          <a:prstGeom prst="rect">
            <a:avLst/>
          </a:prstGeom>
        </p:spPr>
      </p:pic>
      <p:pic>
        <p:nvPicPr>
          <p:cNvPr id="6" name="Image 2" descr="gen-dedup-54920420d8079e989d84465fac1811c2.png">    </p:cNvPr>
          <p:cNvPicPr>
            <a:picLocks noChangeAspect="1"/>
          </p:cNvPicPr>
          <p:nvPr/>
        </p:nvPicPr>
        <p:blipFill>
          <a:blip r:embed="rId3"/>
          <a:srcRect l="0" r="0" t="-402" b="-402"/>
          <a:stretch/>
        </p:blipFill>
        <p:spPr>
          <a:xfrm>
            <a:off x="9525305" y="3238805"/>
            <a:ext cx="7619695" cy="57607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143000" y="1333195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grátis × pago</a:t>
            </a:r>
            <a:endParaRPr lang="en-US" sz="1500" dirty="0"/>
          </a:p>
        </p:txBody>
      </p:sp>
      <p:sp>
        <p:nvSpPr>
          <p:cNvPr id="8" name="Text 3"/>
          <p:cNvSpPr txBox="1"/>
          <p:nvPr/>
        </p:nvSpPr>
        <p:spPr>
          <a:xfrm>
            <a:off x="1143000" y="1714500"/>
            <a:ext cx="1619311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0" spc="-120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Quem tem acesso </a:t>
            </a:r>
            <a:pPr algn="l" indent="0" marL="0">
              <a:buNone/>
            </a:pPr>
            <a:r>
              <a:rPr lang="en-US" sz="6000" i="1" spc="-120" kern="0" dirty="0">
                <a:solidFill>
                  <a:srgbClr val="8B6F4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quê</a:t>
            </a:r>
            <a:endParaRPr lang="en-US" sz="6000" dirty="0"/>
          </a:p>
        </p:txBody>
      </p:sp>
      <p:sp>
        <p:nvSpPr>
          <p:cNvPr id="9" name="Text 4"/>
          <p:cNvSpPr txBox="1"/>
          <p:nvPr/>
        </p:nvSpPr>
        <p:spPr>
          <a:xfrm>
            <a:off x="1524305" y="3619195"/>
            <a:ext cx="685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2F5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grátis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1524305" y="3981298"/>
            <a:ext cx="685800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50" b="1" spc="-69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Conta pessoal</a:t>
            </a:r>
            <a:pPr algn="l" indent="0" marL="0">
              <a:lnSpc>
                <a:spcPct val="100000"/>
              </a:lnSpc>
              <a:buNone/>
            </a:pPr>
            <a:endParaRPr lang="en-US" sz="3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450" b="1" spc="-69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ou @ufvjm.edu.br</a:t>
            </a:r>
            <a:endParaRPr lang="en-US" sz="3450" dirty="0"/>
          </a:p>
        </p:txBody>
      </p:sp>
      <p:sp>
        <p:nvSpPr>
          <p:cNvPr id="11" name="Text 6"/>
          <p:cNvSpPr txBox="1"/>
          <p:nvPr/>
        </p:nvSpPr>
        <p:spPr>
          <a:xfrm>
            <a:off x="1524305" y="5715000"/>
            <a:ext cx="68580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</a:t>
            </a:r>
            <a:pPr algn="l" indent="0" marL="0">
              <a:buNone/>
            </a:pPr>
            <a:r>
              <a:rPr lang="en-US" sz="1950" b="1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 app</a:t>
            </a:r>
            <a:endParaRPr lang="en-US" sz="1950" dirty="0"/>
          </a:p>
        </p:txBody>
      </p:sp>
      <p:sp>
        <p:nvSpPr>
          <p:cNvPr id="12" name="Text 7"/>
          <p:cNvSpPr txBox="1"/>
          <p:nvPr/>
        </p:nvSpPr>
        <p:spPr>
          <a:xfrm>
            <a:off x="1524305" y="6181344"/>
            <a:ext cx="68580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</a:t>
            </a:r>
            <a:pPr algn="l" indent="0" marL="0">
              <a:buNone/>
            </a:pPr>
            <a:r>
              <a:rPr lang="en-US" sz="1950" b="1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Gems</a:t>
            </a:r>
            <a:endParaRPr lang="en-US" sz="1950" dirty="0"/>
          </a:p>
        </p:txBody>
      </p:sp>
      <p:sp>
        <p:nvSpPr>
          <p:cNvPr id="13" name="Text 8"/>
          <p:cNvSpPr txBox="1"/>
          <p:nvPr/>
        </p:nvSpPr>
        <p:spPr>
          <a:xfrm>
            <a:off x="1524305" y="6648602"/>
            <a:ext cx="68580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</a:t>
            </a:r>
            <a:pPr algn="l" indent="0" marL="0">
              <a:buNone/>
            </a:pPr>
            <a:r>
              <a:rPr lang="en-US" sz="1950" b="1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Canvas</a:t>
            </a:r>
            <a:endParaRPr lang="en-US" sz="1950" dirty="0"/>
          </a:p>
        </p:txBody>
      </p:sp>
      <p:sp>
        <p:nvSpPr>
          <p:cNvPr id="14" name="Text 9"/>
          <p:cNvSpPr txBox="1"/>
          <p:nvPr/>
        </p:nvSpPr>
        <p:spPr>
          <a:xfrm>
            <a:off x="1524305" y="7114946"/>
            <a:ext cx="68580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</a:t>
            </a:r>
            <a:pPr algn="l" indent="0" marL="0">
              <a:buNone/>
            </a:pPr>
            <a:r>
              <a:rPr lang="en-US" sz="1950" b="1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NotebookLM</a:t>
            </a:r>
            <a:endParaRPr lang="en-US" sz="1950" dirty="0"/>
          </a:p>
        </p:txBody>
      </p:sp>
      <p:sp>
        <p:nvSpPr>
          <p:cNvPr id="15" name="Text 10"/>
          <p:cNvSpPr txBox="1"/>
          <p:nvPr/>
        </p:nvSpPr>
        <p:spPr>
          <a:xfrm>
            <a:off x="1524305" y="7582205"/>
            <a:ext cx="68580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</a:t>
            </a:r>
            <a:pPr algn="l" indent="0" marL="0">
              <a:buNone/>
            </a:pPr>
            <a:r>
              <a:rPr lang="en-US" sz="1950" b="1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Colab + Data Science Agent</a:t>
            </a:r>
            <a:endParaRPr lang="en-US" sz="1950" dirty="0"/>
          </a:p>
        </p:txBody>
      </p:sp>
      <p:sp>
        <p:nvSpPr>
          <p:cNvPr id="16" name="Text 11"/>
          <p:cNvSpPr txBox="1"/>
          <p:nvPr/>
        </p:nvSpPr>
        <p:spPr>
          <a:xfrm>
            <a:off x="9905695" y="3619195"/>
            <a:ext cx="685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B25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pago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9905695" y="3981298"/>
            <a:ext cx="685800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50" b="1" spc="-69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Gemini no</a:t>
            </a:r>
            <a:pPr algn="l" indent="0" marL="0">
              <a:lnSpc>
                <a:spcPct val="100000"/>
              </a:lnSpc>
              <a:buNone/>
            </a:pPr>
            <a:endParaRPr lang="en-US" sz="3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450" b="1" spc="-69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Planilhas e Docs</a:t>
            </a:r>
            <a:endParaRPr lang="en-US" sz="3450" dirty="0"/>
          </a:p>
        </p:txBody>
      </p:sp>
      <p:sp>
        <p:nvSpPr>
          <p:cNvPr id="18" name="Text 13"/>
          <p:cNvSpPr txBox="1"/>
          <p:nvPr/>
        </p:nvSpPr>
        <p:spPr>
          <a:xfrm>
            <a:off x="9905695" y="5715000"/>
            <a:ext cx="68580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Painel lateral dentro do arquivo</a:t>
            </a:r>
            <a:endParaRPr lang="en-US" sz="1950" dirty="0"/>
          </a:p>
        </p:txBody>
      </p:sp>
      <p:sp>
        <p:nvSpPr>
          <p:cNvPr id="19" name="Text 14"/>
          <p:cNvSpPr txBox="1"/>
          <p:nvPr/>
        </p:nvSpPr>
        <p:spPr>
          <a:xfrm>
            <a:off x="9905695" y="6143854"/>
            <a:ext cx="68580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Função </a:t>
            </a:r>
            <a:pPr algn="l" indent="0" marL="0">
              <a:buNone/>
            </a:pPr>
            <a:r>
              <a:rPr lang="en-US" sz="1950" b="1" dirty="0">
                <a:solidFill>
                  <a:srgbClr val="B25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=AI()</a:t>
            </a:r>
            <a:pPr algn="l" indent="0" marL="0">
              <a:buNone/>
            </a:pPr>
            <a:r>
              <a:rPr lang="en-US" sz="195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na célula</a:t>
            </a:r>
            <a:endParaRPr lang="en-US" sz="1950" dirty="0"/>
          </a:p>
        </p:txBody>
      </p:sp>
      <p:sp>
        <p:nvSpPr>
          <p:cNvPr id="20" name="Text 15"/>
          <p:cNvSpPr txBox="1"/>
          <p:nvPr/>
        </p:nvSpPr>
        <p:spPr>
          <a:xfrm>
            <a:off x="9905695" y="6572707"/>
            <a:ext cx="6858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Mais contexto da planilha já carregado.</a:t>
            </a:r>
            <a:endParaRPr lang="en-US" sz="1650" dirty="0"/>
          </a:p>
        </p:txBody>
      </p:sp>
      <p:sp>
        <p:nvSpPr>
          <p:cNvPr id="21" name="Text 16"/>
          <p:cNvSpPr txBox="1"/>
          <p:nvPr/>
        </p:nvSpPr>
        <p:spPr>
          <a:xfrm>
            <a:off x="1143000" y="9144000"/>
            <a:ext cx="1619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25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Atenção:</a:t>
            </a:r>
            <a:pPr algn="l" indent="0" marL="0">
              <a:buNone/>
            </a:pPr>
            <a:r>
              <a:rPr lang="en-US" sz="18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disponibilidade muda — confira antes de depender.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6954805" y="9667951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/ 45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ED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3619195"/>
            <a:ext cx="9525305" cy="5143500"/>
          </a:xfrm>
          <a:prstGeom prst="roundRect">
            <a:avLst>
              <a:gd name="adj" fmla="val 1476"/>
            </a:avLst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gen-dedup-609ca5620bc91a301e35b29a91fab242.png">    </p:cNvPr>
          <p:cNvPicPr>
            <a:picLocks noChangeAspect="1"/>
          </p:cNvPicPr>
          <p:nvPr/>
        </p:nvPicPr>
        <p:blipFill>
          <a:blip r:embed="rId1"/>
          <a:srcRect l="-385" r="-385" t="0" b="0"/>
          <a:stretch/>
        </p:blipFill>
        <p:spPr>
          <a:xfrm>
            <a:off x="1143000" y="1143000"/>
            <a:ext cx="761695" cy="2834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43000" y="3619195"/>
            <a:ext cx="9525305" cy="381305"/>
          </a:xfrm>
          <a:prstGeom prst="rect">
            <a:avLst/>
          </a:prstGeom>
          <a:solidFill>
            <a:srgbClr val="2F52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gen-dedup-5bc07f960c36c4eb83345847ad21b18c.png">    </p:cNvPr>
          <p:cNvPicPr>
            <a:picLocks noChangeAspect="1"/>
          </p:cNvPicPr>
          <p:nvPr/>
        </p:nvPicPr>
        <p:blipFill>
          <a:blip r:embed="rId2"/>
          <a:srcRect l="-2" r="-2" t="0" b="0"/>
          <a:stretch/>
        </p:blipFill>
        <p:spPr>
          <a:xfrm>
            <a:off x="1143000" y="3619195"/>
            <a:ext cx="9525305" cy="5143500"/>
          </a:xfrm>
          <a:prstGeom prst="rect">
            <a:avLst/>
          </a:prstGeom>
        </p:spPr>
      </p:pic>
      <p:pic>
        <p:nvPicPr>
          <p:cNvPr id="6" name="Image 2" descr="gen-dedup-609ca5620bc91a301e35b29a91fab242.png">    </p:cNvPr>
          <p:cNvPicPr>
            <a:picLocks noChangeAspect="1"/>
          </p:cNvPicPr>
          <p:nvPr/>
        </p:nvPicPr>
        <p:blipFill>
          <a:blip r:embed="rId3"/>
          <a:srcRect l="-385" r="-385" t="0" b="0"/>
          <a:stretch/>
        </p:blipFill>
        <p:spPr>
          <a:xfrm>
            <a:off x="11239805" y="6476695"/>
            <a:ext cx="761695" cy="28346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143000" y="1333195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código por trás, ao vivo</a:t>
            </a:r>
            <a:endParaRPr lang="en-US" sz="1500" dirty="0"/>
          </a:p>
        </p:txBody>
      </p:sp>
      <p:sp>
        <p:nvSpPr>
          <p:cNvPr id="8" name="Text 3"/>
          <p:cNvSpPr txBox="1"/>
          <p:nvPr/>
        </p:nvSpPr>
        <p:spPr>
          <a:xfrm>
            <a:off x="1143000" y="1714500"/>
            <a:ext cx="1619311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spc="-144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Colab </a:t>
            </a:r>
            <a:pPr algn="l" indent="0" marL="0">
              <a:buNone/>
            </a:pPr>
            <a:r>
              <a:rPr lang="en-US" sz="7200" i="1" spc="-144" kern="0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+</a:t>
            </a:r>
            <a:pPr algn="l" indent="0" marL="0">
              <a:buNone/>
            </a:pPr>
            <a:r>
              <a:rPr lang="en-US" sz="7200" spc="-144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Data Science Agent</a:t>
            </a:r>
            <a:endParaRPr lang="en-US" sz="7200" dirty="0"/>
          </a:p>
        </p:txBody>
      </p:sp>
      <p:sp>
        <p:nvSpPr>
          <p:cNvPr id="9" name="Text 4"/>
          <p:cNvSpPr txBox="1"/>
          <p:nvPr/>
        </p:nvSpPr>
        <p:spPr>
          <a:xfrm>
            <a:off x="1333195" y="3676802"/>
            <a:ext cx="9144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AF6E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notebook.ipynb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11239805" y="3619195"/>
            <a:ext cx="571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2F5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muda aqui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11239805" y="4019702"/>
            <a:ext cx="5715000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spc="-72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Você pede uma vez.</a:t>
            </a:r>
            <a:pPr algn="l" indent="0" marL="0">
              <a:lnSpc>
                <a:spcPct val="110000"/>
              </a:lnSpc>
              <a:buNone/>
            </a:pPr>
            <a:endParaRPr lang="en-US" sz="3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600" spc="-72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Ele </a:t>
            </a:r>
            <a:pPr algn="l" indent="0" marL="0">
              <a:lnSpc>
                <a:spcPct val="110000"/>
              </a:lnSpc>
              <a:buNone/>
            </a:pPr>
            <a:r>
              <a:rPr lang="en-US" sz="3600" i="1" spc="-72" kern="0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escreve</a:t>
            </a:r>
            <a:pPr algn="l" indent="0" marL="0">
              <a:lnSpc>
                <a:spcPct val="110000"/>
              </a:lnSpc>
              <a:buNone/>
            </a:pPr>
            <a:r>
              <a:rPr lang="en-US" sz="3600" spc="-72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e </a:t>
            </a:r>
            <a:pPr algn="l" indent="0" marL="0">
              <a:lnSpc>
                <a:spcPct val="110000"/>
              </a:lnSpc>
              <a:buNone/>
            </a:pPr>
            <a:r>
              <a:rPr lang="en-US" sz="3600" i="1" spc="-72" kern="0" dirty="0">
                <a:solidFill>
                  <a:srgbClr val="8B6F4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roda</a:t>
            </a:r>
            <a:pPr algn="l" indent="0" marL="0">
              <a:lnSpc>
                <a:spcPct val="110000"/>
              </a:lnSpc>
              <a:buNone/>
            </a:pPr>
            <a:r>
              <a:rPr lang="en-US" sz="3600" spc="-72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tudo.</a:t>
            </a:r>
            <a:endParaRPr lang="en-US" sz="3600" dirty="0"/>
          </a:p>
        </p:txBody>
      </p:sp>
      <p:sp>
        <p:nvSpPr>
          <p:cNvPr id="12" name="Text 7"/>
          <p:cNvSpPr txBox="1"/>
          <p:nvPr/>
        </p:nvSpPr>
        <p:spPr>
          <a:xfrm>
            <a:off x="11239805" y="6731813"/>
            <a:ext cx="5715000" cy="660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 o “código por trás” acontecendo</a:t>
            </a:r>
            <a:pPr algn="l" indent="0" marL="0">
              <a:lnSpc>
                <a:spcPts val="2475"/>
              </a:lnSpc>
              <a:buNone/>
            </a:pPr>
            <a:endParaRPr lang="en-US" sz="1650" dirty="0"/>
          </a:p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 sua frente — você vê cada célula.</a:t>
            </a:r>
            <a:endParaRPr lang="en-US" sz="1650" dirty="0"/>
          </a:p>
        </p:txBody>
      </p:sp>
      <p:sp>
        <p:nvSpPr>
          <p:cNvPr id="13" name="Text 8"/>
          <p:cNvSpPr txBox="1"/>
          <p:nvPr/>
        </p:nvSpPr>
        <p:spPr>
          <a:xfrm>
            <a:off x="16954805" y="9667951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/ 45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ED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3619195"/>
            <a:ext cx="5143500" cy="5333695"/>
          </a:xfrm>
          <a:prstGeom prst="roundRect">
            <a:avLst>
              <a:gd name="adj" fmla="val 1476"/>
            </a:avLst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72707" y="3619195"/>
            <a:ext cx="5143500" cy="5333695"/>
          </a:xfrm>
          <a:prstGeom prst="roundRect">
            <a:avLst>
              <a:gd name="adj" fmla="val 1476"/>
            </a:avLst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0" y="3619195"/>
            <a:ext cx="5143500" cy="5333695"/>
          </a:xfrm>
          <a:prstGeom prst="roundRect">
            <a:avLst>
              <a:gd name="adj" fmla="val 1476"/>
            </a:avLst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gen-dedup-609ca5620bc91a301e35b29a91fab242.png">    </p:cNvPr>
          <p:cNvPicPr>
            <a:picLocks noChangeAspect="1"/>
          </p:cNvPicPr>
          <p:nvPr/>
        </p:nvPicPr>
        <p:blipFill>
          <a:blip r:embed="rId1"/>
          <a:srcRect l="-385" r="-385" t="0" b="0"/>
          <a:stretch/>
        </p:blipFill>
        <p:spPr>
          <a:xfrm>
            <a:off x="1143000" y="1143000"/>
            <a:ext cx="761695" cy="28346"/>
          </a:xfrm>
          <a:prstGeom prst="rect">
            <a:avLst/>
          </a:prstGeom>
        </p:spPr>
      </p:pic>
      <p:pic>
        <p:nvPicPr>
          <p:cNvPr id="6" name="Image 1" descr="gen-dedup-d07c1f13d823531e211db1e0668f51c1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1143000" y="3619195"/>
            <a:ext cx="5143500" cy="57607"/>
          </a:xfrm>
          <a:prstGeom prst="rect">
            <a:avLst/>
          </a:prstGeom>
        </p:spPr>
      </p:pic>
      <p:pic>
        <p:nvPicPr>
          <p:cNvPr id="7" name="Image 2" descr="gen-dedup-ba2e4700508fcd578b3b6f74018944f9.png">    </p:cNvPr>
          <p:cNvPicPr>
            <a:picLocks noChangeAspect="1"/>
          </p:cNvPicPr>
          <p:nvPr/>
        </p:nvPicPr>
        <p:blipFill>
          <a:blip r:embed="rId3"/>
          <a:srcRect l="0" r="0" t="-10" b="-10"/>
          <a:stretch/>
        </p:blipFill>
        <p:spPr>
          <a:xfrm>
            <a:off x="1524305" y="4762195"/>
            <a:ext cx="1143000" cy="1524305"/>
          </a:xfrm>
          <a:prstGeom prst="rect">
            <a:avLst/>
          </a:prstGeom>
        </p:spPr>
      </p:pic>
      <p:pic>
        <p:nvPicPr>
          <p:cNvPr id="8" name="Image 3" descr="gen-dedup-1c0ae16ec920acc028560bc697d3e011.png">    </p:cNvPr>
          <p:cNvPicPr>
            <a:picLocks noChangeAspect="1"/>
          </p:cNvPicPr>
          <p:nvPr/>
        </p:nvPicPr>
        <p:blipFill>
          <a:blip r:embed="rId4"/>
          <a:srcRect l="0" r="0" t="-400" b="-400"/>
          <a:stretch/>
        </p:blipFill>
        <p:spPr>
          <a:xfrm>
            <a:off x="6572707" y="3619195"/>
            <a:ext cx="5143500" cy="57607"/>
          </a:xfrm>
          <a:prstGeom prst="rect">
            <a:avLst/>
          </a:prstGeom>
        </p:spPr>
      </p:pic>
      <p:pic>
        <p:nvPicPr>
          <p:cNvPr id="9" name="Image 4" descr="gen-dedup-5481dc69e162ad5c48e241fd7e683bfa.png">    </p:cNvPr>
          <p:cNvPicPr>
            <a:picLocks noChangeAspect="1"/>
          </p:cNvPicPr>
          <p:nvPr/>
        </p:nvPicPr>
        <p:blipFill>
          <a:blip r:embed="rId5"/>
          <a:srcRect l="0" r="0" t="-7" b="-7"/>
          <a:stretch/>
        </p:blipFill>
        <p:spPr>
          <a:xfrm>
            <a:off x="6953098" y="4762195"/>
            <a:ext cx="4381805" cy="1524305"/>
          </a:xfrm>
          <a:prstGeom prst="rect">
            <a:avLst/>
          </a:prstGeom>
        </p:spPr>
      </p:pic>
      <p:pic>
        <p:nvPicPr>
          <p:cNvPr id="10" name="Image 5" descr="gen-dedup-67fd0ce3df88ad26aa967ee9aa8a0c4d.png">    </p:cNvPr>
          <p:cNvPicPr>
            <a:picLocks noChangeAspect="1"/>
          </p:cNvPicPr>
          <p:nvPr/>
        </p:nvPicPr>
        <p:blipFill>
          <a:blip r:embed="rId6"/>
          <a:srcRect l="0" r="0" t="-400" b="-400"/>
          <a:stretch/>
        </p:blipFill>
        <p:spPr>
          <a:xfrm>
            <a:off x="12001500" y="3619195"/>
            <a:ext cx="5143500" cy="57607"/>
          </a:xfrm>
          <a:prstGeom prst="rect">
            <a:avLst/>
          </a:prstGeom>
        </p:spPr>
      </p:pic>
      <p:pic>
        <p:nvPicPr>
          <p:cNvPr id="11" name="Image 6" descr="gen-dedup-fc52947ddae257a04fd5faae2ebd4a9b.png">    </p:cNvPr>
          <p:cNvPicPr>
            <a:picLocks noChangeAspect="1"/>
          </p:cNvPicPr>
          <p:nvPr/>
        </p:nvPicPr>
        <p:blipFill>
          <a:blip r:embed="rId7"/>
          <a:srcRect l="0" r="0" t="-18" b="-18"/>
          <a:stretch/>
        </p:blipFill>
        <p:spPr>
          <a:xfrm>
            <a:off x="12382805" y="4762195"/>
            <a:ext cx="1904695" cy="1524305"/>
          </a:xfrm>
          <a:prstGeom prst="rect">
            <a:avLst/>
          </a:prstGeom>
        </p:spPr>
      </p:pic>
      <p:sp>
        <p:nvSpPr>
          <p:cNvPr id="12" name="Text 3"/>
          <p:cNvSpPr txBox="1"/>
          <p:nvPr/>
        </p:nvSpPr>
        <p:spPr>
          <a:xfrm>
            <a:off x="1143000" y="1333195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ferramentas-irmãs</a:t>
            </a:r>
            <a:endParaRPr lang="en-US" sz="1500" dirty="0"/>
          </a:p>
        </p:txBody>
      </p:sp>
      <p:sp>
        <p:nvSpPr>
          <p:cNvPr id="13" name="Text 4"/>
          <p:cNvSpPr txBox="1"/>
          <p:nvPr/>
        </p:nvSpPr>
        <p:spPr>
          <a:xfrm>
            <a:off x="1143000" y="1714500"/>
            <a:ext cx="16193110" cy="152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spc="-120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NotebookLM, Canvas</a:t>
            </a:r>
            <a:pPr algn="l" indent="0" marL="0">
              <a:lnSpc>
                <a:spcPct val="100000"/>
              </a:lnSpc>
              <a:buNone/>
            </a:pPr>
            <a:endParaRPr lang="en-US" sz="6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6000" spc="-120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 Deep Research</a:t>
            </a:r>
            <a:endParaRPr lang="en-US" sz="6000" dirty="0"/>
          </a:p>
        </p:txBody>
      </p:sp>
      <p:sp>
        <p:nvSpPr>
          <p:cNvPr id="14" name="Text 5"/>
          <p:cNvSpPr txBox="1"/>
          <p:nvPr/>
        </p:nvSpPr>
        <p:spPr>
          <a:xfrm>
            <a:off x="1524305" y="3905402"/>
            <a:ext cx="457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b="1" spc="-90" kern="0" dirty="0">
                <a:solidFill>
                  <a:srgbClr val="8B6F4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NotebookLM</a:t>
            </a:r>
            <a:endParaRPr lang="en-US" sz="4500" dirty="0"/>
          </a:p>
        </p:txBody>
      </p:sp>
      <p:sp>
        <p:nvSpPr>
          <p:cNvPr id="15" name="Text 6"/>
          <p:cNvSpPr txBox="1"/>
          <p:nvPr/>
        </p:nvSpPr>
        <p:spPr>
          <a:xfrm>
            <a:off x="1524305" y="6476695"/>
            <a:ext cx="45720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Pergunte </a:t>
            </a:r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aos seus PDFs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(artigos, normas) com citação da fonte.</a:t>
            </a:r>
            <a:endParaRPr lang="en-US" sz="1800" dirty="0"/>
          </a:p>
        </p:txBody>
      </p:sp>
      <p:sp>
        <p:nvSpPr>
          <p:cNvPr id="16" name="Text 7"/>
          <p:cNvSpPr txBox="1"/>
          <p:nvPr/>
        </p:nvSpPr>
        <p:spPr>
          <a:xfrm>
            <a:off x="6953098" y="3905402"/>
            <a:ext cx="457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b="1" spc="-90" kern="0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Canvas</a:t>
            </a:r>
            <a:endParaRPr lang="en-US" sz="4500" dirty="0"/>
          </a:p>
        </p:txBody>
      </p:sp>
      <p:sp>
        <p:nvSpPr>
          <p:cNvPr id="17" name="Text 8"/>
          <p:cNvSpPr txBox="1"/>
          <p:nvPr/>
        </p:nvSpPr>
        <p:spPr>
          <a:xfrm>
            <a:off x="6953098" y="6476695"/>
            <a:ext cx="52578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Relatório e gráfico </a:t>
            </a:r>
            <a:pPr algn="l" indent="0" marL="0">
              <a:buNone/>
            </a:pPr>
            <a:r>
              <a:rPr lang="en-US" sz="1800" b="1" dirty="0">
                <a:solidFill>
                  <a:srgbClr val="2F5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editáveis</a:t>
            </a:r>
            <a:pPr algn="l" indent="0" marL="0">
              <a:buNone/>
            </a:pPr>
            <a:r>
              <a:rPr lang="en-US" sz="180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lado a lado.</a:t>
            </a:r>
            <a:endParaRPr lang="en-US" sz="1800" dirty="0"/>
          </a:p>
        </p:txBody>
      </p:sp>
      <p:sp>
        <p:nvSpPr>
          <p:cNvPr id="18" name="Text 9"/>
          <p:cNvSpPr txBox="1"/>
          <p:nvPr/>
        </p:nvSpPr>
        <p:spPr>
          <a:xfrm>
            <a:off x="12382805" y="3905402"/>
            <a:ext cx="4572000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spc="-81" kern="0" dirty="0">
                <a:solidFill>
                  <a:srgbClr val="B250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Deep Research</a:t>
            </a:r>
            <a:endParaRPr lang="en-US" sz="4050" dirty="0"/>
          </a:p>
        </p:txBody>
      </p:sp>
      <p:sp>
        <p:nvSpPr>
          <p:cNvPr id="19" name="Text 10"/>
          <p:cNvSpPr txBox="1"/>
          <p:nvPr/>
        </p:nvSpPr>
        <p:spPr>
          <a:xfrm>
            <a:off x="12382805" y="6476695"/>
            <a:ext cx="45720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Revisão </a:t>
            </a:r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B25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rápida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 literatura — </a:t>
            </a:r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B25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confira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 referências.</a:t>
            </a:r>
            <a:endParaRPr lang="en-US" sz="1800" dirty="0"/>
          </a:p>
        </p:txBody>
      </p:sp>
      <p:sp>
        <p:nvSpPr>
          <p:cNvPr id="20" name="Text 11"/>
          <p:cNvSpPr txBox="1"/>
          <p:nvPr/>
        </p:nvSpPr>
        <p:spPr>
          <a:xfrm>
            <a:off x="16954805" y="9667951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/ 45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ED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3619195"/>
            <a:ext cx="16002000" cy="3238805"/>
          </a:xfrm>
          <a:prstGeom prst="roundRect">
            <a:avLst>
              <a:gd name="adj" fmla="val 2343"/>
            </a:avLst>
          </a:prstGeom>
          <a:solidFill>
            <a:srgbClr val="1E2A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gen-dedup-609ca5620bc91a301e35b29a91fab242.png">    </p:cNvPr>
          <p:cNvPicPr>
            <a:picLocks noChangeAspect="1"/>
          </p:cNvPicPr>
          <p:nvPr/>
        </p:nvPicPr>
        <p:blipFill>
          <a:blip r:embed="rId1"/>
          <a:srcRect l="-385" r="-385" t="0" b="0"/>
          <a:stretch/>
        </p:blipFill>
        <p:spPr>
          <a:xfrm>
            <a:off x="1143000" y="1143000"/>
            <a:ext cx="761695" cy="2834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43000" y="7905902"/>
            <a:ext cx="4953305" cy="1524305"/>
          </a:xfrm>
          <a:prstGeom prst="roundRect">
            <a:avLst>
              <a:gd name="adj" fmla="val 4979"/>
            </a:avLst>
          </a:prstGeom>
          <a:solidFill>
            <a:srgbClr val="FAF6EC"/>
          </a:solidFill>
          <a:ln w="12700">
            <a:solidFill>
              <a:srgbClr val="DDD7C5"/>
            </a:solidFill>
            <a:prstDash val="solid"/>
          </a:ln>
        </p:spPr>
      </p:sp>
      <p:pic>
        <p:nvPicPr>
          <p:cNvPr id="5" name="Image 1" descr="gen-dedup-9de182bd97d8ed49fd223f8d7890fd39.png">    </p:cNvPr>
          <p:cNvPicPr>
            <a:picLocks noChangeAspect="1"/>
          </p:cNvPicPr>
          <p:nvPr/>
        </p:nvPicPr>
        <p:blipFill>
          <a:blip r:embed="rId2"/>
          <a:srcRect l="-390" r="-390" t="0" b="0"/>
          <a:stretch/>
        </p:blipFill>
        <p:spPr>
          <a:xfrm>
            <a:off x="1143000" y="7905902"/>
            <a:ext cx="57607" cy="152430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476695" y="7905902"/>
            <a:ext cx="4953305" cy="1524305"/>
          </a:xfrm>
          <a:prstGeom prst="roundRect">
            <a:avLst>
              <a:gd name="adj" fmla="val 4979"/>
            </a:avLst>
          </a:prstGeom>
          <a:solidFill>
            <a:srgbClr val="FAF6EC"/>
          </a:solidFill>
          <a:ln w="12700">
            <a:solidFill>
              <a:srgbClr val="DDD7C5"/>
            </a:solidFill>
            <a:prstDash val="solid"/>
          </a:ln>
        </p:spPr>
      </p:sp>
      <p:pic>
        <p:nvPicPr>
          <p:cNvPr id="7" name="Image 2" descr="gen-dedup-4061045ceb4e0e106fbd88c836314a0a.png">    </p:cNvPr>
          <p:cNvPicPr>
            <a:picLocks noChangeAspect="1"/>
          </p:cNvPicPr>
          <p:nvPr/>
        </p:nvPicPr>
        <p:blipFill>
          <a:blip r:embed="rId3"/>
          <a:srcRect l="-390" r="-390" t="0" b="0"/>
          <a:stretch/>
        </p:blipFill>
        <p:spPr>
          <a:xfrm>
            <a:off x="6476695" y="7905902"/>
            <a:ext cx="57607" cy="1524305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1811305" y="7905902"/>
            <a:ext cx="5333695" cy="1524305"/>
          </a:xfrm>
          <a:prstGeom prst="roundRect">
            <a:avLst>
              <a:gd name="adj" fmla="val 4979"/>
            </a:avLst>
          </a:prstGeom>
          <a:solidFill>
            <a:srgbClr val="FAF6EC"/>
          </a:solidFill>
          <a:ln w="12700">
            <a:solidFill>
              <a:srgbClr val="DDD7C5"/>
            </a:solidFill>
            <a:prstDash val="solid"/>
          </a:ln>
        </p:spPr>
      </p:sp>
      <p:pic>
        <p:nvPicPr>
          <p:cNvPr id="9" name="Image 3" descr="gen-dedup-1c27eed3d23658d796b46c1816a522a0.png">    </p:cNvPr>
          <p:cNvPicPr>
            <a:picLocks noChangeAspect="1"/>
          </p:cNvPicPr>
          <p:nvPr/>
        </p:nvPicPr>
        <p:blipFill>
          <a:blip r:embed="rId4"/>
          <a:srcRect l="-390" r="-390" t="0" b="0"/>
          <a:stretch/>
        </p:blipFill>
        <p:spPr>
          <a:xfrm>
            <a:off x="11811305" y="7905902"/>
            <a:ext cx="57607" cy="1524305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143000" y="1333195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bloco 6</a:t>
            </a:r>
            <a:endParaRPr lang="en-US" sz="1500" dirty="0"/>
          </a:p>
        </p:txBody>
      </p:sp>
      <p:sp>
        <p:nvSpPr>
          <p:cNvPr id="11" name="Text 5"/>
          <p:cNvSpPr txBox="1"/>
          <p:nvPr/>
        </p:nvSpPr>
        <p:spPr>
          <a:xfrm>
            <a:off x="1143000" y="1714500"/>
            <a:ext cx="142875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spc="-144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 que é uma </a:t>
            </a:r>
            <a:pPr algn="l" indent="0" marL="0">
              <a:buNone/>
            </a:pPr>
            <a:r>
              <a:rPr lang="en-US" sz="7200" i="1" spc="-144" kern="0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skill</a:t>
            </a:r>
            <a:pPr algn="l" indent="0" marL="0">
              <a:buNone/>
            </a:pPr>
            <a:r>
              <a:rPr lang="en-US" sz="7200" spc="-144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?</a:t>
            </a:r>
            <a:endParaRPr lang="en-US" sz="7200" dirty="0"/>
          </a:p>
        </p:txBody>
      </p:sp>
      <p:sp>
        <p:nvSpPr>
          <p:cNvPr id="12" name="Text 6"/>
          <p:cNvSpPr txBox="1"/>
          <p:nvPr/>
        </p:nvSpPr>
        <p:spPr>
          <a:xfrm>
            <a:off x="1524305" y="4000500"/>
            <a:ext cx="11430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C792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definição</a:t>
            </a:r>
            <a:endParaRPr lang="en-US" sz="1650" dirty="0"/>
          </a:p>
        </p:txBody>
      </p:sp>
      <p:sp>
        <p:nvSpPr>
          <p:cNvPr id="13" name="Text 7"/>
          <p:cNvSpPr txBox="1"/>
          <p:nvPr/>
        </p:nvSpPr>
        <p:spPr>
          <a:xfrm>
            <a:off x="1524305" y="4381805"/>
            <a:ext cx="14287500" cy="134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spc="-96" kern="0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Um </a:t>
            </a:r>
            <a:pPr algn="l" indent="0" marL="0">
              <a:lnSpc>
                <a:spcPct val="110000"/>
              </a:lnSpc>
              <a:buNone/>
            </a:pPr>
            <a:r>
              <a:rPr lang="en-US" sz="4800" i="1" spc="-96" kern="0" dirty="0">
                <a:solidFill>
                  <a:srgbClr val="C7922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“manual de instruções”</a:t>
            </a:r>
            <a:pPr algn="l" indent="0" marL="0">
              <a:lnSpc>
                <a:spcPct val="110000"/>
              </a:lnSpc>
              <a:buNone/>
            </a:pPr>
            <a:endParaRPr lang="en-US" sz="4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800" spc="-96" kern="0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em texto que transforma a IA em especialista.</a:t>
            </a:r>
            <a:endParaRPr lang="en-US" sz="4800" dirty="0"/>
          </a:p>
        </p:txBody>
      </p:sp>
      <p:sp>
        <p:nvSpPr>
          <p:cNvPr id="14" name="Text 8"/>
          <p:cNvSpPr txBox="1"/>
          <p:nvPr/>
        </p:nvSpPr>
        <p:spPr>
          <a:xfrm>
            <a:off x="1143000" y="7429500"/>
            <a:ext cx="10478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mesmo arquivo funciona em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1524305" y="8143646"/>
            <a:ext cx="45720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Gemini </a:t>
            </a:r>
            <a:pPr algn="l" indent="0" marL="0">
              <a:buNone/>
            </a:pPr>
            <a:r>
              <a:rPr lang="en-US" sz="2100" b="1" i="1" dirty="0">
                <a:solidFill>
                  <a:srgbClr val="8B6F4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→</a:t>
            </a:r>
            <a:pPr algn="l" indent="0" marL="0">
              <a:buNone/>
            </a:pPr>
            <a:r>
              <a:rPr lang="en-US" sz="27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Gem</a:t>
            </a:r>
            <a:endParaRPr lang="en-US" sz="2700" dirty="0"/>
          </a:p>
        </p:txBody>
      </p:sp>
      <p:sp>
        <p:nvSpPr>
          <p:cNvPr id="16" name="Text 10"/>
          <p:cNvSpPr txBox="1"/>
          <p:nvPr/>
        </p:nvSpPr>
        <p:spPr>
          <a:xfrm>
            <a:off x="1524305" y="8616391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especialista que responde sempre do mesmo jeito.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6858000" y="8143646"/>
            <a:ext cx="5080406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ChatGPT </a:t>
            </a:r>
            <a:pPr algn="l" indent="0" marL="0">
              <a:buNone/>
            </a:pPr>
            <a:r>
              <a:rPr lang="en-US" sz="2100" b="1" i="1" dirty="0">
                <a:solidFill>
                  <a:srgbClr val="8B6F4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→</a:t>
            </a:r>
            <a:pPr algn="l" indent="0" marL="0">
              <a:buNone/>
            </a:pPr>
            <a:r>
              <a:rPr lang="en-US" sz="27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GPT / Projeto</a:t>
            </a:r>
            <a:endParaRPr lang="en-US" sz="2700" dirty="0"/>
          </a:p>
        </p:txBody>
      </p:sp>
      <p:sp>
        <p:nvSpPr>
          <p:cNvPr id="18" name="Text 12"/>
          <p:cNvSpPr txBox="1"/>
          <p:nvPr/>
        </p:nvSpPr>
        <p:spPr>
          <a:xfrm>
            <a:off x="6858000" y="8616391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Instruções do projeto carregam a skill.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2191695" y="8143646"/>
            <a:ext cx="5293462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Claude </a:t>
            </a:r>
            <a:pPr algn="l" indent="0" marL="0">
              <a:buNone/>
            </a:pPr>
            <a:r>
              <a:rPr lang="en-US" sz="2100" b="1" i="1" dirty="0">
                <a:solidFill>
                  <a:srgbClr val="8B6F4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→</a:t>
            </a:r>
            <a:pPr algn="l" indent="0" marL="0">
              <a:buNone/>
            </a:pPr>
            <a:r>
              <a:rPr lang="en-US" sz="27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Skill / Projeto</a:t>
            </a:r>
            <a:endParaRPr lang="en-US" sz="2700" dirty="0"/>
          </a:p>
        </p:txBody>
      </p:sp>
      <p:sp>
        <p:nvSpPr>
          <p:cNvPr id="20" name="Text 14"/>
          <p:cNvSpPr txBox="1"/>
          <p:nvPr/>
        </p:nvSpPr>
        <p:spPr>
          <a:xfrm>
            <a:off x="12191695" y="8616391"/>
            <a:ext cx="4953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Mesma estrutura, adjacente ao SYSTEM.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16954805" y="9667951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/ 45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ED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9805" y="3524098"/>
            <a:ext cx="5905195" cy="5905195"/>
          </a:xfrm>
          <a:prstGeom prst="roundRect">
            <a:avLst>
              <a:gd name="adj" fmla="val 1285"/>
            </a:avLst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gen-dedup-609ca5620bc91a301e35b29a91fab242.png">    </p:cNvPr>
          <p:cNvPicPr>
            <a:picLocks noChangeAspect="1"/>
          </p:cNvPicPr>
          <p:nvPr/>
        </p:nvPicPr>
        <p:blipFill>
          <a:blip r:embed="rId1"/>
          <a:srcRect l="-385" r="-385" t="0" b="0"/>
          <a:stretch/>
        </p:blipFill>
        <p:spPr>
          <a:xfrm>
            <a:off x="1143000" y="952805"/>
            <a:ext cx="761695" cy="28346"/>
          </a:xfrm>
          <a:prstGeom prst="rect">
            <a:avLst/>
          </a:prstGeom>
        </p:spPr>
      </p:pic>
      <p:pic>
        <p:nvPicPr>
          <p:cNvPr id="4" name="Image 1" descr="gen-dedup-dfa7baa944d166c57688f0fe13f401d4.png">    </p:cNvPr>
          <p:cNvPicPr>
            <a:picLocks noChangeAspect="1"/>
          </p:cNvPicPr>
          <p:nvPr/>
        </p:nvPicPr>
        <p:blipFill>
          <a:blip r:embed="rId2"/>
          <a:srcRect l="0" r="0" t="-246" b="-246"/>
          <a:stretch/>
        </p:blipFill>
        <p:spPr>
          <a:xfrm>
            <a:off x="1143000" y="4000500"/>
            <a:ext cx="75895" cy="514807"/>
          </a:xfrm>
          <a:prstGeom prst="rect">
            <a:avLst/>
          </a:prstGeom>
        </p:spPr>
      </p:pic>
      <p:pic>
        <p:nvPicPr>
          <p:cNvPr id="5" name="Image 2" descr="gen-dedup-1d483502501cbaddd18ad6a2052c473d.png">    </p:cNvPr>
          <p:cNvPicPr>
            <a:picLocks noChangeAspect="1"/>
          </p:cNvPicPr>
          <p:nvPr/>
        </p:nvPicPr>
        <p:blipFill>
          <a:blip r:embed="rId3"/>
          <a:srcRect l="0" r="0" t="-246" b="-246"/>
          <a:stretch/>
        </p:blipFill>
        <p:spPr>
          <a:xfrm>
            <a:off x="1143000" y="4858207"/>
            <a:ext cx="75895" cy="514807"/>
          </a:xfrm>
          <a:prstGeom prst="rect">
            <a:avLst/>
          </a:prstGeom>
        </p:spPr>
      </p:pic>
      <p:pic>
        <p:nvPicPr>
          <p:cNvPr id="6" name="Image 3" descr="gen-dedup-19a176394ef0f3fc74e62b36422f3195.png">    </p:cNvPr>
          <p:cNvPicPr>
            <a:picLocks noChangeAspect="1"/>
          </p:cNvPicPr>
          <p:nvPr/>
        </p:nvPicPr>
        <p:blipFill>
          <a:blip r:embed="rId4"/>
          <a:srcRect l="0" r="0" t="-246" b="-246"/>
          <a:stretch/>
        </p:blipFill>
        <p:spPr>
          <a:xfrm>
            <a:off x="1143000" y="5619902"/>
            <a:ext cx="75895" cy="514807"/>
          </a:xfrm>
          <a:prstGeom prst="rect">
            <a:avLst/>
          </a:prstGeom>
        </p:spPr>
      </p:pic>
      <p:pic>
        <p:nvPicPr>
          <p:cNvPr id="7" name="Image 4" descr="gen-dedup-9f1165193d3a028f5bbc889251723a63.png">    </p:cNvPr>
          <p:cNvPicPr>
            <a:picLocks noChangeAspect="1"/>
          </p:cNvPicPr>
          <p:nvPr/>
        </p:nvPicPr>
        <p:blipFill>
          <a:blip r:embed="rId5"/>
          <a:srcRect l="0" r="0" t="-246" b="-246"/>
          <a:stretch/>
        </p:blipFill>
        <p:spPr>
          <a:xfrm>
            <a:off x="1143000" y="6381598"/>
            <a:ext cx="75895" cy="514807"/>
          </a:xfrm>
          <a:prstGeom prst="rect">
            <a:avLst/>
          </a:prstGeom>
        </p:spPr>
      </p:pic>
      <p:pic>
        <p:nvPicPr>
          <p:cNvPr id="8" name="Image 5" descr="gen-dedup-2110a006e4c73d87f2d9514d3b17c7b2.png">    </p:cNvPr>
          <p:cNvPicPr>
            <a:picLocks noChangeAspect="1"/>
          </p:cNvPicPr>
          <p:nvPr/>
        </p:nvPicPr>
        <p:blipFill>
          <a:blip r:embed="rId6"/>
          <a:srcRect l="0" r="0" t="-246" b="-246"/>
          <a:stretch/>
        </p:blipFill>
        <p:spPr>
          <a:xfrm>
            <a:off x="1143000" y="7144207"/>
            <a:ext cx="75895" cy="514807"/>
          </a:xfrm>
          <a:prstGeom prst="rect">
            <a:avLst/>
          </a:prstGeom>
        </p:spPr>
      </p:pic>
      <p:pic>
        <p:nvPicPr>
          <p:cNvPr id="9" name="Image 6" descr="gen-dedup-c6e9db68db6d733701a9dcd2425cb63f.png">    </p:cNvPr>
          <p:cNvPicPr>
            <a:picLocks noChangeAspect="1"/>
          </p:cNvPicPr>
          <p:nvPr/>
        </p:nvPicPr>
        <p:blipFill>
          <a:blip r:embed="rId7"/>
          <a:srcRect l="0" r="0" t="-246" b="-246"/>
          <a:stretch/>
        </p:blipFill>
        <p:spPr>
          <a:xfrm>
            <a:off x="1143000" y="7905902"/>
            <a:ext cx="75895" cy="514807"/>
          </a:xfrm>
          <a:prstGeom prst="rect">
            <a:avLst/>
          </a:prstGeom>
        </p:spPr>
      </p:pic>
      <p:pic>
        <p:nvPicPr>
          <p:cNvPr id="10" name="Image 7" descr="gen-dedup-ba3384539b6a883638299d0c9e780fb7.png">    </p:cNvPr>
          <p:cNvPicPr>
            <a:picLocks noChangeAspect="1"/>
          </p:cNvPicPr>
          <p:nvPr/>
        </p:nvPicPr>
        <p:blipFill>
          <a:blip r:embed="rId8"/>
          <a:srcRect l="0" r="0" t="-181" b="-181"/>
          <a:stretch/>
        </p:blipFill>
        <p:spPr>
          <a:xfrm>
            <a:off x="1143000" y="8667598"/>
            <a:ext cx="75895" cy="761695"/>
          </a:xfrm>
          <a:prstGeom prst="rect">
            <a:avLst/>
          </a:prstGeom>
        </p:spPr>
      </p:pic>
      <p:sp>
        <p:nvSpPr>
          <p:cNvPr id="11" name="Shape 1"/>
          <p:cNvSpPr/>
          <p:nvPr/>
        </p:nvSpPr>
        <p:spPr>
          <a:xfrm>
            <a:off x="11430000" y="4953305"/>
            <a:ext cx="5524805" cy="2667305"/>
          </a:xfrm>
          <a:prstGeom prst="roundRect">
            <a:avLst>
              <a:gd name="adj" fmla="val 2160"/>
            </a:avLst>
          </a:prstGeom>
          <a:solidFill>
            <a:srgbClr val="1E2A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2"/>
          <p:cNvSpPr txBox="1"/>
          <p:nvPr/>
        </p:nvSpPr>
        <p:spPr>
          <a:xfrm>
            <a:off x="1143000" y="1143000"/>
            <a:ext cx="9525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dentro do arquivo</a:t>
            </a:r>
            <a:endParaRPr lang="en-US" sz="1500" dirty="0"/>
          </a:p>
        </p:txBody>
      </p:sp>
      <p:sp>
        <p:nvSpPr>
          <p:cNvPr id="13" name="Text 3"/>
          <p:cNvSpPr txBox="1"/>
          <p:nvPr/>
        </p:nvSpPr>
        <p:spPr>
          <a:xfrm>
            <a:off x="1143000" y="1524305"/>
            <a:ext cx="1619311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300" spc="-126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Anatomia de uma </a:t>
            </a:r>
            <a:pPr algn="l" indent="0" marL="0">
              <a:buNone/>
            </a:pPr>
            <a:r>
              <a:rPr lang="en-US" sz="6300" i="1" spc="-126" kern="0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skill</a:t>
            </a:r>
            <a:endParaRPr lang="en-US" sz="6300" dirty="0"/>
          </a:p>
        </p:txBody>
      </p:sp>
      <p:sp>
        <p:nvSpPr>
          <p:cNvPr id="14" name="Text 4"/>
          <p:cNvSpPr txBox="1"/>
          <p:nvPr/>
        </p:nvSpPr>
        <p:spPr>
          <a:xfrm>
            <a:off x="1143000" y="2667305"/>
            <a:ext cx="161931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 um arquivo </a:t>
            </a:r>
            <a:pPr algn="l" indent="0" marL="0">
              <a:buNone/>
            </a:pPr>
            <a:r>
              <a:rPr lang="en-US" sz="1800" dirty="0">
                <a:solidFill>
                  <a:srgbClr val="3A453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.md</a:t>
            </a:r>
            <a:pPr algn="l" indent="0" marL="0">
              <a:buNone/>
            </a:pPr>
            <a:r>
              <a:rPr lang="en-US" sz="18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texto puro. Abre no bloco de notas.</a:t>
            </a:r>
            <a:endParaRPr lang="en-US" sz="1800" dirty="0"/>
          </a:p>
        </p:txBody>
      </p:sp>
      <p:sp>
        <p:nvSpPr>
          <p:cNvPr id="15" name="Text 5"/>
          <p:cNvSpPr txBox="1"/>
          <p:nvPr/>
        </p:nvSpPr>
        <p:spPr>
          <a:xfrm>
            <a:off x="1143000" y="3524098"/>
            <a:ext cx="9525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sete blocos</a:t>
            </a:r>
            <a:endParaRPr lang="en-US" sz="1500" dirty="0"/>
          </a:p>
        </p:txBody>
      </p:sp>
      <p:sp>
        <p:nvSpPr>
          <p:cNvPr id="16" name="Text 6"/>
          <p:cNvSpPr txBox="1"/>
          <p:nvPr/>
        </p:nvSpPr>
        <p:spPr>
          <a:xfrm>
            <a:off x="1524305" y="4000500"/>
            <a:ext cx="9144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Cabeçalho</a:t>
            </a:r>
            <a:endParaRPr lang="en-US" sz="1950" dirty="0"/>
          </a:p>
        </p:txBody>
      </p:sp>
      <p:sp>
        <p:nvSpPr>
          <p:cNvPr id="17" name="Text 7"/>
          <p:cNvSpPr txBox="1"/>
          <p:nvPr/>
        </p:nvSpPr>
        <p:spPr>
          <a:xfrm>
            <a:off x="1524305" y="4362602"/>
            <a:ext cx="9144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53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</a:t>
            </a:r>
            <a:pPr algn="l" indent="0" marL="0">
              <a:buNone/>
            </a:pPr>
            <a:r>
              <a:rPr lang="en-US" sz="15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</a:t>
            </a:r>
            <a:pPr algn="l" indent="0" marL="0">
              <a:buNone/>
            </a:pPr>
            <a:r>
              <a:rPr lang="en-US" sz="1500" dirty="0">
                <a:solidFill>
                  <a:srgbClr val="3A453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description</a:t>
            </a:r>
            <a:pPr algn="l" indent="0" marL="0">
              <a:buNone/>
            </a:pPr>
            <a:r>
              <a:rPr lang="en-US" sz="15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quando usar.</a:t>
            </a:r>
            <a:endParaRPr lang="en-US" sz="1500" dirty="0"/>
          </a:p>
        </p:txBody>
      </p:sp>
      <p:sp>
        <p:nvSpPr>
          <p:cNvPr id="18" name="Text 8"/>
          <p:cNvSpPr txBox="1"/>
          <p:nvPr/>
        </p:nvSpPr>
        <p:spPr>
          <a:xfrm>
            <a:off x="1524305" y="4858207"/>
            <a:ext cx="9144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Quando usar</a:t>
            </a:r>
            <a:endParaRPr lang="en-US" sz="1950" dirty="0"/>
          </a:p>
        </p:txBody>
      </p:sp>
      <p:sp>
        <p:nvSpPr>
          <p:cNvPr id="19" name="Text 9"/>
          <p:cNvSpPr txBox="1"/>
          <p:nvPr/>
        </p:nvSpPr>
        <p:spPr>
          <a:xfrm>
            <a:off x="1524305" y="5619902"/>
            <a:ext cx="9144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Perguntas antes de analisar</a:t>
            </a:r>
            <a:endParaRPr lang="en-US" sz="1950" dirty="0"/>
          </a:p>
        </p:txBody>
      </p:sp>
      <p:sp>
        <p:nvSpPr>
          <p:cNvPr id="20" name="Text 10"/>
          <p:cNvSpPr txBox="1"/>
          <p:nvPr/>
        </p:nvSpPr>
        <p:spPr>
          <a:xfrm>
            <a:off x="1524305" y="6381598"/>
            <a:ext cx="9144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Passo a passo</a:t>
            </a:r>
            <a:endParaRPr lang="en-US" sz="1950" dirty="0"/>
          </a:p>
        </p:txBody>
      </p:sp>
      <p:sp>
        <p:nvSpPr>
          <p:cNvPr id="21" name="Text 11"/>
          <p:cNvSpPr txBox="1"/>
          <p:nvPr/>
        </p:nvSpPr>
        <p:spPr>
          <a:xfrm>
            <a:off x="1524305" y="7144207"/>
            <a:ext cx="9144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Código de referência</a:t>
            </a:r>
            <a:endParaRPr lang="en-US" sz="1950" dirty="0"/>
          </a:p>
        </p:txBody>
      </p:sp>
      <p:sp>
        <p:nvSpPr>
          <p:cNvPr id="22" name="Text 12"/>
          <p:cNvSpPr txBox="1"/>
          <p:nvPr/>
        </p:nvSpPr>
        <p:spPr>
          <a:xfrm>
            <a:off x="1524305" y="7905902"/>
            <a:ext cx="9144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Formato da resposta</a:t>
            </a:r>
            <a:endParaRPr lang="en-US" sz="1950" dirty="0"/>
          </a:p>
        </p:txBody>
      </p:sp>
      <p:sp>
        <p:nvSpPr>
          <p:cNvPr id="23" name="Text 13"/>
          <p:cNvSpPr txBox="1"/>
          <p:nvPr/>
        </p:nvSpPr>
        <p:spPr>
          <a:xfrm>
            <a:off x="1524305" y="8667598"/>
            <a:ext cx="9144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Regras de segurança</a:t>
            </a:r>
            <a:endParaRPr lang="en-US" sz="1950" dirty="0"/>
          </a:p>
        </p:txBody>
      </p:sp>
      <p:sp>
        <p:nvSpPr>
          <p:cNvPr id="24" name="Text 14"/>
          <p:cNvSpPr txBox="1"/>
          <p:nvPr/>
        </p:nvSpPr>
        <p:spPr>
          <a:xfrm>
            <a:off x="1524305" y="9029700"/>
            <a:ext cx="9144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25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Nunca inventar dados, mostrar o código, avisar se pressuposto falhar.</a:t>
            </a:r>
            <a:endParaRPr lang="en-US" sz="1500" dirty="0"/>
          </a:p>
        </p:txBody>
      </p:sp>
      <p:sp>
        <p:nvSpPr>
          <p:cNvPr id="25" name="Text 15"/>
          <p:cNvSpPr txBox="1"/>
          <p:nvPr/>
        </p:nvSpPr>
        <p:spPr>
          <a:xfrm>
            <a:off x="11430000" y="3810305"/>
            <a:ext cx="5524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7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 real</a:t>
            </a:r>
            <a:endParaRPr lang="en-US" sz="1350" dirty="0"/>
          </a:p>
        </p:txBody>
      </p:sp>
      <p:sp>
        <p:nvSpPr>
          <p:cNvPr id="26" name="Text 16"/>
          <p:cNvSpPr txBox="1"/>
          <p:nvPr/>
        </p:nvSpPr>
        <p:spPr>
          <a:xfrm>
            <a:off x="11430000" y="4105656"/>
            <a:ext cx="5524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skill 02 + </a:t>
            </a:r>
            <a:pPr algn="l" indent="0" marL="0">
              <a:buNone/>
            </a:pPr>
            <a:r>
              <a:rPr lang="en-US" sz="1350" i="1" dirty="0">
                <a:solidFill>
                  <a:srgbClr val="1E2A1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dic_mudas.csv</a:t>
            </a:r>
            <a:endParaRPr lang="en-US" sz="1800" dirty="0"/>
          </a:p>
        </p:txBody>
      </p:sp>
      <p:sp>
        <p:nvSpPr>
          <p:cNvPr id="27" name="Text 17"/>
          <p:cNvSpPr txBox="1"/>
          <p:nvPr/>
        </p:nvSpPr>
        <p:spPr>
          <a:xfrm>
            <a:off x="11620195" y="5162702"/>
            <a:ext cx="140881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A8B58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 name: dic-dbc-anova-tukey description: ANOVA em DIC/DBC com Tukey 5% --- ## Quando usar · DIC ou DBC · até 6 níveis · verificar pressupostos</a:t>
            </a:r>
            <a:endParaRPr lang="en-US" sz="1275" dirty="0"/>
          </a:p>
        </p:txBody>
      </p:sp>
      <p:sp>
        <p:nvSpPr>
          <p:cNvPr id="28" name="Text 18"/>
          <p:cNvSpPr txBox="1"/>
          <p:nvPr/>
        </p:nvSpPr>
        <p:spPr>
          <a:xfrm>
            <a:off x="11430000" y="7905902"/>
            <a:ext cx="5524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70" kern="0" dirty="0">
                <a:solidFill>
                  <a:srgbClr val="2F5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 devolve</a:t>
            </a:r>
            <a:endParaRPr lang="en-US" sz="1350" dirty="0"/>
          </a:p>
        </p:txBody>
      </p:sp>
      <p:sp>
        <p:nvSpPr>
          <p:cNvPr id="29" name="Text 19"/>
          <p:cNvSpPr txBox="1"/>
          <p:nvPr/>
        </p:nvSpPr>
        <p:spPr>
          <a:xfrm>
            <a:off x="11430000" y="8162849"/>
            <a:ext cx="5524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 = </a:t>
            </a:r>
            <a:pPr algn="l" indent="0" marL="0">
              <a:buNone/>
            </a:pPr>
            <a:r>
              <a:rPr lang="en-US" sz="1800" b="1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34,57</a:t>
            </a:r>
            <a:pPr algn="l" indent="0" marL="0">
              <a:buNone/>
            </a:pPr>
            <a:r>
              <a:rPr lang="en-US" sz="18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, mesmas letras do gabarito.</a:t>
            </a:r>
            <a:endParaRPr lang="en-US" sz="1800" dirty="0"/>
          </a:p>
        </p:txBody>
      </p:sp>
      <p:sp>
        <p:nvSpPr>
          <p:cNvPr id="30" name="Text 20"/>
          <p:cNvSpPr txBox="1"/>
          <p:nvPr/>
        </p:nvSpPr>
        <p:spPr>
          <a:xfrm>
            <a:off x="16954805" y="9667951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/ 45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ED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3143707"/>
            <a:ext cx="5143500" cy="2572207"/>
          </a:xfrm>
          <a:prstGeom prst="roundRect">
            <a:avLst>
              <a:gd name="adj" fmla="val 2951"/>
            </a:avLst>
          </a:prstGeom>
          <a:solidFill>
            <a:srgbClr val="FAF6EC"/>
          </a:solidFill>
          <a:ln w="12700">
            <a:solidFill>
              <a:srgbClr val="DDD7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72707" y="3143707"/>
            <a:ext cx="5143500" cy="2572207"/>
          </a:xfrm>
          <a:prstGeom prst="roundRect">
            <a:avLst>
              <a:gd name="adj" fmla="val 2951"/>
            </a:avLst>
          </a:prstGeom>
          <a:solidFill>
            <a:srgbClr val="FAF6EC"/>
          </a:solidFill>
          <a:ln w="12700">
            <a:solidFill>
              <a:srgbClr val="DDD7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0" y="3143707"/>
            <a:ext cx="5143500" cy="2572207"/>
          </a:xfrm>
          <a:prstGeom prst="roundRect">
            <a:avLst>
              <a:gd name="adj" fmla="val 2951"/>
            </a:avLst>
          </a:prstGeom>
          <a:solidFill>
            <a:srgbClr val="FAF6EC"/>
          </a:solidFill>
          <a:ln w="12700">
            <a:solidFill>
              <a:srgbClr val="DDD7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5905195"/>
            <a:ext cx="5143500" cy="2572207"/>
          </a:xfrm>
          <a:prstGeom prst="roundRect">
            <a:avLst>
              <a:gd name="adj" fmla="val 2951"/>
            </a:avLst>
          </a:prstGeom>
          <a:solidFill>
            <a:srgbClr val="FAF6EC"/>
          </a:solidFill>
          <a:ln w="12700">
            <a:solidFill>
              <a:srgbClr val="DDD7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72707" y="5905195"/>
            <a:ext cx="5143500" cy="2572207"/>
          </a:xfrm>
          <a:prstGeom prst="roundRect">
            <a:avLst>
              <a:gd name="adj" fmla="val 2951"/>
            </a:avLst>
          </a:prstGeom>
          <a:solidFill>
            <a:srgbClr val="FAF6EC"/>
          </a:solidFill>
          <a:ln w="12700">
            <a:solidFill>
              <a:srgbClr val="DDD7C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001500" y="5905195"/>
            <a:ext cx="5143500" cy="2572207"/>
          </a:xfrm>
          <a:prstGeom prst="roundRect">
            <a:avLst>
              <a:gd name="adj" fmla="val 2951"/>
            </a:avLst>
          </a:prstGeom>
          <a:solidFill>
            <a:srgbClr val="FAF6EC"/>
          </a:solidFill>
          <a:ln w="12700">
            <a:solidFill>
              <a:srgbClr val="DDD7C5"/>
            </a:solidFill>
            <a:prstDash val="solid"/>
          </a:ln>
        </p:spPr>
      </p:sp>
      <p:pic>
        <p:nvPicPr>
          <p:cNvPr id="8" name="Image 0" descr="gen-dedup-609ca5620bc91a301e35b29a91fab242.png">    </p:cNvPr>
          <p:cNvPicPr>
            <a:picLocks noChangeAspect="1"/>
          </p:cNvPicPr>
          <p:nvPr/>
        </p:nvPicPr>
        <p:blipFill>
          <a:blip r:embed="rId1"/>
          <a:srcRect l="-385" r="-385" t="0" b="0"/>
          <a:stretch/>
        </p:blipFill>
        <p:spPr>
          <a:xfrm>
            <a:off x="1143000" y="952805"/>
            <a:ext cx="761695" cy="28346"/>
          </a:xfrm>
          <a:prstGeom prst="rect">
            <a:avLst/>
          </a:prstGeom>
        </p:spPr>
      </p:pic>
      <p:pic>
        <p:nvPicPr>
          <p:cNvPr id="9" name="Image 1" descr="gen-dedup-1adb5d83571bd3672fca41ed1b3bf462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1143000" y="3143707"/>
            <a:ext cx="5143500" cy="57607"/>
          </a:xfrm>
          <a:prstGeom prst="rect">
            <a:avLst/>
          </a:prstGeom>
        </p:spPr>
      </p:pic>
      <p:pic>
        <p:nvPicPr>
          <p:cNvPr id="10" name="Image 2" descr="gen-dedup-1c0ae16ec920acc028560bc697d3e011.png">    </p:cNvPr>
          <p:cNvPicPr>
            <a:picLocks noChangeAspect="1"/>
          </p:cNvPicPr>
          <p:nvPr/>
        </p:nvPicPr>
        <p:blipFill>
          <a:blip r:embed="rId3"/>
          <a:srcRect l="0" r="0" t="-400" b="-400"/>
          <a:stretch/>
        </p:blipFill>
        <p:spPr>
          <a:xfrm>
            <a:off x="6572707" y="3143707"/>
            <a:ext cx="5143500" cy="57607"/>
          </a:xfrm>
          <a:prstGeom prst="rect">
            <a:avLst/>
          </a:prstGeom>
        </p:spPr>
      </p:pic>
      <p:pic>
        <p:nvPicPr>
          <p:cNvPr id="11" name="Image 3" descr="gen-dedup-cc24a61d0066eb89052f6b3c09b0a82c.png">    </p:cNvPr>
          <p:cNvPicPr>
            <a:picLocks noChangeAspect="1"/>
          </p:cNvPicPr>
          <p:nvPr/>
        </p:nvPicPr>
        <p:blipFill>
          <a:blip r:embed="rId4"/>
          <a:srcRect l="0" r="0" t="-400" b="-400"/>
          <a:stretch/>
        </p:blipFill>
        <p:spPr>
          <a:xfrm>
            <a:off x="12001500" y="3143707"/>
            <a:ext cx="5143500" cy="57607"/>
          </a:xfrm>
          <a:prstGeom prst="rect">
            <a:avLst/>
          </a:prstGeom>
        </p:spPr>
      </p:pic>
      <p:pic>
        <p:nvPicPr>
          <p:cNvPr id="12" name="Image 4" descr="gen-dedup-d07c1f13d823531e211db1e0668f51c1.png">    </p:cNvPr>
          <p:cNvPicPr>
            <a:picLocks noChangeAspect="1"/>
          </p:cNvPicPr>
          <p:nvPr/>
        </p:nvPicPr>
        <p:blipFill>
          <a:blip r:embed="rId5"/>
          <a:srcRect l="0" r="0" t="-400" b="-400"/>
          <a:stretch/>
        </p:blipFill>
        <p:spPr>
          <a:xfrm>
            <a:off x="1143000" y="5905195"/>
            <a:ext cx="5143500" cy="57607"/>
          </a:xfrm>
          <a:prstGeom prst="rect">
            <a:avLst/>
          </a:prstGeom>
        </p:spPr>
      </p:pic>
      <p:pic>
        <p:nvPicPr>
          <p:cNvPr id="13" name="Image 5" descr="gen-dedup-67fd0ce3df88ad26aa967ee9aa8a0c4d.png">    </p:cNvPr>
          <p:cNvPicPr>
            <a:picLocks noChangeAspect="1"/>
          </p:cNvPicPr>
          <p:nvPr/>
        </p:nvPicPr>
        <p:blipFill>
          <a:blip r:embed="rId6"/>
          <a:srcRect l="0" r="0" t="-400" b="-400"/>
          <a:stretch/>
        </p:blipFill>
        <p:spPr>
          <a:xfrm>
            <a:off x="6572707" y="5905195"/>
            <a:ext cx="5143500" cy="57607"/>
          </a:xfrm>
          <a:prstGeom prst="rect">
            <a:avLst/>
          </a:prstGeom>
        </p:spPr>
      </p:pic>
      <p:pic>
        <p:nvPicPr>
          <p:cNvPr id="14" name="Image 6" descr="gen-dedup-ab54979d96f5bf0db943a809df501c69.png">    </p:cNvPr>
          <p:cNvPicPr>
            <a:picLocks noChangeAspect="1"/>
          </p:cNvPicPr>
          <p:nvPr/>
        </p:nvPicPr>
        <p:blipFill>
          <a:blip r:embed="rId7"/>
          <a:srcRect l="0" r="0" t="-400" b="-400"/>
          <a:stretch/>
        </p:blipFill>
        <p:spPr>
          <a:xfrm>
            <a:off x="12001500" y="5905195"/>
            <a:ext cx="5143500" cy="57607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1143000" y="1143000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pacote pronto para levar</a:t>
            </a:r>
            <a:endParaRPr lang="en-US" sz="1500" dirty="0"/>
          </a:p>
        </p:txBody>
      </p:sp>
      <p:sp>
        <p:nvSpPr>
          <p:cNvPr id="16" name="Text 7"/>
          <p:cNvSpPr txBox="1"/>
          <p:nvPr/>
        </p:nvSpPr>
        <p:spPr>
          <a:xfrm>
            <a:off x="1143000" y="1524305"/>
            <a:ext cx="1619311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300" spc="-126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Nossas </a:t>
            </a:r>
            <a:pPr algn="l" indent="0" marL="0">
              <a:buNone/>
            </a:pPr>
            <a:r>
              <a:rPr lang="en-US" sz="6300" i="1" spc="-126" kern="0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seis skills</a:t>
            </a:r>
            <a:endParaRPr lang="en-US" sz="6300" dirty="0"/>
          </a:p>
        </p:txBody>
      </p:sp>
      <p:sp>
        <p:nvSpPr>
          <p:cNvPr id="17" name="Text 8"/>
          <p:cNvSpPr txBox="1"/>
          <p:nvPr/>
        </p:nvSpPr>
        <p:spPr>
          <a:xfrm>
            <a:off x="1524305" y="3429000"/>
            <a:ext cx="4572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</a:t>
            </a:r>
            <a:endParaRPr lang="en-US" sz="1350" dirty="0"/>
          </a:p>
        </p:txBody>
      </p:sp>
      <p:sp>
        <p:nvSpPr>
          <p:cNvPr id="18" name="Text 9"/>
          <p:cNvSpPr txBox="1"/>
          <p:nvPr/>
        </p:nvSpPr>
        <p:spPr>
          <a:xfrm>
            <a:off x="1524305" y="3762756"/>
            <a:ext cx="45720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spc="-25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Assistente estatístico</a:t>
            </a:r>
            <a:endParaRPr lang="en-US" sz="2550" dirty="0"/>
          </a:p>
        </p:txBody>
      </p:sp>
      <p:sp>
        <p:nvSpPr>
          <p:cNvPr id="19" name="Text 10"/>
          <p:cNvSpPr txBox="1"/>
          <p:nvPr/>
        </p:nvSpPr>
        <p:spPr>
          <a:xfrm>
            <a:off x="1524305" y="4251960"/>
            <a:ext cx="5257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Roteador principal — decide qual skill acionar.</a:t>
            </a:r>
            <a:endParaRPr lang="en-US" sz="1500" dirty="0"/>
          </a:p>
        </p:txBody>
      </p:sp>
      <p:sp>
        <p:nvSpPr>
          <p:cNvPr id="20" name="Text 11"/>
          <p:cNvSpPr txBox="1"/>
          <p:nvPr/>
        </p:nvSpPr>
        <p:spPr>
          <a:xfrm>
            <a:off x="6953098" y="3429000"/>
            <a:ext cx="4572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2F5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350" dirty="0"/>
          </a:p>
        </p:txBody>
      </p:sp>
      <p:sp>
        <p:nvSpPr>
          <p:cNvPr id="21" name="Text 12"/>
          <p:cNvSpPr txBox="1"/>
          <p:nvPr/>
        </p:nvSpPr>
        <p:spPr>
          <a:xfrm>
            <a:off x="6953098" y="3762756"/>
            <a:ext cx="52578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spc="-25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Planejamento do experimento</a:t>
            </a:r>
            <a:endParaRPr lang="en-US" sz="2550" dirty="0"/>
          </a:p>
        </p:txBody>
      </p:sp>
      <p:sp>
        <p:nvSpPr>
          <p:cNvPr id="22" name="Text 13"/>
          <p:cNvSpPr txBox="1"/>
          <p:nvPr/>
        </p:nvSpPr>
        <p:spPr>
          <a:xfrm>
            <a:off x="6953098" y="4251960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Escolhe delineamento, n, croqui.</a:t>
            </a:r>
            <a:endParaRPr lang="en-US" sz="1500" dirty="0"/>
          </a:p>
        </p:txBody>
      </p:sp>
      <p:sp>
        <p:nvSpPr>
          <p:cNvPr id="23" name="Text 14"/>
          <p:cNvSpPr txBox="1"/>
          <p:nvPr/>
        </p:nvSpPr>
        <p:spPr>
          <a:xfrm>
            <a:off x="12382805" y="3429000"/>
            <a:ext cx="4572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6B8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350" dirty="0"/>
          </a:p>
        </p:txBody>
      </p:sp>
      <p:sp>
        <p:nvSpPr>
          <p:cNvPr id="24" name="Text 15"/>
          <p:cNvSpPr txBox="1"/>
          <p:nvPr/>
        </p:nvSpPr>
        <p:spPr>
          <a:xfrm>
            <a:off x="12382805" y="3762756"/>
            <a:ext cx="457200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50" b="1" spc="-25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DIC · DBC +</a:t>
            </a:r>
            <a:pPr algn="l" indent="0" marL="0">
              <a:lnSpc>
                <a:spcPct val="110000"/>
              </a:lnSpc>
              <a:buNone/>
            </a:pPr>
            <a:endParaRPr lang="en-US" sz="25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550" b="1" spc="-25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ANOVA + Tukey</a:t>
            </a:r>
            <a:endParaRPr lang="en-US" sz="2550" dirty="0"/>
          </a:p>
        </p:txBody>
      </p:sp>
      <p:sp>
        <p:nvSpPr>
          <p:cNvPr id="25" name="Text 16"/>
          <p:cNvSpPr txBox="1"/>
          <p:nvPr/>
        </p:nvSpPr>
        <p:spPr>
          <a:xfrm>
            <a:off x="12382805" y="4607662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Comparações de fatores qualitativos.</a:t>
            </a:r>
            <a:endParaRPr lang="en-US" sz="1500" dirty="0"/>
          </a:p>
        </p:txBody>
      </p:sp>
      <p:sp>
        <p:nvSpPr>
          <p:cNvPr id="26" name="Text 17"/>
          <p:cNvSpPr txBox="1"/>
          <p:nvPr/>
        </p:nvSpPr>
        <p:spPr>
          <a:xfrm>
            <a:off x="1524305" y="6191402"/>
            <a:ext cx="4572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350" dirty="0"/>
          </a:p>
        </p:txBody>
      </p:sp>
      <p:sp>
        <p:nvSpPr>
          <p:cNvPr id="27" name="Text 18"/>
          <p:cNvSpPr txBox="1"/>
          <p:nvPr/>
        </p:nvSpPr>
        <p:spPr>
          <a:xfrm>
            <a:off x="1524305" y="6524244"/>
            <a:ext cx="457200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50" b="1" spc="-25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Fatorial e</a:t>
            </a:r>
            <a:pPr algn="l" indent="0" marL="0">
              <a:lnSpc>
                <a:spcPct val="110000"/>
              </a:lnSpc>
              <a:buNone/>
            </a:pPr>
            <a:endParaRPr lang="en-US" sz="25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550" b="1" spc="-25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parcela subdividida</a:t>
            </a:r>
            <a:endParaRPr lang="en-US" sz="2550" dirty="0"/>
          </a:p>
        </p:txBody>
      </p:sp>
      <p:sp>
        <p:nvSpPr>
          <p:cNvPr id="28" name="Text 19"/>
          <p:cNvSpPr txBox="1"/>
          <p:nvPr/>
        </p:nvSpPr>
        <p:spPr>
          <a:xfrm>
            <a:off x="1524305" y="7370064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Interações, desdobramento, hierarquia.</a:t>
            </a:r>
            <a:endParaRPr lang="en-US" sz="1500" dirty="0"/>
          </a:p>
        </p:txBody>
      </p:sp>
      <p:sp>
        <p:nvSpPr>
          <p:cNvPr id="29" name="Text 20"/>
          <p:cNvSpPr txBox="1"/>
          <p:nvPr/>
        </p:nvSpPr>
        <p:spPr>
          <a:xfrm>
            <a:off x="6953098" y="6191402"/>
            <a:ext cx="4572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B25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350" dirty="0"/>
          </a:p>
        </p:txBody>
      </p:sp>
      <p:sp>
        <p:nvSpPr>
          <p:cNvPr id="30" name="Text 21"/>
          <p:cNvSpPr txBox="1"/>
          <p:nvPr/>
        </p:nvSpPr>
        <p:spPr>
          <a:xfrm>
            <a:off x="6953098" y="6524244"/>
            <a:ext cx="45720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spc="-25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Regressão e doses</a:t>
            </a:r>
            <a:endParaRPr lang="en-US" sz="2550" dirty="0"/>
          </a:p>
        </p:txBody>
      </p:sp>
      <p:sp>
        <p:nvSpPr>
          <p:cNvPr id="31" name="Text 22"/>
          <p:cNvSpPr txBox="1"/>
          <p:nvPr/>
        </p:nvSpPr>
        <p:spPr>
          <a:xfrm>
            <a:off x="6953098" y="7014362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Curvas, modelos, DMET.</a:t>
            </a:r>
            <a:endParaRPr lang="en-US" sz="1500" dirty="0"/>
          </a:p>
        </p:txBody>
      </p:sp>
      <p:sp>
        <p:nvSpPr>
          <p:cNvPr id="32" name="Text 23"/>
          <p:cNvSpPr txBox="1"/>
          <p:nvPr/>
        </p:nvSpPr>
        <p:spPr>
          <a:xfrm>
            <a:off x="12382805" y="6191402"/>
            <a:ext cx="4572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C792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350" dirty="0"/>
          </a:p>
        </p:txBody>
      </p:sp>
      <p:sp>
        <p:nvSpPr>
          <p:cNvPr id="33" name="Text 24"/>
          <p:cNvSpPr txBox="1"/>
          <p:nvPr/>
        </p:nvSpPr>
        <p:spPr>
          <a:xfrm>
            <a:off x="12382805" y="6524244"/>
            <a:ext cx="457200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50" b="1" spc="-25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Interpretação</a:t>
            </a:r>
            <a:pPr algn="l" indent="0" marL="0">
              <a:lnSpc>
                <a:spcPct val="110000"/>
              </a:lnSpc>
              <a:buNone/>
            </a:pPr>
            <a:endParaRPr lang="en-US" sz="25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550" b="1" spc="-25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 relatório</a:t>
            </a:r>
            <a:endParaRPr lang="en-US" sz="2550" dirty="0"/>
          </a:p>
        </p:txBody>
      </p:sp>
      <p:sp>
        <p:nvSpPr>
          <p:cNvPr id="34" name="Text 25"/>
          <p:cNvSpPr txBox="1"/>
          <p:nvPr/>
        </p:nvSpPr>
        <p:spPr>
          <a:xfrm>
            <a:off x="12382805" y="7370064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 análise em texto pronto.</a:t>
            </a:r>
            <a:endParaRPr lang="en-US" sz="1500" dirty="0"/>
          </a:p>
        </p:txBody>
      </p:sp>
      <p:sp>
        <p:nvSpPr>
          <p:cNvPr id="35" name="Text 26"/>
          <p:cNvSpPr txBox="1"/>
          <p:nvPr/>
        </p:nvSpPr>
        <p:spPr>
          <a:xfrm>
            <a:off x="16954805" y="9667951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 / 45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2ED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3619195"/>
            <a:ext cx="3715207" cy="3619195"/>
          </a:xfrm>
          <a:prstGeom prst="roundRect">
            <a:avLst>
              <a:gd name="adj" fmla="val 2097"/>
            </a:avLst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43500" y="3619195"/>
            <a:ext cx="3715207" cy="3619195"/>
          </a:xfrm>
          <a:prstGeom prst="roundRect">
            <a:avLst>
              <a:gd name="adj" fmla="val 2097"/>
            </a:avLst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0" y="3619195"/>
            <a:ext cx="3715207" cy="3619195"/>
          </a:xfrm>
          <a:prstGeom prst="roundRect">
            <a:avLst>
              <a:gd name="adj" fmla="val 2097"/>
            </a:avLst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144500" y="3619195"/>
            <a:ext cx="4000500" cy="3619195"/>
          </a:xfrm>
          <a:prstGeom prst="roundRect">
            <a:avLst>
              <a:gd name="adj" fmla="val 2097"/>
            </a:avLst>
          </a:prstGeom>
          <a:solidFill>
            <a:srgbClr val="C792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gen-dedup-609ca5620bc91a301e35b29a91fab242.png">    </p:cNvPr>
          <p:cNvPicPr>
            <a:picLocks noChangeAspect="1"/>
          </p:cNvPicPr>
          <p:nvPr/>
        </p:nvPicPr>
        <p:blipFill>
          <a:blip r:embed="rId1"/>
          <a:srcRect l="-385" r="-385" t="0" b="0"/>
          <a:stretch/>
        </p:blipFill>
        <p:spPr>
          <a:xfrm>
            <a:off x="1143000" y="1143000"/>
            <a:ext cx="761695" cy="28346"/>
          </a:xfrm>
          <a:prstGeom prst="rect">
            <a:avLst/>
          </a:prstGeom>
        </p:spPr>
      </p:pic>
      <p:pic>
        <p:nvPicPr>
          <p:cNvPr id="7" name="Image 1" descr="gen-dedup-059c0338e37ead69d60812ff63262e4c.png">    </p:cNvPr>
          <p:cNvPicPr>
            <a:picLocks noChangeAspect="1"/>
          </p:cNvPicPr>
          <p:nvPr/>
        </p:nvPicPr>
        <p:blipFill>
          <a:blip r:embed="rId2"/>
          <a:srcRect l="0" r="0" t="-394" b="-394"/>
          <a:stretch/>
        </p:blipFill>
        <p:spPr>
          <a:xfrm>
            <a:off x="1143000" y="3619195"/>
            <a:ext cx="3715207" cy="57607"/>
          </a:xfrm>
          <a:prstGeom prst="rect">
            <a:avLst/>
          </a:prstGeom>
        </p:spPr>
      </p:pic>
      <p:pic>
        <p:nvPicPr>
          <p:cNvPr id="8" name="Image 2" descr="gen-dedup-08e156d979fe7604fbf86a32819b79a8.png">    </p:cNvPr>
          <p:cNvPicPr>
            <a:picLocks noChangeAspect="1"/>
          </p:cNvPicPr>
          <p:nvPr/>
        </p:nvPicPr>
        <p:blipFill>
          <a:blip r:embed="rId3"/>
          <a:srcRect l="0" r="0" t="-320" b="-320"/>
          <a:stretch/>
        </p:blipFill>
        <p:spPr>
          <a:xfrm>
            <a:off x="4858207" y="5333695"/>
            <a:ext cx="286207" cy="19202"/>
          </a:xfrm>
          <a:prstGeom prst="rect">
            <a:avLst/>
          </a:prstGeom>
        </p:spPr>
      </p:pic>
      <p:pic>
        <p:nvPicPr>
          <p:cNvPr id="9" name="Image 3" descr="gen-dedup-b860c8f5783afdede71d7e800dc92307.png">    </p:cNvPr>
          <p:cNvPicPr>
            <a:picLocks noChangeAspect="1"/>
          </p:cNvPicPr>
          <p:nvPr/>
        </p:nvPicPr>
        <p:blipFill>
          <a:blip r:embed="rId4"/>
          <a:srcRect l="0" r="0" t="-394" b="-394"/>
          <a:stretch/>
        </p:blipFill>
        <p:spPr>
          <a:xfrm>
            <a:off x="5143500" y="3619195"/>
            <a:ext cx="3715207" cy="57607"/>
          </a:xfrm>
          <a:prstGeom prst="rect">
            <a:avLst/>
          </a:prstGeom>
        </p:spPr>
      </p:pic>
      <p:pic>
        <p:nvPicPr>
          <p:cNvPr id="10" name="Image 4" descr="gen-dedup-08e156d979fe7604fbf86a32819b79a8.png">    </p:cNvPr>
          <p:cNvPicPr>
            <a:picLocks noChangeAspect="1"/>
          </p:cNvPicPr>
          <p:nvPr/>
        </p:nvPicPr>
        <p:blipFill>
          <a:blip r:embed="rId5"/>
          <a:srcRect l="0" r="0" t="-320" b="-320"/>
          <a:stretch/>
        </p:blipFill>
        <p:spPr>
          <a:xfrm>
            <a:off x="8858707" y="5333695"/>
            <a:ext cx="286207" cy="19202"/>
          </a:xfrm>
          <a:prstGeom prst="rect">
            <a:avLst/>
          </a:prstGeom>
        </p:spPr>
      </p:pic>
      <p:pic>
        <p:nvPicPr>
          <p:cNvPr id="11" name="Image 5" descr="gen-dedup-644a139e14fb7b0e599749a2d23cc914.png">    </p:cNvPr>
          <p:cNvPicPr>
            <a:picLocks noChangeAspect="1"/>
          </p:cNvPicPr>
          <p:nvPr/>
        </p:nvPicPr>
        <p:blipFill>
          <a:blip r:embed="rId6"/>
          <a:srcRect l="0" r="0" t="-394" b="-394"/>
          <a:stretch/>
        </p:blipFill>
        <p:spPr>
          <a:xfrm>
            <a:off x="9144000" y="3619195"/>
            <a:ext cx="3715207" cy="57607"/>
          </a:xfrm>
          <a:prstGeom prst="rect">
            <a:avLst/>
          </a:prstGeom>
        </p:spPr>
      </p:pic>
      <p:pic>
        <p:nvPicPr>
          <p:cNvPr id="12" name="Image 6" descr="gen-dedup-08e156d979fe7604fbf86a32819b79a8.png">    </p:cNvPr>
          <p:cNvPicPr>
            <a:picLocks noChangeAspect="1"/>
          </p:cNvPicPr>
          <p:nvPr/>
        </p:nvPicPr>
        <p:blipFill>
          <a:blip r:embed="rId7"/>
          <a:srcRect l="0" r="0" t="-320" b="-320"/>
          <a:stretch/>
        </p:blipFill>
        <p:spPr>
          <a:xfrm>
            <a:off x="12859207" y="5333695"/>
            <a:ext cx="286207" cy="19202"/>
          </a:xfrm>
          <a:prstGeom prst="rect">
            <a:avLst/>
          </a:prstGeom>
        </p:spPr>
      </p:pic>
      <p:sp>
        <p:nvSpPr>
          <p:cNvPr id="13" name="Text 4"/>
          <p:cNvSpPr txBox="1"/>
          <p:nvPr/>
        </p:nvSpPr>
        <p:spPr>
          <a:xfrm>
            <a:off x="1143000" y="1333195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quatro passos</a:t>
            </a:r>
            <a:endParaRPr lang="en-US" sz="1500" dirty="0"/>
          </a:p>
        </p:txBody>
      </p:sp>
      <p:sp>
        <p:nvSpPr>
          <p:cNvPr id="14" name="Text 5"/>
          <p:cNvSpPr txBox="1"/>
          <p:nvPr/>
        </p:nvSpPr>
        <p:spPr>
          <a:xfrm>
            <a:off x="1143000" y="1714500"/>
            <a:ext cx="1619311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spc="-144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Criando seu Gem</a:t>
            </a:r>
            <a:endParaRPr lang="en-US" sz="7200" dirty="0"/>
          </a:p>
        </p:txBody>
      </p:sp>
      <p:sp>
        <p:nvSpPr>
          <p:cNvPr id="15" name="Text 6"/>
          <p:cNvSpPr txBox="1"/>
          <p:nvPr/>
        </p:nvSpPr>
        <p:spPr>
          <a:xfrm>
            <a:off x="1143000" y="3905402"/>
            <a:ext cx="3715207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0" b="1" spc="-360" kern="0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9000" dirty="0"/>
          </a:p>
        </p:txBody>
      </p:sp>
      <p:sp>
        <p:nvSpPr>
          <p:cNvPr id="16" name="Text 7"/>
          <p:cNvSpPr txBox="1"/>
          <p:nvPr/>
        </p:nvSpPr>
        <p:spPr>
          <a:xfrm>
            <a:off x="1524305" y="5429707"/>
            <a:ext cx="2953512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gemini.google.com</a:t>
            </a:r>
            <a:endParaRPr lang="en-US" sz="1650" dirty="0"/>
          </a:p>
        </p:txBody>
      </p:sp>
      <p:sp>
        <p:nvSpPr>
          <p:cNvPr id="17" name="Text 8"/>
          <p:cNvSpPr txBox="1"/>
          <p:nvPr/>
        </p:nvSpPr>
        <p:spPr>
          <a:xfrm>
            <a:off x="1524305" y="5757062"/>
            <a:ext cx="2953512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Gems → Novo Gem</a:t>
            </a:r>
            <a:endParaRPr lang="en-US" sz="1350" dirty="0"/>
          </a:p>
        </p:txBody>
      </p:sp>
      <p:sp>
        <p:nvSpPr>
          <p:cNvPr id="18" name="Text 9"/>
          <p:cNvSpPr txBox="1"/>
          <p:nvPr/>
        </p:nvSpPr>
        <p:spPr>
          <a:xfrm>
            <a:off x="5143500" y="3905402"/>
            <a:ext cx="3715207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0" b="1" spc="-360" kern="0" dirty="0">
                <a:solidFill>
                  <a:srgbClr val="6B8E4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9000" dirty="0"/>
          </a:p>
        </p:txBody>
      </p:sp>
      <p:sp>
        <p:nvSpPr>
          <p:cNvPr id="19" name="Text 10"/>
          <p:cNvSpPr txBox="1"/>
          <p:nvPr/>
        </p:nvSpPr>
        <p:spPr>
          <a:xfrm>
            <a:off x="5524805" y="5429707"/>
            <a:ext cx="2953512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Nome</a:t>
            </a:r>
            <a:endParaRPr lang="en-US" sz="1650" dirty="0"/>
          </a:p>
        </p:txBody>
      </p:sp>
      <p:sp>
        <p:nvSpPr>
          <p:cNvPr id="20" name="Text 11"/>
          <p:cNvSpPr txBox="1"/>
          <p:nvPr/>
        </p:nvSpPr>
        <p:spPr>
          <a:xfrm>
            <a:off x="5524805" y="5757062"/>
            <a:ext cx="295351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50" i="1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“Estatístico</a:t>
            </a:r>
            <a:pPr algn="ctr" indent="0" marL="0">
              <a:lnSpc>
                <a:spcPct val="120000"/>
              </a:lnSpc>
              <a:buNone/>
            </a:pPr>
            <a:endParaRPr lang="en-US" sz="16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50" i="1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Agroflorestal”</a:t>
            </a:r>
            <a:endParaRPr lang="en-US" sz="1650" dirty="0"/>
          </a:p>
        </p:txBody>
      </p:sp>
      <p:sp>
        <p:nvSpPr>
          <p:cNvPr id="21" name="Text 12"/>
          <p:cNvSpPr txBox="1"/>
          <p:nvPr/>
        </p:nvSpPr>
        <p:spPr>
          <a:xfrm>
            <a:off x="9144000" y="3905402"/>
            <a:ext cx="3715207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0" b="1" spc="-360" kern="0" dirty="0">
                <a:solidFill>
                  <a:srgbClr val="8B6F4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</a:t>
            </a:r>
            <a:endParaRPr lang="en-US" sz="9000" dirty="0"/>
          </a:p>
        </p:txBody>
      </p:sp>
      <p:sp>
        <p:nvSpPr>
          <p:cNvPr id="22" name="Text 13"/>
          <p:cNvSpPr txBox="1"/>
          <p:nvPr/>
        </p:nvSpPr>
        <p:spPr>
          <a:xfrm>
            <a:off x="9525305" y="5429707"/>
            <a:ext cx="2953512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Cole o conteúdo</a:t>
            </a:r>
            <a:endParaRPr lang="en-US" sz="1650" dirty="0"/>
          </a:p>
        </p:txBody>
      </p:sp>
      <p:sp>
        <p:nvSpPr>
          <p:cNvPr id="23" name="Text 14"/>
          <p:cNvSpPr txBox="1"/>
          <p:nvPr/>
        </p:nvSpPr>
        <p:spPr>
          <a:xfrm>
            <a:off x="9525305" y="5757062"/>
            <a:ext cx="295351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A453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gem-unico.md</a:t>
            </a:r>
            <a:endParaRPr lang="en-US" sz="1350" dirty="0"/>
          </a:p>
        </p:txBody>
      </p:sp>
      <p:sp>
        <p:nvSpPr>
          <p:cNvPr id="24" name="Text 15"/>
          <p:cNvSpPr txBox="1"/>
          <p:nvPr/>
        </p:nvSpPr>
        <p:spPr>
          <a:xfrm>
            <a:off x="9525305" y="6014009"/>
            <a:ext cx="29535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 instruções</a:t>
            </a:r>
            <a:endParaRPr lang="en-US" sz="1200" dirty="0"/>
          </a:p>
        </p:txBody>
      </p:sp>
      <p:sp>
        <p:nvSpPr>
          <p:cNvPr id="25" name="Text 16"/>
          <p:cNvSpPr txBox="1"/>
          <p:nvPr/>
        </p:nvSpPr>
        <p:spPr>
          <a:xfrm>
            <a:off x="13144500" y="3905402"/>
            <a:ext cx="40005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0" b="1" spc="-360" kern="0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</a:t>
            </a:r>
            <a:endParaRPr lang="en-US" sz="9000" dirty="0"/>
          </a:p>
        </p:txBody>
      </p:sp>
      <p:sp>
        <p:nvSpPr>
          <p:cNvPr id="26" name="Text 17"/>
          <p:cNvSpPr txBox="1"/>
          <p:nvPr/>
        </p:nvSpPr>
        <p:spPr>
          <a:xfrm>
            <a:off x="13430707" y="5429707"/>
            <a:ext cx="3429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Anexe as skills</a:t>
            </a:r>
            <a:endParaRPr lang="en-US" sz="1650" dirty="0"/>
          </a:p>
        </p:txBody>
      </p:sp>
      <p:sp>
        <p:nvSpPr>
          <p:cNvPr id="27" name="Text 18"/>
          <p:cNvSpPr txBox="1"/>
          <p:nvPr/>
        </p:nvSpPr>
        <p:spPr>
          <a:xfrm>
            <a:off x="13430707" y="5757062"/>
            <a:ext cx="34290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Conhecimento + salvar</a:t>
            </a:r>
            <a:pPr algn="ctr" indent="0" marL="0">
              <a:buNone/>
            </a:pP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testar com um CSV.</a:t>
            </a:r>
            <a:endParaRPr lang="en-US" sz="1350" dirty="0"/>
          </a:p>
        </p:txBody>
      </p:sp>
      <p:sp>
        <p:nvSpPr>
          <p:cNvPr id="28" name="Text 19"/>
          <p:cNvSpPr txBox="1"/>
          <p:nvPr/>
        </p:nvSpPr>
        <p:spPr>
          <a:xfrm>
            <a:off x="1143000" y="7905902"/>
            <a:ext cx="16193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i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Funciona também para </a:t>
            </a:r>
            <a:pPr algn="l" indent="0" marL="0">
              <a:buNone/>
            </a:pPr>
            <a:r>
              <a:rPr lang="en-US" sz="2700" i="1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ChatGPT</a:t>
            </a:r>
            <a:pPr algn="l" indent="0" marL="0">
              <a:buNone/>
            </a:pPr>
            <a:r>
              <a:rPr lang="en-US" sz="2700" i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e </a:t>
            </a:r>
            <a:pPr algn="l" indent="0" marL="0">
              <a:buNone/>
            </a:pPr>
            <a:r>
              <a:rPr lang="en-US" sz="2700" i="1" dirty="0">
                <a:solidFill>
                  <a:srgbClr val="8B6F4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Claude</a:t>
            </a:r>
            <a:pPr algn="l" indent="0" marL="0">
              <a:buNone/>
            </a:pPr>
            <a:r>
              <a:rPr lang="en-US" sz="2700" i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— com pequenas adaptações.</a:t>
            </a:r>
            <a:endParaRPr lang="en-US" sz="2700" dirty="0"/>
          </a:p>
        </p:txBody>
      </p:sp>
      <p:sp>
        <p:nvSpPr>
          <p:cNvPr id="29" name="Text 20"/>
          <p:cNvSpPr txBox="1"/>
          <p:nvPr/>
        </p:nvSpPr>
        <p:spPr>
          <a:xfrm>
            <a:off x="16954805" y="9667951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 / 45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2ED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3810305"/>
            <a:ext cx="5143500" cy="2667305"/>
          </a:xfrm>
          <a:prstGeom prst="roundRect">
            <a:avLst>
              <a:gd name="adj" fmla="val 2160"/>
            </a:avLst>
          </a:prstGeom>
          <a:solidFill>
            <a:srgbClr val="FAF6EC"/>
          </a:solidFill>
          <a:ln w="12700">
            <a:solidFill>
              <a:srgbClr val="DDD7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72707" y="3810305"/>
            <a:ext cx="5143500" cy="2667305"/>
          </a:xfrm>
          <a:prstGeom prst="roundRect">
            <a:avLst>
              <a:gd name="adj" fmla="val 2160"/>
            </a:avLst>
          </a:prstGeom>
          <a:solidFill>
            <a:srgbClr val="FAF6EC"/>
          </a:solidFill>
          <a:ln w="12700">
            <a:solidFill>
              <a:srgbClr val="DDD7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0" y="3810305"/>
            <a:ext cx="5143500" cy="2667305"/>
          </a:xfrm>
          <a:prstGeom prst="roundRect">
            <a:avLst>
              <a:gd name="adj" fmla="val 2160"/>
            </a:avLst>
          </a:prstGeom>
          <a:solidFill>
            <a:srgbClr val="FAF6EC"/>
          </a:solidFill>
          <a:ln w="12700">
            <a:solidFill>
              <a:srgbClr val="DDD7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6762902"/>
            <a:ext cx="5143500" cy="2667305"/>
          </a:xfrm>
          <a:prstGeom prst="roundRect">
            <a:avLst>
              <a:gd name="adj" fmla="val 2160"/>
            </a:avLst>
          </a:prstGeom>
          <a:solidFill>
            <a:srgbClr val="FAF6EC"/>
          </a:solidFill>
          <a:ln w="12700">
            <a:solidFill>
              <a:srgbClr val="DDD7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72707" y="6762902"/>
            <a:ext cx="5143500" cy="2667305"/>
          </a:xfrm>
          <a:prstGeom prst="roundRect">
            <a:avLst>
              <a:gd name="adj" fmla="val 2160"/>
            </a:avLst>
          </a:prstGeom>
          <a:solidFill>
            <a:srgbClr val="FAF6EC"/>
          </a:solidFill>
          <a:ln w="12700">
            <a:solidFill>
              <a:srgbClr val="DDD7C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001500" y="6762902"/>
            <a:ext cx="5143500" cy="2667305"/>
          </a:xfrm>
          <a:prstGeom prst="roundRect">
            <a:avLst>
              <a:gd name="adj" fmla="val 2160"/>
            </a:avLst>
          </a:prstGeom>
          <a:solidFill>
            <a:srgbClr val="FAF6EC"/>
          </a:solidFill>
          <a:ln w="12700">
            <a:solidFill>
              <a:srgbClr val="DDD7C5"/>
            </a:solidFill>
            <a:prstDash val="solid"/>
          </a:ln>
        </p:spPr>
      </p:sp>
      <p:pic>
        <p:nvPicPr>
          <p:cNvPr id="8" name="Image 0" descr="gen-dedup-609ca5620bc91a301e35b29a91fab242.png">    </p:cNvPr>
          <p:cNvPicPr>
            <a:picLocks noChangeAspect="1"/>
          </p:cNvPicPr>
          <p:nvPr/>
        </p:nvPicPr>
        <p:blipFill>
          <a:blip r:embed="rId1"/>
          <a:srcRect l="-385" r="-385" t="0" b="0"/>
          <a:stretch/>
        </p:blipFill>
        <p:spPr>
          <a:xfrm>
            <a:off x="1143000" y="1143000"/>
            <a:ext cx="761695" cy="28346"/>
          </a:xfrm>
          <a:prstGeom prst="rect">
            <a:avLst/>
          </a:prstGeom>
        </p:spPr>
      </p:pic>
      <p:pic>
        <p:nvPicPr>
          <p:cNvPr id="9" name="Image 1" descr="gen-dedup-8a7bccfc367a3679768d99653133ea72.png">    </p:cNvPr>
          <p:cNvPicPr>
            <a:picLocks noChangeAspect="1"/>
          </p:cNvPicPr>
          <p:nvPr/>
        </p:nvPicPr>
        <p:blipFill>
          <a:blip r:embed="rId2"/>
          <a:srcRect l="-394" r="-394" t="0" b="0"/>
          <a:stretch/>
        </p:blipFill>
        <p:spPr>
          <a:xfrm>
            <a:off x="1143000" y="3810305"/>
            <a:ext cx="57607" cy="2667305"/>
          </a:xfrm>
          <a:prstGeom prst="rect">
            <a:avLst/>
          </a:prstGeom>
        </p:spPr>
      </p:pic>
      <p:pic>
        <p:nvPicPr>
          <p:cNvPr id="10" name="Image 2" descr="gen-dedup-c62d608cb2b1f64f811924ceb1b322e1.png">    </p:cNvPr>
          <p:cNvPicPr>
            <a:picLocks noChangeAspect="1"/>
          </p:cNvPicPr>
          <p:nvPr/>
        </p:nvPicPr>
        <p:blipFill>
          <a:blip r:embed="rId3"/>
          <a:srcRect l="-394" r="-394" t="0" b="0"/>
          <a:stretch/>
        </p:blipFill>
        <p:spPr>
          <a:xfrm>
            <a:off x="6572707" y="3810305"/>
            <a:ext cx="57607" cy="2667305"/>
          </a:xfrm>
          <a:prstGeom prst="rect">
            <a:avLst/>
          </a:prstGeom>
        </p:spPr>
      </p:pic>
      <p:pic>
        <p:nvPicPr>
          <p:cNvPr id="11" name="Image 3" descr="gen-dedup-8b648ed1be57243ebf6ca8a5f90a989f.png">    </p:cNvPr>
          <p:cNvPicPr>
            <a:picLocks noChangeAspect="1"/>
          </p:cNvPicPr>
          <p:nvPr/>
        </p:nvPicPr>
        <p:blipFill>
          <a:blip r:embed="rId4"/>
          <a:srcRect l="-394" r="-394" t="0" b="0"/>
          <a:stretch/>
        </p:blipFill>
        <p:spPr>
          <a:xfrm>
            <a:off x="12001500" y="3810305"/>
            <a:ext cx="57607" cy="2667305"/>
          </a:xfrm>
          <a:prstGeom prst="rect">
            <a:avLst/>
          </a:prstGeom>
        </p:spPr>
      </p:pic>
      <p:pic>
        <p:nvPicPr>
          <p:cNvPr id="12" name="Image 4" descr="gen-dedup-940913093336da84ce5025f1362e2017.png">    </p:cNvPr>
          <p:cNvPicPr>
            <a:picLocks noChangeAspect="1"/>
          </p:cNvPicPr>
          <p:nvPr/>
        </p:nvPicPr>
        <p:blipFill>
          <a:blip r:embed="rId5"/>
          <a:srcRect l="-394" r="-394" t="0" b="0"/>
          <a:stretch/>
        </p:blipFill>
        <p:spPr>
          <a:xfrm>
            <a:off x="1143000" y="6762902"/>
            <a:ext cx="57607" cy="2667305"/>
          </a:xfrm>
          <a:prstGeom prst="rect">
            <a:avLst/>
          </a:prstGeom>
        </p:spPr>
      </p:pic>
      <p:pic>
        <p:nvPicPr>
          <p:cNvPr id="13" name="Image 5" descr="gen-dedup-5892844c3564a2d999dc5f5f69a7db6a.png">    </p:cNvPr>
          <p:cNvPicPr>
            <a:picLocks noChangeAspect="1"/>
          </p:cNvPicPr>
          <p:nvPr/>
        </p:nvPicPr>
        <p:blipFill>
          <a:blip r:embed="rId6"/>
          <a:srcRect l="-394" r="-394" t="0" b="0"/>
          <a:stretch/>
        </p:blipFill>
        <p:spPr>
          <a:xfrm>
            <a:off x="6572707" y="6762902"/>
            <a:ext cx="57607" cy="2667305"/>
          </a:xfrm>
          <a:prstGeom prst="rect">
            <a:avLst/>
          </a:prstGeom>
        </p:spPr>
      </p:pic>
      <p:pic>
        <p:nvPicPr>
          <p:cNvPr id="14" name="Image 6" descr="gen-dedup-51d24022762d12c2696c4f9085c20c7e.png">    </p:cNvPr>
          <p:cNvPicPr>
            <a:picLocks noChangeAspect="1"/>
          </p:cNvPicPr>
          <p:nvPr/>
        </p:nvPicPr>
        <p:blipFill>
          <a:blip r:embed="rId7"/>
          <a:srcRect l="-394" r="-394" t="0" b="0"/>
          <a:stretch/>
        </p:blipFill>
        <p:spPr>
          <a:xfrm>
            <a:off x="12001500" y="6762902"/>
            <a:ext cx="57607" cy="2667305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1143000" y="1333195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bloco 7</a:t>
            </a:r>
            <a:endParaRPr lang="en-US" sz="1500" dirty="0"/>
          </a:p>
        </p:txBody>
      </p:sp>
      <p:sp>
        <p:nvSpPr>
          <p:cNvPr id="16" name="Text 7"/>
          <p:cNvSpPr txBox="1"/>
          <p:nvPr/>
        </p:nvSpPr>
        <p:spPr>
          <a:xfrm>
            <a:off x="1143000" y="1714500"/>
            <a:ext cx="1619311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spc="-144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Mão na </a:t>
            </a:r>
            <a:pPr algn="l" indent="0" marL="0">
              <a:buNone/>
            </a:pPr>
            <a:r>
              <a:rPr lang="en-US" sz="7200" i="1" spc="-144" kern="0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massa</a:t>
            </a:r>
            <a:endParaRPr lang="en-US" sz="7200" dirty="0"/>
          </a:p>
        </p:txBody>
      </p:sp>
      <p:sp>
        <p:nvSpPr>
          <p:cNvPr id="17" name="Text 8"/>
          <p:cNvSpPr txBox="1"/>
          <p:nvPr/>
        </p:nvSpPr>
        <p:spPr>
          <a:xfrm>
            <a:off x="1143000" y="2857500"/>
            <a:ext cx="161931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Seis experimentos fictícios, mas plausíveis. Um para cada delineamento clássico.</a:t>
            </a:r>
            <a:endParaRPr lang="en-US" sz="1950" dirty="0"/>
          </a:p>
        </p:txBody>
      </p:sp>
      <p:sp>
        <p:nvSpPr>
          <p:cNvPr id="18" name="Text 9"/>
          <p:cNvSpPr txBox="1"/>
          <p:nvPr/>
        </p:nvSpPr>
        <p:spPr>
          <a:xfrm>
            <a:off x="1429207" y="4095598"/>
            <a:ext cx="4572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2F5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DIC</a:t>
            </a:r>
            <a:endParaRPr lang="en-US" sz="1350" dirty="0"/>
          </a:p>
        </p:txBody>
      </p:sp>
      <p:sp>
        <p:nvSpPr>
          <p:cNvPr id="19" name="Text 10"/>
          <p:cNvSpPr txBox="1"/>
          <p:nvPr/>
        </p:nvSpPr>
        <p:spPr>
          <a:xfrm>
            <a:off x="1429207" y="4390949"/>
            <a:ext cx="457200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Mudas de ipê</a:t>
            </a:r>
            <a:pPr algn="l" indent="0" marL="0">
              <a:lnSpc>
                <a:spcPct val="115000"/>
              </a:lnSpc>
              <a:buNone/>
            </a:pPr>
            <a:endParaRPr lang="en-US" sz="2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em diferentes substratos</a:t>
            </a:r>
            <a:endParaRPr lang="en-US" sz="2250" dirty="0"/>
          </a:p>
        </p:txBody>
      </p:sp>
      <p:sp>
        <p:nvSpPr>
          <p:cNvPr id="20" name="Text 11"/>
          <p:cNvSpPr txBox="1"/>
          <p:nvPr/>
        </p:nvSpPr>
        <p:spPr>
          <a:xfrm>
            <a:off x="6858000" y="4095598"/>
            <a:ext cx="4572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6B8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DBC</a:t>
            </a:r>
            <a:endParaRPr lang="en-US" sz="1350" dirty="0"/>
          </a:p>
        </p:txBody>
      </p:sp>
      <p:sp>
        <p:nvSpPr>
          <p:cNvPr id="21" name="Text 12"/>
          <p:cNvSpPr txBox="1"/>
          <p:nvPr/>
        </p:nvSpPr>
        <p:spPr>
          <a:xfrm>
            <a:off x="6858000" y="4390949"/>
            <a:ext cx="457200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Milho em sistema</a:t>
            </a:r>
            <a:pPr algn="l" indent="0" marL="0">
              <a:lnSpc>
                <a:spcPct val="115000"/>
              </a:lnSpc>
              <a:buNone/>
            </a:pPr>
            <a:endParaRPr lang="en-US" sz="2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de aleias</a:t>
            </a:r>
            <a:endParaRPr lang="en-US" sz="2250" dirty="0"/>
          </a:p>
        </p:txBody>
      </p:sp>
      <p:sp>
        <p:nvSpPr>
          <p:cNvPr id="22" name="Text 13"/>
          <p:cNvSpPr txBox="1"/>
          <p:nvPr/>
        </p:nvSpPr>
        <p:spPr>
          <a:xfrm>
            <a:off x="12287707" y="4095598"/>
            <a:ext cx="4572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FATORIAL</a:t>
            </a:r>
            <a:endParaRPr lang="en-US" sz="1350" dirty="0"/>
          </a:p>
        </p:txBody>
      </p:sp>
      <p:sp>
        <p:nvSpPr>
          <p:cNvPr id="23" name="Text 14"/>
          <p:cNvSpPr txBox="1"/>
          <p:nvPr/>
        </p:nvSpPr>
        <p:spPr>
          <a:xfrm>
            <a:off x="12287707" y="4390949"/>
            <a:ext cx="457200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Espécie × adubação</a:t>
            </a:r>
            <a:pPr algn="l" indent="0" marL="0">
              <a:lnSpc>
                <a:spcPct val="115000"/>
              </a:lnSpc>
              <a:buNone/>
            </a:pPr>
            <a:endParaRPr lang="en-US" sz="2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no viveiro</a:t>
            </a:r>
            <a:endParaRPr lang="en-US" sz="2250" dirty="0"/>
          </a:p>
        </p:txBody>
      </p:sp>
      <p:sp>
        <p:nvSpPr>
          <p:cNvPr id="24" name="Text 15"/>
          <p:cNvSpPr txBox="1"/>
          <p:nvPr/>
        </p:nvSpPr>
        <p:spPr>
          <a:xfrm>
            <a:off x="1429207" y="7048195"/>
            <a:ext cx="4572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B25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PARCELA SUBDIVIDIDA</a:t>
            </a:r>
            <a:endParaRPr lang="en-US" sz="1350" dirty="0"/>
          </a:p>
        </p:txBody>
      </p:sp>
      <p:sp>
        <p:nvSpPr>
          <p:cNvPr id="25" name="Text 16"/>
          <p:cNvSpPr txBox="1"/>
          <p:nvPr/>
        </p:nvSpPr>
        <p:spPr>
          <a:xfrm>
            <a:off x="1429207" y="7343546"/>
            <a:ext cx="457200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Café sombreado</a:t>
            </a:r>
            <a:pPr algn="l" indent="0" marL="0">
              <a:lnSpc>
                <a:spcPct val="115000"/>
              </a:lnSpc>
              <a:buNone/>
            </a:pPr>
            <a:endParaRPr lang="en-US" sz="2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sombreamento × cultivar</a:t>
            </a:r>
            <a:endParaRPr lang="en-US" sz="2250" dirty="0"/>
          </a:p>
        </p:txBody>
      </p:sp>
      <p:sp>
        <p:nvSpPr>
          <p:cNvPr id="26" name="Text 17"/>
          <p:cNvSpPr txBox="1"/>
          <p:nvPr/>
        </p:nvSpPr>
        <p:spPr>
          <a:xfrm>
            <a:off x="6858000" y="7048195"/>
            <a:ext cx="4572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4A6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REGRESSÃO</a:t>
            </a:r>
            <a:endParaRPr lang="en-US" sz="1350" dirty="0"/>
          </a:p>
        </p:txBody>
      </p:sp>
      <p:sp>
        <p:nvSpPr>
          <p:cNvPr id="27" name="Text 18"/>
          <p:cNvSpPr txBox="1"/>
          <p:nvPr/>
        </p:nvSpPr>
        <p:spPr>
          <a:xfrm>
            <a:off x="6858000" y="7343546"/>
            <a:ext cx="457200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Doses de N</a:t>
            </a:r>
            <a:pPr algn="l" indent="0" marL="0">
              <a:lnSpc>
                <a:spcPct val="115000"/>
              </a:lnSpc>
              <a:buNone/>
            </a:pPr>
            <a:endParaRPr lang="en-US" sz="2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em eucalipto</a:t>
            </a:r>
            <a:endParaRPr lang="en-US" sz="2250" dirty="0"/>
          </a:p>
        </p:txBody>
      </p:sp>
      <p:sp>
        <p:nvSpPr>
          <p:cNvPr id="28" name="Text 19"/>
          <p:cNvSpPr txBox="1"/>
          <p:nvPr/>
        </p:nvSpPr>
        <p:spPr>
          <a:xfrm>
            <a:off x="12287707" y="7048195"/>
            <a:ext cx="4572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C792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CONTAGEM</a:t>
            </a:r>
            <a:endParaRPr lang="en-US" sz="1350" dirty="0"/>
          </a:p>
        </p:txBody>
      </p:sp>
      <p:sp>
        <p:nvSpPr>
          <p:cNvPr id="29" name="Text 20"/>
          <p:cNvSpPr txBox="1"/>
          <p:nvPr/>
        </p:nvSpPr>
        <p:spPr>
          <a:xfrm>
            <a:off x="12287707" y="7343546"/>
            <a:ext cx="457200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Pragas em SAF</a:t>
            </a:r>
            <a:pPr algn="l" indent="0" marL="0">
              <a:lnSpc>
                <a:spcPct val="115000"/>
              </a:lnSpc>
              <a:buNone/>
            </a:pPr>
            <a:endParaRPr lang="en-US" sz="2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pressupostos falham</a:t>
            </a:r>
            <a:endParaRPr lang="en-US" sz="2250" dirty="0"/>
          </a:p>
        </p:txBody>
      </p:sp>
      <p:sp>
        <p:nvSpPr>
          <p:cNvPr id="30" name="Text 21"/>
          <p:cNvSpPr txBox="1"/>
          <p:nvPr/>
        </p:nvSpPr>
        <p:spPr>
          <a:xfrm>
            <a:off x="16954805" y="9667951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 / 45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2ED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144500" y="2286000"/>
            <a:ext cx="4000500" cy="4572000"/>
          </a:xfrm>
          <a:prstGeom prst="roundRect">
            <a:avLst>
              <a:gd name="adj" fmla="val 1897"/>
            </a:avLst>
          </a:prstGeom>
          <a:solidFill>
            <a:srgbClr val="2F52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7239305"/>
            <a:ext cx="11811305" cy="1333195"/>
          </a:xfrm>
          <a:prstGeom prst="roundRect">
            <a:avLst>
              <a:gd name="adj" fmla="val 2881"/>
            </a:avLst>
          </a:prstGeom>
          <a:solidFill>
            <a:srgbClr val="FAF6EC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7239305"/>
            <a:ext cx="38405" cy="1333195"/>
          </a:xfrm>
          <a:prstGeom prst="roundRect">
            <a:avLst>
              <a:gd name="adj" fmla="val 99999"/>
            </a:avLst>
          </a:prstGeom>
          <a:solidFill>
            <a:srgbClr val="C79224"/>
          </a:solidFill>
          <a:ln w="12700">
            <a:solidFill>
              <a:srgbClr val="C79224">
                <a:alpha val="0"/>
              </a:srgbClr>
            </a:solidFill>
            <a:prstDash val="solid"/>
          </a:ln>
        </p:spPr>
      </p:sp>
      <p:pic>
        <p:nvPicPr>
          <p:cNvPr id="5" name="Image 0" descr="gen-dedup-609ca5620bc91a301e35b29a91fab242.png">    </p:cNvPr>
          <p:cNvPicPr>
            <a:picLocks noChangeAspect="1"/>
          </p:cNvPicPr>
          <p:nvPr/>
        </p:nvPicPr>
        <p:blipFill>
          <a:blip r:embed="rId1"/>
          <a:srcRect l="-385" r="-385" t="0" b="0"/>
          <a:stretch/>
        </p:blipFill>
        <p:spPr>
          <a:xfrm>
            <a:off x="1143000" y="761695"/>
            <a:ext cx="761695" cy="28346"/>
          </a:xfrm>
          <a:prstGeom prst="rect">
            <a:avLst/>
          </a:prstGeom>
        </p:spPr>
      </p:pic>
      <p:pic>
        <p:nvPicPr>
          <p:cNvPr id="6" name="Image 1" descr="gen-dedup-5b5d954a8065671f720c6675cd080cf9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13525805" y="4095598"/>
            <a:ext cx="571500" cy="1920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952805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exercício 01 · DIC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1333195"/>
            <a:ext cx="1428750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spc="-90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Substratos para </a:t>
            </a:r>
            <a:pPr algn="l" indent="0" marL="0">
              <a:buNone/>
            </a:pPr>
            <a:r>
              <a:rPr lang="en-US" sz="4500" i="1" spc="-90" kern="0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mudas de ipê</a:t>
            </a:r>
            <a:endParaRPr lang="en-US" sz="4500" dirty="0"/>
          </a:p>
        </p:txBody>
      </p:sp>
      <p:pic>
        <p:nvPicPr>
          <p:cNvPr id="9" name="Image 2" descr="gen-dedup-27fad940452660da02443a3a94b8ffe7.png">    </p:cNvPr>
          <p:cNvPicPr>
            <a:picLocks noChangeAspect="1"/>
          </p:cNvPicPr>
          <p:nvPr/>
        </p:nvPicPr>
        <p:blipFill>
          <a:blip r:embed="rId3"/>
          <a:srcRect l="-1" r="-1" t="0" b="0"/>
          <a:stretch/>
        </p:blipFill>
        <p:spPr>
          <a:xfrm>
            <a:off x="1333195" y="2286000"/>
            <a:ext cx="11239805" cy="45720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525805" y="2667305"/>
            <a:ext cx="3429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A8B5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DIC · 5 × 4</a:t>
            </a:r>
            <a:endParaRPr lang="en-US" sz="1350" dirty="0"/>
          </a:p>
        </p:txBody>
      </p:sp>
      <p:sp>
        <p:nvSpPr>
          <p:cNvPr id="11" name="Text 6"/>
          <p:cNvSpPr txBox="1"/>
          <p:nvPr/>
        </p:nvSpPr>
        <p:spPr>
          <a:xfrm>
            <a:off x="13525805" y="2943454"/>
            <a:ext cx="3429000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spc="-54" kern="0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Mudas de</a:t>
            </a:r>
            <a:pPr algn="l" indent="0" marL="0">
              <a:lnSpc>
                <a:spcPct val="105000"/>
              </a:lnSpc>
              <a:buNone/>
            </a:pPr>
            <a:endParaRPr lang="en-US" sz="2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700" b="1" spc="-54" kern="0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ipê-amarelo</a:t>
            </a:r>
            <a:endParaRPr lang="en-US" sz="2700" dirty="0"/>
          </a:p>
        </p:txBody>
      </p:sp>
      <p:sp>
        <p:nvSpPr>
          <p:cNvPr id="12" name="Text 7"/>
          <p:cNvSpPr txBox="1"/>
          <p:nvPr/>
        </p:nvSpPr>
        <p:spPr>
          <a:xfrm>
            <a:off x="13525805" y="4286707"/>
            <a:ext cx="3429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DDD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</a:t>
            </a:r>
            <a:pPr algn="l" indent="0" marL="0">
              <a:buNone/>
            </a:pPr>
            <a:r>
              <a:rPr lang="en-US" sz="1125" dirty="0">
                <a:solidFill>
                  <a:srgbClr val="DDD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substrato</a:t>
            </a:r>
            <a:endParaRPr lang="en-US" sz="1350" dirty="0"/>
          </a:p>
        </p:txBody>
      </p:sp>
      <p:sp>
        <p:nvSpPr>
          <p:cNvPr id="13" name="Text 8"/>
          <p:cNvSpPr txBox="1"/>
          <p:nvPr/>
        </p:nvSpPr>
        <p:spPr>
          <a:xfrm>
            <a:off x="13525805" y="4587545"/>
            <a:ext cx="3429000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34,57</a:t>
            </a:r>
            <a:endParaRPr lang="en-US" sz="4050" dirty="0"/>
          </a:p>
        </p:txBody>
      </p:sp>
      <p:sp>
        <p:nvSpPr>
          <p:cNvPr id="14" name="Text 9"/>
          <p:cNvSpPr txBox="1"/>
          <p:nvPr/>
        </p:nvSpPr>
        <p:spPr>
          <a:xfrm>
            <a:off x="13525805" y="5159045"/>
            <a:ext cx="3429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8B5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valor-p &lt; 0,001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13525805" y="5715000"/>
            <a:ext cx="3429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DDD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13525805" y="5971946"/>
            <a:ext cx="3429000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6,1</a:t>
            </a:r>
            <a:pPr algn="l" indent="0" marL="0">
              <a:buNone/>
            </a:pPr>
            <a:r>
              <a:rPr lang="en-US" sz="2250" b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%</a:t>
            </a:r>
            <a:endParaRPr lang="en-US" sz="4050" dirty="0"/>
          </a:p>
        </p:txBody>
      </p:sp>
      <p:sp>
        <p:nvSpPr>
          <p:cNvPr id="17" name="Text 12"/>
          <p:cNvSpPr txBox="1"/>
          <p:nvPr/>
        </p:nvSpPr>
        <p:spPr>
          <a:xfrm>
            <a:off x="13525805" y="6543446"/>
            <a:ext cx="3429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B5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excelente precisão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1371600" y="7353605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95" kern="0" dirty="0">
                <a:solidFill>
                  <a:srgbClr val="C792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OS DADOS CHEGAM</a:t>
            </a:r>
            <a:endParaRPr lang="en-US" sz="975" dirty="0"/>
          </a:p>
        </p:txBody>
      </p:sp>
      <p:sp>
        <p:nvSpPr>
          <p:cNvPr id="19" name="Text 14"/>
          <p:cNvSpPr txBox="1"/>
          <p:nvPr/>
        </p:nvSpPr>
        <p:spPr>
          <a:xfrm>
            <a:off x="1371600" y="7658100"/>
            <a:ext cx="79251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2A1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substrato,repeticao,altura_cm,diametro_mm terra,1,25.9,3.20 terra,2,23.1,3.26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1143000" y="8953805"/>
            <a:ext cx="1428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Letras iguais na barra significam </a:t>
            </a:r>
            <a:pPr algn="l" indent="0" marL="0">
              <a:buNone/>
            </a:pPr>
            <a:r>
              <a:rPr lang="en-US" sz="1500" b="1" dirty="0">
                <a:solidFill>
                  <a:srgbClr val="2F5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médias estatisticamente iguais</a:t>
            </a:r>
            <a:pPr algn="l" indent="0" marL="0">
              <a:buNone/>
            </a:pPr>
            <a:r>
              <a:rPr lang="en-US" sz="15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pelo teste de Tukey a 5%.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16954805" y="9667951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 / 45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2ED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09ca5620bc91a301e35b29a91fab242.png">    </p:cNvPr>
          <p:cNvPicPr>
            <a:picLocks noChangeAspect="1"/>
          </p:cNvPicPr>
          <p:nvPr/>
        </p:nvPicPr>
        <p:blipFill>
          <a:blip r:embed="rId1"/>
          <a:srcRect l="-385" r="-385" t="0" b="0"/>
          <a:stretch/>
        </p:blipFill>
        <p:spPr>
          <a:xfrm>
            <a:off x="1143000" y="761695"/>
            <a:ext cx="761695" cy="2834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3000" y="952805"/>
            <a:ext cx="1143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exercício 01 · DIC · resultados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1143000" y="1333195"/>
            <a:ext cx="16193110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spc="-81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Resultados no padrão </a:t>
            </a:r>
            <a:pPr algn="l" indent="0" marL="0">
              <a:buNone/>
            </a:pPr>
            <a:r>
              <a:rPr lang="en-US" sz="4050" i="1" spc="-81" kern="0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ABNT</a:t>
            </a:r>
            <a:endParaRPr lang="en-US" sz="405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2286000"/>
            <a:ext cx="10478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Tabela 1 – ANOVA da altura de mudas de ipê-amarelo (DIC, 5 substratos × 4 repetições).</a:t>
            </a:r>
            <a:endParaRPr lang="en-US" sz="15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2667305"/>
          <a:ext cx="10478110" cy="1867205"/>
        </p:xfrm>
        <a:graphic>
          <a:graphicData uri="http://schemas.openxmlformats.org/drawingml/2006/table">
            <a:tbl>
              <a:tblPr/>
              <a:tblGrid>
                <a:gridCol w="2745943"/>
                <a:gridCol w="1309421"/>
                <a:gridCol w="2075688"/>
                <a:gridCol w="2115922"/>
                <a:gridCol w="2230222"/>
              </a:tblGrid>
              <a:tr h="4668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FV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GL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SQ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QM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8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Substrato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515,85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128,96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34,57</a:t>
                      </a:r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B250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**</a:t>
                      </a:r>
                      <a:endParaRPr lang="en-US" sz="1200" dirty="0"/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8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Resíduo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55,95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3,73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8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Total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19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571,81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143000" y="4762195"/>
            <a:ext cx="104781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 = 6,10% · </a:t>
            </a:r>
            <a:pPr algn="l" indent="0" marL="0">
              <a:buNone/>
            </a:pPr>
            <a:r>
              <a:rPr lang="en-US" sz="1063" dirty="0">
                <a:solidFill>
                  <a:srgbClr val="B25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**</a:t>
            </a:r>
            <a:pPr algn="l" indent="0" marL="0">
              <a:buNone/>
            </a:pPr>
            <a:r>
              <a:rPr lang="en-US" sz="1275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significativo a 1% (p &lt; 0,001).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12573000" y="2476195"/>
            <a:ext cx="5147158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b="1" spc="-144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 = </a:t>
            </a:r>
            <a:pPr algn="l" indent="0" marL="0">
              <a:buNone/>
            </a:pPr>
            <a:r>
              <a:rPr lang="en-US" sz="7200" b="1" spc="-144" kern="0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34,57</a:t>
            </a:r>
            <a:endParaRPr lang="en-US" sz="7200" dirty="0"/>
          </a:p>
        </p:txBody>
      </p:sp>
      <p:sp>
        <p:nvSpPr>
          <p:cNvPr id="9" name="Text 5"/>
          <p:cNvSpPr txBox="1"/>
          <p:nvPr/>
        </p:nvSpPr>
        <p:spPr>
          <a:xfrm>
            <a:off x="12573000" y="3562502"/>
            <a:ext cx="45720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C7922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 × 4 · CV 6,1 %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5429707"/>
            <a:ext cx="1600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Tabela 2 – Médias de altura (cm) e teste de Tukey a 5%.</a:t>
            </a:r>
            <a:endParaRPr lang="en-US" sz="1500" dirty="0"/>
          </a:p>
        </p:txBody>
      </p:sp>
      <p:graphicFrame>
        <p:nvGraphicFramePr>
          <p:cNvPr id="6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5810098"/>
          <a:ext cx="10478110" cy="2705710"/>
        </p:xfrm>
        <a:graphic>
          <a:graphicData uri="http://schemas.openxmlformats.org/drawingml/2006/table">
            <a:tbl>
              <a:tblPr/>
              <a:tblGrid>
                <a:gridCol w="5155387"/>
                <a:gridCol w="3367735"/>
                <a:gridCol w="1954073"/>
              </a:tblGrid>
              <a:tr h="450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Substrato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Média (cm)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Letra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0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Composto orgânico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37,40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0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Terra + esterco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36,35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0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Comercial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33,23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0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Terra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26,48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0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Terra + areia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24,98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907" marR="171907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1143000" y="8953805"/>
            <a:ext cx="10478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Nota: médias seguidas pela mesma letra não diferem pelo teste de Tukey a 5%.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1143000" y="9182405"/>
            <a:ext cx="10478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dados fictícios do curso (2026).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16954805" y="9667951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/ 45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D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143000" y="2286000"/>
            <a:ext cx="8382305" cy="1000354"/>
          </a:xfrm>
          <a:prstGeom prst="roundRect">
            <a:avLst>
              <a:gd name="adj" fmla="val 3839"/>
            </a:avLst>
          </a:prstGeom>
          <a:solidFill>
            <a:srgbClr val="FAF6EC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" y="2286000"/>
            <a:ext cx="38405" cy="1000354"/>
          </a:xfrm>
          <a:prstGeom prst="roundRect">
            <a:avLst>
              <a:gd name="adj" fmla="val 99999"/>
            </a:avLst>
          </a:prstGeom>
          <a:solidFill>
            <a:srgbClr val="6B8E4E"/>
          </a:solidFill>
          <a:ln w="12700">
            <a:solidFill>
              <a:srgbClr val="6B8E4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191695" y="3429000"/>
            <a:ext cx="4953305" cy="1904695"/>
          </a:xfrm>
          <a:prstGeom prst="roundRect">
            <a:avLst>
              <a:gd name="adj" fmla="val 3985"/>
            </a:avLst>
          </a:prstGeom>
          <a:solidFill>
            <a:srgbClr val="2F52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1695" y="5715000"/>
            <a:ext cx="4953305" cy="1524305"/>
          </a:xfrm>
          <a:prstGeom prst="roundRect">
            <a:avLst>
              <a:gd name="adj" fmla="val 4979"/>
            </a:avLst>
          </a:prstGeom>
          <a:solidFill>
            <a:srgbClr val="E6DF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gen-dedup-609ca5620bc91a301e35b29a91fab242.png">    </p:cNvPr>
          <p:cNvPicPr>
            <a:picLocks noChangeAspect="1"/>
          </p:cNvPicPr>
          <p:nvPr/>
        </p:nvPicPr>
        <p:blipFill>
          <a:blip r:embed="rId2"/>
          <a:srcRect l="-385" r="-385" t="0" b="0"/>
          <a:stretch/>
        </p:blipFill>
        <p:spPr>
          <a:xfrm>
            <a:off x="1143000" y="761695"/>
            <a:ext cx="761695" cy="28346"/>
          </a:xfrm>
          <a:prstGeom prst="rect">
            <a:avLst/>
          </a:prstGeom>
        </p:spPr>
      </p:pic>
      <p:pic>
        <p:nvPicPr>
          <p:cNvPr id="7" name="Image 1" descr="gen-dedup-62bbc9056a31f244bca4fb8aa697a7d3.png">    </p:cNvPr>
          <p:cNvPicPr>
            <a:picLocks noChangeAspect="1"/>
          </p:cNvPicPr>
          <p:nvPr/>
        </p:nvPicPr>
        <p:blipFill>
          <a:blip r:embed="rId3"/>
          <a:srcRect l="-385" r="-385" t="0" b="0"/>
          <a:stretch/>
        </p:blipFill>
        <p:spPr>
          <a:xfrm>
            <a:off x="1143000" y="5524805"/>
            <a:ext cx="761695" cy="28346"/>
          </a:xfrm>
          <a:prstGeom prst="rect">
            <a:avLst/>
          </a:prstGeom>
        </p:spPr>
      </p:pic>
      <p:pic>
        <p:nvPicPr>
          <p:cNvPr id="8" name="Image 2" descr="gen-dedup-8e4e7b45a288fcbc8cf127e4a4f62dbc.png">    </p:cNvPr>
          <p:cNvPicPr>
            <a:picLocks noChangeAspect="1"/>
          </p:cNvPicPr>
          <p:nvPr/>
        </p:nvPicPr>
        <p:blipFill>
          <a:blip r:embed="rId4"/>
          <a:srcRect l="0" r="0" t="-397" b="-397"/>
          <a:stretch/>
        </p:blipFill>
        <p:spPr>
          <a:xfrm>
            <a:off x="12191695" y="5715000"/>
            <a:ext cx="4953305" cy="57607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143000" y="952805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exercício 02 · DBC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1143000" y="1333195"/>
            <a:ext cx="1428750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spc="-90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Milho em </a:t>
            </a:r>
            <a:pPr algn="l" indent="0" marL="0">
              <a:buNone/>
            </a:pPr>
            <a:r>
              <a:rPr lang="en-US" sz="4500" i="1" spc="-90" kern="0" dirty="0">
                <a:solidFill>
                  <a:srgbClr val="6B8E4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sistema de aleias</a:t>
            </a:r>
            <a:endParaRPr lang="en-US" sz="4500" dirty="0"/>
          </a:p>
        </p:txBody>
      </p:sp>
      <p:sp>
        <p:nvSpPr>
          <p:cNvPr id="11" name="Text 6"/>
          <p:cNvSpPr txBox="1"/>
          <p:nvPr/>
        </p:nvSpPr>
        <p:spPr>
          <a:xfrm>
            <a:off x="1371600" y="2400300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95" kern="0" dirty="0">
                <a:solidFill>
                  <a:srgbClr val="6B8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OS DADOS CHEGAM</a:t>
            </a:r>
            <a:endParaRPr lang="en-US" sz="975" dirty="0"/>
          </a:p>
        </p:txBody>
      </p:sp>
      <p:sp>
        <p:nvSpPr>
          <p:cNvPr id="12" name="Text 7"/>
          <p:cNvSpPr txBox="1"/>
          <p:nvPr/>
        </p:nvSpPr>
        <p:spPr>
          <a:xfrm>
            <a:off x="1371600" y="2590495"/>
            <a:ext cx="601035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E2A1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bloco,cultivar,produtividade_kg_ha 1,BRS_Caimbe,5603 2,BRS_Caimbe,5157</a:t>
            </a:r>
            <a:endParaRPr lang="en-US" sz="1125" dirty="0"/>
          </a:p>
        </p:txBody>
      </p:sp>
      <p:sp>
        <p:nvSpPr>
          <p:cNvPr id="13" name="Text 8"/>
          <p:cNvSpPr txBox="1"/>
          <p:nvPr/>
        </p:nvSpPr>
        <p:spPr>
          <a:xfrm>
            <a:off x="1143000" y="3429000"/>
            <a:ext cx="10478110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96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Bloco entra</a:t>
            </a:r>
            <a:pPr algn="l" indent="0" marL="0">
              <a:lnSpc>
                <a:spcPct val="105000"/>
              </a:lnSpc>
              <a:buNone/>
            </a:pPr>
            <a:endParaRPr lang="en-US" sz="4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800" b="1" i="1" spc="-96" kern="0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no modelo.</a:t>
            </a:r>
            <a:endParaRPr lang="en-US" sz="4800" dirty="0"/>
          </a:p>
        </p:txBody>
      </p:sp>
      <p:sp>
        <p:nvSpPr>
          <p:cNvPr id="14" name="Text 9"/>
          <p:cNvSpPr txBox="1"/>
          <p:nvPr/>
        </p:nvSpPr>
        <p:spPr>
          <a:xfrm>
            <a:off x="1143000" y="5810098"/>
            <a:ext cx="104781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a IA montar o resíduo com </a:t>
            </a:r>
            <a:pPr algn="l" indent="0" marL="0">
              <a:buNone/>
            </a:pPr>
            <a:r>
              <a:rPr lang="en-US" sz="1650" b="1" dirty="0">
                <a:solidFill>
                  <a:srgbClr val="B25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GL</a:t>
            </a:r>
            <a:pPr algn="l" indent="0" marL="0">
              <a:buNone/>
            </a:pPr>
            <a:r>
              <a:rPr lang="en-US" sz="165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ela esqueceu o bloco.</a:t>
            </a:r>
            <a:endParaRPr lang="en-US" sz="1650" dirty="0"/>
          </a:p>
        </p:txBody>
      </p:sp>
      <p:sp>
        <p:nvSpPr>
          <p:cNvPr id="15" name="Text 10"/>
          <p:cNvSpPr txBox="1"/>
          <p:nvPr/>
        </p:nvSpPr>
        <p:spPr>
          <a:xfrm>
            <a:off x="1143000" y="6237122"/>
            <a:ext cx="104781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certo é </a:t>
            </a:r>
            <a:pPr algn="l" indent="0" marL="0">
              <a:buNone/>
            </a:pPr>
            <a:r>
              <a:rPr lang="en-US" sz="1650" b="1" dirty="0">
                <a:solidFill>
                  <a:srgbClr val="2F5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GL</a:t>
            </a:r>
            <a:pPr algn="l" indent="0" marL="0">
              <a:buNone/>
            </a:pPr>
            <a:r>
              <a:rPr lang="en-US" sz="165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(DBC com 5 cultivares e 4 blocos).</a:t>
            </a:r>
            <a:endParaRPr lang="en-US" sz="1650" dirty="0"/>
          </a:p>
        </p:txBody>
      </p:sp>
      <p:sp>
        <p:nvSpPr>
          <p:cNvPr id="16" name="Text 11"/>
          <p:cNvSpPr txBox="1"/>
          <p:nvPr/>
        </p:nvSpPr>
        <p:spPr>
          <a:xfrm>
            <a:off x="12573000" y="3810305"/>
            <a:ext cx="4381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A8B5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</a:t>
            </a:r>
            <a:pPr algn="l" indent="0" marL="0">
              <a:buNone/>
            </a:pPr>
            <a:r>
              <a:rPr lang="en-US" sz="1125" b="1" spc="243" kern="0" dirty="0">
                <a:solidFill>
                  <a:srgbClr val="A8B5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cultivar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12573000" y="4111142"/>
            <a:ext cx="438180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34,69</a:t>
            </a:r>
            <a:endParaRPr lang="en-US" sz="5400" dirty="0"/>
          </a:p>
        </p:txBody>
      </p:sp>
      <p:sp>
        <p:nvSpPr>
          <p:cNvPr id="18" name="Text 13"/>
          <p:cNvSpPr txBox="1"/>
          <p:nvPr/>
        </p:nvSpPr>
        <p:spPr>
          <a:xfrm>
            <a:off x="12573000" y="4853635"/>
            <a:ext cx="4381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DDD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valor-p &lt; 0,001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12573000" y="6001207"/>
            <a:ext cx="4381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12573000" y="6258154"/>
            <a:ext cx="4381805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5,0</a:t>
            </a:r>
            <a:pPr algn="l" indent="0" marL="0">
              <a:buNone/>
            </a:pPr>
            <a:r>
              <a:rPr lang="en-US" sz="27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%</a:t>
            </a:r>
            <a:endParaRPr lang="en-US" sz="4800" dirty="0"/>
          </a:p>
        </p:txBody>
      </p:sp>
      <p:sp>
        <p:nvSpPr>
          <p:cNvPr id="21" name="Text 16"/>
          <p:cNvSpPr txBox="1"/>
          <p:nvPr/>
        </p:nvSpPr>
        <p:spPr>
          <a:xfrm>
            <a:off x="12573000" y="6924751"/>
            <a:ext cx="4381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boa precisão experimental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1143000" y="9048902"/>
            <a:ext cx="1428750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GL do resíduo batem? </a:t>
            </a:r>
            <a:pPr algn="l" indent="0" marL="0">
              <a:buNone/>
            </a:pPr>
            <a:r>
              <a:rPr lang="en-US" sz="2100" b="1" i="1" dirty="0">
                <a:solidFill>
                  <a:srgbClr val="B250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Esperar 12, não 15.</a:t>
            </a:r>
            <a:endParaRPr lang="en-US" sz="2100" dirty="0"/>
          </a:p>
        </p:txBody>
      </p:sp>
      <p:sp>
        <p:nvSpPr>
          <p:cNvPr id="23" name="Text 18"/>
          <p:cNvSpPr txBox="1"/>
          <p:nvPr/>
        </p:nvSpPr>
        <p:spPr>
          <a:xfrm>
            <a:off x="16954805" y="9667951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 / 45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DF"/>
        </a:solidFill>
      </p:bgPr>
    </p:bg>
    <p:spTree>
      <p:nvGrpSpPr>
        <p:cNvPr id="1" name=""/>
        <p:cNvGrpSpPr/>
        <p:nvPr/>
      </p:nvGrpSpPr>
      <p:grpSpPr/>
      <p:pic>
        <p:nvPicPr>
          <p:cNvPr id="2" name="Image 0" descr="gen-dedup-609ca5620bc91a301e35b29a91fab242.png">    </p:cNvPr>
          <p:cNvPicPr>
            <a:picLocks noChangeAspect="1"/>
          </p:cNvPicPr>
          <p:nvPr/>
        </p:nvPicPr>
        <p:blipFill>
          <a:blip r:embed="rId2"/>
          <a:srcRect l="-385" r="-385" t="0" b="0"/>
          <a:stretch/>
        </p:blipFill>
        <p:spPr>
          <a:xfrm>
            <a:off x="1143000" y="761695"/>
            <a:ext cx="761695" cy="2834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3000" y="952805"/>
            <a:ext cx="1143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exercício 02 · DBC · resultados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1143000" y="1333195"/>
            <a:ext cx="1619311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spc="-90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Resultados no padrão </a:t>
            </a:r>
            <a:pPr algn="l" indent="0" marL="0">
              <a:buNone/>
            </a:pPr>
            <a:r>
              <a:rPr lang="en-US" sz="4500" i="1" spc="-90" kern="0" dirty="0">
                <a:solidFill>
                  <a:srgbClr val="6B8E4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ABNT</a:t>
            </a:r>
            <a:endParaRPr lang="en-US" sz="45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2476195"/>
            <a:ext cx="9525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Tabela 3 – ANOVA da produtividade do milho (DBC, 5 cultivares × 4 blocos).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2857500"/>
          <a:ext cx="9525305" cy="2143354"/>
        </p:xfrm>
        <a:graphic>
          <a:graphicData uri="http://schemas.openxmlformats.org/drawingml/2006/table">
            <a:tbl>
              <a:tblPr/>
              <a:tblGrid>
                <a:gridCol w="1938342"/>
                <a:gridCol w="992029"/>
                <a:gridCol w="2475043"/>
                <a:gridCol w="2304981"/>
                <a:gridCol w="1814910"/>
              </a:tblGrid>
              <a:tr h="4286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FV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GL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SQ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QM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6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Cultivar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10.099.915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2.524.979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34,69</a:t>
                      </a:r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B250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**</a:t>
                      </a:r>
                      <a:endParaRPr lang="en-US" sz="1200" dirty="0"/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6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Bloco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1.688.272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562.757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7,73</a:t>
                      </a:r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B250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**</a:t>
                      </a:r>
                      <a:endParaRPr lang="en-US" sz="1200" dirty="0"/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6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Resíduo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873.537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72.795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6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Total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19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12.661.724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143000" y="5333695"/>
            <a:ext cx="9525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 = 5,04% · </a:t>
            </a:r>
            <a:pPr algn="l" indent="0" marL="0">
              <a:buNone/>
            </a:pPr>
            <a:r>
              <a:rPr lang="en-US" sz="1000" dirty="0">
                <a:solidFill>
                  <a:srgbClr val="B25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**</a:t>
            </a:r>
            <a:pPr algn="l" indent="0" marL="0">
              <a:buNone/>
            </a:pPr>
            <a:r>
              <a:rPr lang="en-US" sz="12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significativo a 1%.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2573000" y="2476195"/>
            <a:ext cx="5147158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b="1" spc="-144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 = </a:t>
            </a:r>
            <a:pPr algn="l" indent="0" marL="0">
              <a:buNone/>
            </a:pPr>
            <a:r>
              <a:rPr lang="en-US" sz="7200" b="1" spc="-144" kern="0" dirty="0">
                <a:solidFill>
                  <a:srgbClr val="6B8E4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34,69</a:t>
            </a:r>
            <a:endParaRPr lang="en-US" sz="7200" dirty="0"/>
          </a:p>
        </p:txBody>
      </p:sp>
      <p:sp>
        <p:nvSpPr>
          <p:cNvPr id="9" name="Text 5"/>
          <p:cNvSpPr txBox="1"/>
          <p:nvPr/>
        </p:nvSpPr>
        <p:spPr>
          <a:xfrm>
            <a:off x="12573000" y="3562502"/>
            <a:ext cx="45720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C7922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 × 4 blocos · CV 5,0 %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5905195"/>
            <a:ext cx="1600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Tabela 4 – Médias de produtividade (kg/ha) e teste de Tukey a 5%.</a:t>
            </a:r>
            <a:endParaRPr lang="en-US" sz="15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6286500"/>
          <a:ext cx="9525305" cy="2477110"/>
        </p:xfrm>
        <a:graphic>
          <a:graphicData uri="http://schemas.openxmlformats.org/drawingml/2006/table">
            <a:tbl>
              <a:tblPr/>
              <a:tblGrid>
                <a:gridCol w="5178247"/>
                <a:gridCol w="2310689"/>
                <a:gridCol w="2036369"/>
              </a:tblGrid>
              <a:tr h="4128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Cultivar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Média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Letra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8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Híbrido comercial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6.147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8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BRS Gorutuba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6.130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8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BRS Caimbé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5.213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8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 Bandeirante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4.974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8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Crioulo local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4.291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1143000" y="9048902"/>
            <a:ext cx="1600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Nota: médias seguidas pela mesma letra não diferem entre si pelo teste de Tukey a 5%.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1143000" y="9277502"/>
            <a:ext cx="1600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dados fictícios do curso (2026).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16954805" y="9667951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 / 45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D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143000" y="8287207"/>
            <a:ext cx="10477195" cy="1047902"/>
          </a:xfrm>
          <a:prstGeom prst="roundRect">
            <a:avLst>
              <a:gd name="adj" fmla="val 3665"/>
            </a:avLst>
          </a:prstGeom>
          <a:solidFill>
            <a:srgbClr val="FAF6EC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" y="8287207"/>
            <a:ext cx="38405" cy="1047902"/>
          </a:xfrm>
          <a:prstGeom prst="roundRect">
            <a:avLst>
              <a:gd name="adj" fmla="val 99999"/>
            </a:avLst>
          </a:prstGeom>
          <a:solidFill>
            <a:srgbClr val="8B6F47"/>
          </a:solidFill>
          <a:ln w="12700">
            <a:solidFill>
              <a:srgbClr val="8B6F4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620902" y="3047695"/>
            <a:ext cx="3619195" cy="5715000"/>
          </a:xfrm>
          <a:prstGeom prst="roundRect">
            <a:avLst>
              <a:gd name="adj" fmla="val 2097"/>
            </a:avLst>
          </a:prstGeom>
          <a:solidFill>
            <a:srgbClr val="2F52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gen-dedup-609ca5620bc91a301e35b29a91fab242.png">    </p:cNvPr>
          <p:cNvPicPr>
            <a:picLocks noChangeAspect="1"/>
          </p:cNvPicPr>
          <p:nvPr/>
        </p:nvPicPr>
        <p:blipFill>
          <a:blip r:embed="rId2"/>
          <a:srcRect l="-385" r="-385" t="0" b="0"/>
          <a:stretch/>
        </p:blipFill>
        <p:spPr>
          <a:xfrm>
            <a:off x="1143000" y="761695"/>
            <a:ext cx="761695" cy="28346"/>
          </a:xfrm>
          <a:prstGeom prst="rect">
            <a:avLst/>
          </a:prstGeom>
        </p:spPr>
      </p:pic>
      <p:pic>
        <p:nvPicPr>
          <p:cNvPr id="6" name="Image 1" descr="gen-dedup-5b5d954a8065671f720c6675cd080cf9.png">    </p:cNvPr>
          <p:cNvPicPr>
            <a:picLocks noChangeAspect="1"/>
          </p:cNvPicPr>
          <p:nvPr/>
        </p:nvPicPr>
        <p:blipFill>
          <a:blip r:embed="rId3"/>
          <a:srcRect l="0" r="0" t="-400" b="-400"/>
          <a:stretch/>
        </p:blipFill>
        <p:spPr>
          <a:xfrm>
            <a:off x="14002207" y="5238598"/>
            <a:ext cx="571500" cy="1920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952805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exercício 03 · fatorial 3 × 3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1333195"/>
            <a:ext cx="14287500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spc="-96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Espécie </a:t>
            </a:r>
            <a:pPr algn="l" indent="0" marL="0">
              <a:buNone/>
            </a:pPr>
            <a:r>
              <a:rPr lang="en-US" sz="4800" i="1" spc="-96" kern="0" dirty="0">
                <a:solidFill>
                  <a:srgbClr val="8B6F4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×</a:t>
            </a:r>
            <a:pPr algn="l" indent="0" marL="0">
              <a:buNone/>
            </a:pPr>
            <a:r>
              <a:rPr lang="en-US" sz="4800" spc="-96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adubação</a:t>
            </a:r>
            <a:endParaRPr lang="en-US" sz="4800" dirty="0"/>
          </a:p>
        </p:txBody>
      </p:sp>
      <p:sp>
        <p:nvSpPr>
          <p:cNvPr id="9" name="Text 5"/>
          <p:cNvSpPr txBox="1"/>
          <p:nvPr/>
        </p:nvSpPr>
        <p:spPr>
          <a:xfrm>
            <a:off x="11430000" y="1333195"/>
            <a:ext cx="5715000" cy="1448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i="1" dirty="0">
                <a:solidFill>
                  <a:srgbClr val="B250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Interação</a:t>
            </a:r>
            <a:pPr algn="l" indent="0" marL="0">
              <a:lnSpc>
                <a:spcPct val="120000"/>
              </a:lnSpc>
              <a:buNone/>
            </a:pPr>
            <a:endParaRPr lang="en-US" sz="3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150" i="1" dirty="0">
                <a:solidFill>
                  <a:srgbClr val="B250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significativa:</a:t>
            </a:r>
            <a:pPr algn="l" indent="0" marL="0">
              <a:lnSpc>
                <a:spcPct val="120000"/>
              </a:lnSpc>
              <a:buNone/>
            </a:pPr>
            <a:endParaRPr lang="en-US" sz="3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150" i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desdobrar antes de interpretar.</a:t>
            </a:r>
            <a:endParaRPr lang="en-US" sz="3150" dirty="0"/>
          </a:p>
        </p:txBody>
      </p:sp>
      <p:pic>
        <p:nvPicPr>
          <p:cNvPr id="10" name="Image 2" descr="gen-dedup-dad8c0cdb765d21dcd89ca79eeee2bf1.png">    </p:cNvPr>
          <p:cNvPicPr>
            <a:picLocks noChangeAspect="1"/>
          </p:cNvPicPr>
          <p:nvPr/>
        </p:nvPicPr>
        <p:blipFill>
          <a:blip r:embed="rId4"/>
          <a:srcRect l="-1" r="-1" t="0" b="0"/>
          <a:stretch/>
        </p:blipFill>
        <p:spPr>
          <a:xfrm>
            <a:off x="1143000" y="3047695"/>
            <a:ext cx="11811305" cy="57150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9525305"/>
            <a:ext cx="152403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Mogno africano </a:t>
            </a:r>
            <a:pPr algn="l" indent="0" marL="0">
              <a:buNone/>
            </a:pPr>
            <a:r>
              <a:rPr lang="en-US" sz="1650" b="1" dirty="0">
                <a:solidFill>
                  <a:srgbClr val="2F5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responde</a:t>
            </a:r>
            <a:pPr algn="l" indent="0" marL="0">
              <a:buNone/>
            </a:pPr>
            <a:r>
              <a:rPr lang="en-US" sz="165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ao mineral; angico </a:t>
            </a:r>
            <a:pPr algn="l" indent="0" marL="0">
              <a:buNone/>
            </a:pPr>
            <a:r>
              <a:rPr lang="en-US" sz="1650" b="1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prefere orgânico</a:t>
            </a:r>
            <a:pPr algn="l" indent="0" marL="0">
              <a:buNone/>
            </a:pPr>
            <a:r>
              <a:rPr lang="en-US" sz="165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aroeira </a:t>
            </a:r>
            <a:pPr algn="l" indent="0" marL="0">
              <a:buNone/>
            </a:pPr>
            <a:r>
              <a:rPr lang="en-US" sz="1650" b="1" dirty="0">
                <a:solidFill>
                  <a:srgbClr val="B25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quase não responde</a:t>
            </a:r>
            <a:pPr algn="l" indent="0" marL="0">
              <a:buNone/>
            </a:pPr>
            <a:r>
              <a:rPr lang="en-US" sz="165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50" dirty="0"/>
          </a:p>
        </p:txBody>
      </p:sp>
      <p:sp>
        <p:nvSpPr>
          <p:cNvPr id="12" name="Text 7"/>
          <p:cNvSpPr txBox="1"/>
          <p:nvPr/>
        </p:nvSpPr>
        <p:spPr>
          <a:xfrm>
            <a:off x="1371600" y="8401507"/>
            <a:ext cx="2857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21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OS DADOS CHEGAM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1371600" y="8620049"/>
            <a:ext cx="7487107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E2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especie,adubacao,repeticao,massa_seca_g angico,sem_adubo,1,16.2 angico,sem_adubo,2,16.2</a:t>
            </a:r>
            <a:endParaRPr lang="en-US" sz="1125" dirty="0"/>
          </a:p>
        </p:txBody>
      </p:sp>
      <p:sp>
        <p:nvSpPr>
          <p:cNvPr id="14" name="Text 9"/>
          <p:cNvSpPr txBox="1"/>
          <p:nvPr/>
        </p:nvSpPr>
        <p:spPr>
          <a:xfrm>
            <a:off x="14002207" y="3429000"/>
            <a:ext cx="3048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A8B5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 interação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4002207" y="3791102"/>
            <a:ext cx="304861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15,71</a:t>
            </a:r>
            <a:endParaRPr lang="en-US" sz="4800" dirty="0"/>
          </a:p>
        </p:txBody>
      </p:sp>
      <p:sp>
        <p:nvSpPr>
          <p:cNvPr id="16" name="Text 11"/>
          <p:cNvSpPr txBox="1"/>
          <p:nvPr/>
        </p:nvSpPr>
        <p:spPr>
          <a:xfrm>
            <a:off x="14002207" y="4457700"/>
            <a:ext cx="3048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8B5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valor-p &lt; 0,001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4002207" y="5524805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DDD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mogno africano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14002207" y="5762549"/>
            <a:ext cx="30486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20,2 → 33,6 g</a:t>
            </a:r>
            <a:endParaRPr lang="en-US" sz="2250" dirty="0"/>
          </a:p>
        </p:txBody>
      </p:sp>
      <p:sp>
        <p:nvSpPr>
          <p:cNvPr id="19" name="Text 14"/>
          <p:cNvSpPr txBox="1"/>
          <p:nvPr/>
        </p:nvSpPr>
        <p:spPr>
          <a:xfrm>
            <a:off x="14002207" y="6210605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DDD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angico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14002207" y="6448349"/>
            <a:ext cx="30486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16,0 → 26,0 g</a:t>
            </a:r>
            <a:endParaRPr lang="en-US" sz="2250" dirty="0"/>
          </a:p>
        </p:txBody>
      </p:sp>
      <p:sp>
        <p:nvSpPr>
          <p:cNvPr id="21" name="Text 16"/>
          <p:cNvSpPr txBox="1"/>
          <p:nvPr/>
        </p:nvSpPr>
        <p:spPr>
          <a:xfrm>
            <a:off x="14002207" y="6896405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DDD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aroeira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14002207" y="7134149"/>
            <a:ext cx="3620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15,5 → 17,1 </a:t>
            </a:r>
            <a:pPr algn="l" indent="0" marL="0">
              <a:buNone/>
            </a:pPr>
            <a:r>
              <a:rPr lang="en-US" sz="1500" b="1" i="1" dirty="0">
                <a:solidFill>
                  <a:srgbClr val="A8B58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(não difere)</a:t>
            </a:r>
            <a:endParaRPr lang="en-US" sz="2250" dirty="0"/>
          </a:p>
        </p:txBody>
      </p:sp>
      <p:sp>
        <p:nvSpPr>
          <p:cNvPr id="23" name="Text 18"/>
          <p:cNvSpPr txBox="1"/>
          <p:nvPr/>
        </p:nvSpPr>
        <p:spPr>
          <a:xfrm>
            <a:off x="16954805" y="9667951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 / 45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DF"/>
        </a:solidFill>
      </p:bgPr>
    </p:bg>
    <p:spTree>
      <p:nvGrpSpPr>
        <p:cNvPr id="1" name=""/>
        <p:cNvGrpSpPr/>
        <p:nvPr/>
      </p:nvGrpSpPr>
      <p:grpSpPr/>
      <p:pic>
        <p:nvPicPr>
          <p:cNvPr id="2" name="Image 0" descr="gen-dedup-609ca5620bc91a301e35b29a91fab242.png">    </p:cNvPr>
          <p:cNvPicPr>
            <a:picLocks noChangeAspect="1"/>
          </p:cNvPicPr>
          <p:nvPr/>
        </p:nvPicPr>
        <p:blipFill>
          <a:blip r:embed="rId2"/>
          <a:srcRect l="-385" r="-385" t="0" b="0"/>
          <a:stretch/>
        </p:blipFill>
        <p:spPr>
          <a:xfrm>
            <a:off x="1143000" y="761695"/>
            <a:ext cx="761695" cy="2834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3000" y="952805"/>
            <a:ext cx="1143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exercício 03 · fatorial 3 × 3 · resultados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1143000" y="1333195"/>
            <a:ext cx="1619311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spc="-90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Resultados no padrão </a:t>
            </a:r>
            <a:pPr algn="l" indent="0" marL="0">
              <a:buNone/>
            </a:pPr>
            <a:r>
              <a:rPr lang="en-US" sz="4500" i="1" spc="-90" kern="0" dirty="0">
                <a:solidFill>
                  <a:srgbClr val="8B6F4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ABNT</a:t>
            </a:r>
            <a:endParaRPr lang="en-US" sz="45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2476195"/>
            <a:ext cx="12382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Tabela 5 – ANOVA da massa seca (fatorial 3 × 3, quatro repetições por célula).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2857500"/>
          <a:ext cx="9525305" cy="2800807"/>
        </p:xfrm>
        <a:graphic>
          <a:graphicData uri="http://schemas.openxmlformats.org/drawingml/2006/table">
            <a:tbl>
              <a:tblPr/>
              <a:tblGrid>
                <a:gridCol w="2484425"/>
                <a:gridCol w="1055218"/>
                <a:gridCol w="2267712"/>
                <a:gridCol w="1799539"/>
                <a:gridCol w="1918411"/>
              </a:tblGrid>
              <a:tr h="4668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FV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GL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SQ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QM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8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Espécie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769,62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384,81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111,10</a:t>
                      </a:r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B250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**</a:t>
                      </a:r>
                      <a:endParaRPr lang="en-US" sz="1200" dirty="0"/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8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Adubação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367,60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183,80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53,06</a:t>
                      </a:r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B250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**</a:t>
                      </a:r>
                      <a:endParaRPr lang="en-US" sz="1200" dirty="0"/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8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 × A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217,71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54,43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15,71</a:t>
                      </a:r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B250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**</a:t>
                      </a:r>
                      <a:endParaRPr lang="en-US" sz="1200" dirty="0"/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8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Resíduo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27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93,52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3,46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8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Total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35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1.448,45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143000" y="5667451"/>
            <a:ext cx="10478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 = 8,55%. </a:t>
            </a:r>
            <a:pPr algn="l" indent="0" marL="0">
              <a:buNone/>
            </a:pPr>
            <a:r>
              <a:rPr lang="en-US" sz="1125" dirty="0">
                <a:solidFill>
                  <a:srgbClr val="B25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**</a:t>
            </a:r>
            <a:pPr algn="l" indent="0" marL="0">
              <a:buNone/>
            </a:pPr>
            <a:r>
              <a:rPr lang="en-US" sz="13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significativo a 1%.</a:t>
            </a:r>
            <a:endParaRPr lang="en-US" sz="135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6191402"/>
            <a:ext cx="13335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Tabela 6 – Médias de massa seca (g) — desdobramento.</a:t>
            </a:r>
            <a:endParaRPr lang="en-US" sz="15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6572707"/>
          <a:ext cx="9525305" cy="1828800"/>
        </p:xfrm>
        <a:graphic>
          <a:graphicData uri="http://schemas.openxmlformats.org/drawingml/2006/table">
            <a:tbl>
              <a:tblPr/>
              <a:tblGrid>
                <a:gridCol w="3151937"/>
                <a:gridCol w="2381098"/>
                <a:gridCol w="2022653"/>
                <a:gridCol w="1968703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Espécie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Sem adubo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Orgânico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Mineral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Angico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16,03 bB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26,03 aA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23,43 bA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Aroeira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15,48 bA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17,13 bA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15,58 cA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Mogno-africano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20,23 aC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28,33 aB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33,60 aA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11811305" y="2667305"/>
            <a:ext cx="533461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b="1" spc="-90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</a:t>
            </a:r>
            <a:pPr algn="l" indent="0" marL="0">
              <a:buNone/>
            </a:pPr>
            <a:r>
              <a:rPr lang="en-US" sz="3750" b="1" spc="-90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E×A</a:t>
            </a:r>
            <a:pPr algn="l" indent="0" marL="0">
              <a:buNone/>
            </a:pPr>
            <a:r>
              <a:rPr lang="en-US" sz="4500" b="1" spc="-90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= </a:t>
            </a:r>
            <a:pPr algn="l" indent="0" marL="0">
              <a:buNone/>
            </a:pPr>
            <a:r>
              <a:rPr lang="en-US" sz="4500" b="1" spc="-90" kern="0" dirty="0">
                <a:solidFill>
                  <a:srgbClr val="B250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15,71</a:t>
            </a:r>
            <a:endParaRPr lang="en-US" sz="4500" dirty="0"/>
          </a:p>
        </p:txBody>
      </p:sp>
      <p:sp>
        <p:nvSpPr>
          <p:cNvPr id="11" name="Text 6"/>
          <p:cNvSpPr txBox="1"/>
          <p:nvPr/>
        </p:nvSpPr>
        <p:spPr>
          <a:xfrm>
            <a:off x="11811305" y="3486607"/>
            <a:ext cx="5334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i="1" dirty="0">
                <a:solidFill>
                  <a:srgbClr val="C7922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 × 3 · CV 8,6 %</a:t>
            </a:r>
            <a:endParaRPr lang="en-US" sz="27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9239098"/>
            <a:ext cx="16002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Nota: minúsculas comparam espécies na coluna; maiúsculas comparam adubações na linha (Tukey 5%).</a:t>
            </a:r>
            <a:endParaRPr lang="en-US" sz="1350" dirty="0"/>
          </a:p>
        </p:txBody>
      </p:sp>
      <p:sp>
        <p:nvSpPr>
          <p:cNvPr id="13" name="Text 8"/>
          <p:cNvSpPr txBox="1"/>
          <p:nvPr/>
        </p:nvSpPr>
        <p:spPr>
          <a:xfrm>
            <a:off x="1143000" y="9496044"/>
            <a:ext cx="16002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dados fictícios do curso (2026).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6954805" y="9667951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 / 45</a:t>
            </a:r>
            <a:endParaRPr lang="en-US" sz="13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D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143000" y="2667305"/>
            <a:ext cx="7810805" cy="2286000"/>
          </a:xfrm>
          <a:prstGeom prst="roundRect">
            <a:avLst>
              <a:gd name="adj" fmla="val 3320"/>
            </a:avLst>
          </a:prstGeom>
          <a:solidFill>
            <a:srgbClr val="2F5233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34195" y="2667305"/>
            <a:ext cx="7810805" cy="2286000"/>
          </a:xfrm>
          <a:prstGeom prst="roundRect">
            <a:avLst>
              <a:gd name="adj" fmla="val 3320"/>
            </a:avLst>
          </a:prstGeom>
          <a:solidFill>
            <a:srgbClr val="B2503C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8429854"/>
            <a:ext cx="10287000" cy="1000354"/>
          </a:xfrm>
          <a:prstGeom prst="roundRect">
            <a:avLst>
              <a:gd name="adj" fmla="val 3839"/>
            </a:avLst>
          </a:prstGeom>
          <a:solidFill>
            <a:srgbClr val="FAF6EC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8429854"/>
            <a:ext cx="38405" cy="1000354"/>
          </a:xfrm>
          <a:prstGeom prst="roundRect">
            <a:avLst>
              <a:gd name="adj" fmla="val 99999"/>
            </a:avLst>
          </a:prstGeom>
          <a:solidFill>
            <a:srgbClr val="B2503C"/>
          </a:solidFill>
          <a:ln w="12700">
            <a:solidFill>
              <a:srgbClr val="B2503C">
                <a:alpha val="0"/>
              </a:srgbClr>
            </a:solidFill>
            <a:prstDash val="solid"/>
          </a:ln>
        </p:spPr>
      </p:sp>
      <p:pic>
        <p:nvPicPr>
          <p:cNvPr id="6" name="Image 0" descr="gen-dedup-609ca5620bc91a301e35b29a91fab242.png">    </p:cNvPr>
          <p:cNvPicPr>
            <a:picLocks noChangeAspect="1"/>
          </p:cNvPicPr>
          <p:nvPr/>
        </p:nvPicPr>
        <p:blipFill>
          <a:blip r:embed="rId2"/>
          <a:srcRect l="-385" r="-385" t="0" b="0"/>
          <a:stretch/>
        </p:blipFill>
        <p:spPr>
          <a:xfrm>
            <a:off x="1143000" y="761695"/>
            <a:ext cx="761695" cy="28346"/>
          </a:xfrm>
          <a:prstGeom prst="rect">
            <a:avLst/>
          </a:prstGeom>
        </p:spPr>
      </p:pic>
      <p:pic>
        <p:nvPicPr>
          <p:cNvPr id="7" name="Image 1" descr="gen-dedup-2fe56cb549e2db74a160a55fd7ea311f.png">    </p:cNvPr>
          <p:cNvPicPr>
            <a:picLocks noChangeAspect="1"/>
          </p:cNvPicPr>
          <p:nvPr/>
        </p:nvPicPr>
        <p:blipFill>
          <a:blip r:embed="rId3"/>
          <a:srcRect l="-400" r="-400" t="0" b="0"/>
          <a:stretch/>
        </p:blipFill>
        <p:spPr>
          <a:xfrm>
            <a:off x="1143000" y="2667305"/>
            <a:ext cx="57607" cy="2286000"/>
          </a:xfrm>
          <a:prstGeom prst="rect">
            <a:avLst/>
          </a:prstGeom>
        </p:spPr>
      </p:pic>
      <p:pic>
        <p:nvPicPr>
          <p:cNvPr id="8" name="Image 2" descr="gen-dedup-aa076f28b3abf69f4f88b698c0e9006e.png">    </p:cNvPr>
          <p:cNvPicPr>
            <a:picLocks noChangeAspect="1"/>
          </p:cNvPicPr>
          <p:nvPr/>
        </p:nvPicPr>
        <p:blipFill>
          <a:blip r:embed="rId4"/>
          <a:srcRect l="-400" r="-400" t="0" b="0"/>
          <a:stretch/>
        </p:blipFill>
        <p:spPr>
          <a:xfrm>
            <a:off x="9334195" y="2667305"/>
            <a:ext cx="57607" cy="22860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143000" y="952805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exercício 04 · parcela subdividida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1143000" y="1333195"/>
            <a:ext cx="16193110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spc="-96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Café sombreado · </a:t>
            </a:r>
            <a:pPr algn="l" indent="0" marL="0">
              <a:buNone/>
            </a:pPr>
            <a:r>
              <a:rPr lang="en-US" sz="4800" i="1" spc="-96" kern="0" dirty="0">
                <a:solidFill>
                  <a:srgbClr val="B250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dois erros</a:t>
            </a:r>
            <a:endParaRPr lang="en-US" sz="4800" dirty="0"/>
          </a:p>
        </p:txBody>
      </p:sp>
      <p:sp>
        <p:nvSpPr>
          <p:cNvPr id="11" name="Text 6"/>
          <p:cNvSpPr txBox="1"/>
          <p:nvPr/>
        </p:nvSpPr>
        <p:spPr>
          <a:xfrm>
            <a:off x="1524305" y="3047695"/>
            <a:ext cx="7049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2F5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certo · dois erros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524305" y="3409798"/>
            <a:ext cx="704911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</a:t>
            </a:r>
            <a:pPr algn="l" indent="0" marL="0">
              <a:buNone/>
            </a:pPr>
            <a:r>
              <a:rPr lang="en-US" sz="30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sombreamento</a:t>
            </a:r>
            <a:endParaRPr lang="en-US" sz="3600" dirty="0"/>
          </a:p>
        </p:txBody>
      </p:sp>
      <p:sp>
        <p:nvSpPr>
          <p:cNvPr id="13" name="Text 8"/>
          <p:cNvSpPr txBox="1"/>
          <p:nvPr/>
        </p:nvSpPr>
        <p:spPr>
          <a:xfrm>
            <a:off x="1524305" y="4095598"/>
            <a:ext cx="3620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 sombreamento </a:t>
            </a:r>
            <a:pPr algn="l" indent="0" marL="0">
              <a:buNone/>
            </a:pPr>
            <a:r>
              <a:rPr lang="en-US" sz="150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(erro a)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524305" y="4381805"/>
            <a:ext cx="362011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6,48</a:t>
            </a:r>
            <a:endParaRPr lang="en-US" sz="4800" dirty="0"/>
          </a:p>
        </p:txBody>
      </p:sp>
      <p:sp>
        <p:nvSpPr>
          <p:cNvPr id="15" name="Text 10"/>
          <p:cNvSpPr txBox="1"/>
          <p:nvPr/>
        </p:nvSpPr>
        <p:spPr>
          <a:xfrm>
            <a:off x="5333695" y="4095598"/>
            <a:ext cx="3620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 cultivar </a:t>
            </a:r>
            <a:pPr algn="l" indent="0" marL="0">
              <a:buNone/>
            </a:pPr>
            <a:r>
              <a:rPr lang="en-US" sz="150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(erro b)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5333695" y="4381805"/>
            <a:ext cx="362011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78,61</a:t>
            </a:r>
            <a:endParaRPr lang="en-US" sz="4800" dirty="0"/>
          </a:p>
        </p:txBody>
      </p:sp>
      <p:sp>
        <p:nvSpPr>
          <p:cNvPr id="17" name="Text 12"/>
          <p:cNvSpPr txBox="1"/>
          <p:nvPr/>
        </p:nvSpPr>
        <p:spPr>
          <a:xfrm>
            <a:off x="9715500" y="3047695"/>
            <a:ext cx="7239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B25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 errado · um erro só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715500" y="3409798"/>
            <a:ext cx="723930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</a:t>
            </a:r>
            <a:pPr algn="l" indent="0" marL="0">
              <a:buNone/>
            </a:pPr>
            <a:r>
              <a:rPr lang="en-US" sz="30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sombreamento</a:t>
            </a:r>
            <a:endParaRPr lang="en-US" sz="3600" dirty="0"/>
          </a:p>
        </p:txBody>
      </p:sp>
      <p:sp>
        <p:nvSpPr>
          <p:cNvPr id="19" name="Text 14"/>
          <p:cNvSpPr txBox="1"/>
          <p:nvPr/>
        </p:nvSpPr>
        <p:spPr>
          <a:xfrm>
            <a:off x="9715500" y="4095598"/>
            <a:ext cx="723930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B250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≈ 17,7</a:t>
            </a:r>
            <a:endParaRPr lang="en-US" sz="7200" dirty="0"/>
          </a:p>
        </p:txBody>
      </p:sp>
      <p:sp>
        <p:nvSpPr>
          <p:cNvPr id="20" name="Text 15"/>
          <p:cNvSpPr txBox="1"/>
          <p:nvPr/>
        </p:nvSpPr>
        <p:spPr>
          <a:xfrm>
            <a:off x="9715500" y="5067605"/>
            <a:ext cx="7772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sombreamento “aparece” significativo só porque o erro ficou grande.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1143000" y="5524805"/>
            <a:ext cx="16193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a parcela é montada</a:t>
            </a:r>
            <a:endParaRPr lang="en-US" sz="1500" dirty="0"/>
          </a:p>
        </p:txBody>
      </p:sp>
      <p:pic>
        <p:nvPicPr>
          <p:cNvPr id="22" name="Image 3" descr="gen-dedup-79648a569e506b28410a291206822cce.png">    </p:cNvPr>
          <p:cNvPicPr>
            <a:picLocks noChangeAspect="1"/>
          </p:cNvPicPr>
          <p:nvPr/>
        </p:nvPicPr>
        <p:blipFill>
          <a:blip r:embed="rId5"/>
          <a:srcRect l="-2" r="-2" t="0" b="0"/>
          <a:stretch/>
        </p:blipFill>
        <p:spPr>
          <a:xfrm>
            <a:off x="1143000" y="6001207"/>
            <a:ext cx="7010705" cy="22860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0287000" y="6001207"/>
            <a:ext cx="75438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Estrutura hierárquica: sombreamento </a:t>
            </a:r>
            <a:pPr algn="l" indent="0" marL="0">
              <a:buNone/>
            </a:pPr>
            <a:r>
              <a:rPr lang="en-US" sz="2250" b="1" dirty="0">
                <a:solidFill>
                  <a:srgbClr val="8B6F4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na parcela</a:t>
            </a:r>
            <a:pPr algn="l" indent="0" marL="0">
              <a:buNone/>
            </a:pPr>
            <a:r>
              <a:rPr lang="en-US" sz="225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,</a:t>
            </a:r>
            <a:endParaRPr lang="en-US" sz="2250" dirty="0"/>
          </a:p>
        </p:txBody>
      </p:sp>
      <p:sp>
        <p:nvSpPr>
          <p:cNvPr id="24" name="Text 18"/>
          <p:cNvSpPr txBox="1"/>
          <p:nvPr/>
        </p:nvSpPr>
        <p:spPr>
          <a:xfrm>
            <a:off x="10287000" y="6515100"/>
            <a:ext cx="6858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cultivar </a:t>
            </a:r>
            <a:pPr algn="l" indent="0" marL="0">
              <a:buNone/>
            </a:pPr>
            <a:r>
              <a:rPr lang="en-US" sz="2250" b="1" dirty="0">
                <a:solidFill>
                  <a:srgbClr val="B250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na subparcela.</a:t>
            </a:r>
            <a:endParaRPr lang="en-US" sz="2250" dirty="0"/>
          </a:p>
        </p:txBody>
      </p:sp>
      <p:sp>
        <p:nvSpPr>
          <p:cNvPr id="25" name="Text 19"/>
          <p:cNvSpPr txBox="1"/>
          <p:nvPr/>
        </p:nvSpPr>
        <p:spPr>
          <a:xfrm>
            <a:off x="10287000" y="7086600"/>
            <a:ext cx="685800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combinação tem seu próprio erro experimental. Misturar é erro comum da IA.</a:t>
            </a:r>
            <a:endParaRPr lang="en-US" sz="1650" dirty="0"/>
          </a:p>
        </p:txBody>
      </p:sp>
      <p:sp>
        <p:nvSpPr>
          <p:cNvPr id="26" name="Text 20"/>
          <p:cNvSpPr txBox="1"/>
          <p:nvPr/>
        </p:nvSpPr>
        <p:spPr>
          <a:xfrm>
            <a:off x="1371600" y="8524951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95" kern="0" dirty="0">
                <a:solidFill>
                  <a:srgbClr val="B25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OS DADOS CHEGAM</a:t>
            </a:r>
            <a:endParaRPr lang="en-US" sz="975" dirty="0"/>
          </a:p>
        </p:txBody>
      </p:sp>
      <p:sp>
        <p:nvSpPr>
          <p:cNvPr id="27" name="Text 21"/>
          <p:cNvSpPr txBox="1"/>
          <p:nvPr/>
        </p:nvSpPr>
        <p:spPr>
          <a:xfrm>
            <a:off x="1371600" y="8744407"/>
            <a:ext cx="690646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bloco,sombreamento_pct,cultivar,produtividade_sc_ha 1,0,Catuai_144,28.6 1,0,Arara,30.6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16954805" y="9667951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 / 45</a:t>
            </a:r>
            <a:endParaRPr lang="en-US" sz="13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DF"/>
        </a:solidFill>
      </p:bgPr>
    </p:bg>
    <p:spTree>
      <p:nvGrpSpPr>
        <p:cNvPr id="1" name=""/>
        <p:cNvGrpSpPr/>
        <p:nvPr/>
      </p:nvGrpSpPr>
      <p:grpSpPr/>
      <p:pic>
        <p:nvPicPr>
          <p:cNvPr id="2" name="Image 0" descr="gen-dedup-609ca5620bc91a301e35b29a91fab242.png">    </p:cNvPr>
          <p:cNvPicPr>
            <a:picLocks noChangeAspect="1"/>
          </p:cNvPicPr>
          <p:nvPr/>
        </p:nvPicPr>
        <p:blipFill>
          <a:blip r:embed="rId2"/>
          <a:srcRect l="-385" r="-385" t="0" b="0"/>
          <a:stretch/>
        </p:blipFill>
        <p:spPr>
          <a:xfrm>
            <a:off x="1143000" y="761695"/>
            <a:ext cx="761695" cy="2834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3000" y="952805"/>
            <a:ext cx="1143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exercício 04 · parcela subdividida · resultados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1143000" y="1333195"/>
            <a:ext cx="1619311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spc="-90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Resultados no padrão </a:t>
            </a:r>
            <a:pPr algn="l" indent="0" marL="0">
              <a:buNone/>
            </a:pPr>
            <a:r>
              <a:rPr lang="en-US" sz="4500" i="1" spc="-90" kern="0" dirty="0">
                <a:solidFill>
                  <a:srgbClr val="B250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ABNT</a:t>
            </a:r>
            <a:endParaRPr lang="en-US" sz="45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2476195"/>
            <a:ext cx="12382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Tabela 7 – ANOVA da produtividade do café sombreado (parcela subdividida).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2857500"/>
          <a:ext cx="9525305" cy="3410712"/>
        </p:xfrm>
        <a:graphic>
          <a:graphicData uri="http://schemas.openxmlformats.org/drawingml/2006/table">
            <a:tbl>
              <a:tblPr/>
              <a:tblGrid>
                <a:gridCol w="3262579"/>
                <a:gridCol w="1043330"/>
                <a:gridCol w="1826057"/>
                <a:gridCol w="1652321"/>
                <a:gridCol w="1740103"/>
              </a:tblGrid>
              <a:tr h="426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FV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GL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SQ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QM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Sombreamento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121,72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60,86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6,48</a:t>
                      </a:r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B250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*</a:t>
                      </a:r>
                      <a:endParaRPr lang="en-US" sz="1200" dirty="0"/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Bloco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123,36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41,12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4,38</a:t>
                      </a:r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B6F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ns</a:t>
                      </a:r>
                      <a:endParaRPr lang="en-US" sz="1200" dirty="0"/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Erro (a)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56,38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9,40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Cultivar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228,44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114,22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78,61</a:t>
                      </a:r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B250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**</a:t>
                      </a:r>
                      <a:endParaRPr lang="en-US" sz="1200" dirty="0"/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 × C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34,68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8,67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5,97</a:t>
                      </a:r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B250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**</a:t>
                      </a:r>
                      <a:endParaRPr lang="en-US" sz="1200" dirty="0"/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Erro (b)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26,15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1,45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Total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35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590,73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143000" y="6400800"/>
            <a:ext cx="104781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</a:t>
            </a:r>
            <a:pPr algn="l" indent="0" marL="0">
              <a:buNone/>
            </a:pPr>
            <a:r>
              <a:rPr lang="en-US" sz="10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9,47% · CV</a:t>
            </a:r>
            <a:pPr algn="l" indent="0" marL="0">
              <a:buNone/>
            </a:pPr>
            <a:r>
              <a:rPr lang="en-US" sz="10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3,72%. </a:t>
            </a:r>
            <a:pPr algn="l" indent="0" marL="0">
              <a:buNone/>
            </a:pPr>
            <a:r>
              <a:rPr lang="en-US" sz="1000" dirty="0">
                <a:solidFill>
                  <a:srgbClr val="B25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</a:t>
            </a:r>
            <a:pPr algn="l" indent="0" marL="0">
              <a:buNone/>
            </a:pPr>
            <a:r>
              <a:rPr lang="en-US" sz="12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5%, </a:t>
            </a:r>
            <a:pPr algn="l" indent="0" marL="0">
              <a:buNone/>
            </a:pPr>
            <a:r>
              <a:rPr lang="en-US" sz="1000" dirty="0">
                <a:solidFill>
                  <a:srgbClr val="B25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**</a:t>
            </a:r>
            <a:pPr algn="l" indent="0" marL="0">
              <a:buNone/>
            </a:pPr>
            <a:r>
              <a:rPr lang="en-US" sz="12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1%, ns não significativo.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6905549"/>
            <a:ext cx="13335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Tabela 8 – Produtividade média (sc/ha).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7286854"/>
          <a:ext cx="8572500" cy="1828800"/>
        </p:xfrm>
        <a:graphic>
          <a:graphicData uri="http://schemas.openxmlformats.org/drawingml/2006/table">
            <a:tbl>
              <a:tblPr/>
              <a:tblGrid>
                <a:gridCol w="2510028"/>
                <a:gridCol w="1933956"/>
                <a:gridCol w="2177186"/>
                <a:gridCol w="195133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Cultivar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0%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30%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50%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Arara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33,15 a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35,75 a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36,98 a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Catuaí 144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31,05 a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34,63 ab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32,28 b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Topázio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25,45 b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32,48 b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29,50 c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11811305" y="2667305"/>
            <a:ext cx="6374282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b="1" spc="-90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</a:t>
            </a:r>
            <a:pPr algn="l" indent="0" marL="0">
              <a:buNone/>
            </a:pPr>
            <a:r>
              <a:rPr lang="en-US" sz="3750" b="1" spc="-90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cultivar</a:t>
            </a:r>
            <a:pPr algn="l" indent="0" marL="0">
              <a:buNone/>
            </a:pPr>
            <a:r>
              <a:rPr lang="en-US" sz="4500" b="1" spc="-90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= </a:t>
            </a:r>
            <a:pPr algn="l" indent="0" marL="0">
              <a:buNone/>
            </a:pPr>
            <a:r>
              <a:rPr lang="en-US" sz="4500" b="1" spc="-90" kern="0" dirty="0">
                <a:solidFill>
                  <a:srgbClr val="B250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78,61</a:t>
            </a:r>
            <a:endParaRPr lang="en-US" sz="4500" dirty="0"/>
          </a:p>
        </p:txBody>
      </p:sp>
      <p:sp>
        <p:nvSpPr>
          <p:cNvPr id="11" name="Text 6"/>
          <p:cNvSpPr txBox="1"/>
          <p:nvPr/>
        </p:nvSpPr>
        <p:spPr>
          <a:xfrm>
            <a:off x="11811305" y="3486607"/>
            <a:ext cx="5334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C7922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 sombreamento = 6,48</a:t>
            </a:r>
            <a:endParaRPr lang="en-US" sz="24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9430207"/>
            <a:ext cx="16002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Nota: minúsculas comparam cultivares na coluna (Tukey 5%).</a:t>
            </a:r>
            <a:endParaRPr lang="en-US" sz="1350" dirty="0"/>
          </a:p>
        </p:txBody>
      </p:sp>
      <p:sp>
        <p:nvSpPr>
          <p:cNvPr id="13" name="Text 8"/>
          <p:cNvSpPr txBox="1"/>
          <p:nvPr/>
        </p:nvSpPr>
        <p:spPr>
          <a:xfrm>
            <a:off x="1143000" y="9687154"/>
            <a:ext cx="16002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dados fictícios do curso (2026).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6954805" y="9667951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 / 45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D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3811098" y="4095598"/>
            <a:ext cx="3619195" cy="4953305"/>
          </a:xfrm>
          <a:prstGeom prst="roundRect">
            <a:avLst>
              <a:gd name="adj" fmla="val 2097"/>
            </a:avLst>
          </a:prstGeom>
          <a:solidFill>
            <a:srgbClr val="1E2A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8191195"/>
            <a:ext cx="10287000" cy="1047902"/>
          </a:xfrm>
          <a:prstGeom prst="roundRect">
            <a:avLst>
              <a:gd name="adj" fmla="val 3665"/>
            </a:avLst>
          </a:prstGeom>
          <a:solidFill>
            <a:srgbClr val="FAF6EC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8191195"/>
            <a:ext cx="38405" cy="1047902"/>
          </a:xfrm>
          <a:prstGeom prst="roundRect">
            <a:avLst>
              <a:gd name="adj" fmla="val 99999"/>
            </a:avLst>
          </a:prstGeom>
          <a:solidFill>
            <a:srgbClr val="4A6B49"/>
          </a:solidFill>
          <a:ln w="12700">
            <a:solidFill>
              <a:srgbClr val="4A6B49">
                <a:alpha val="0"/>
              </a:srgbClr>
            </a:solidFill>
            <a:prstDash val="solid"/>
          </a:ln>
        </p:spPr>
      </p:sp>
      <p:pic>
        <p:nvPicPr>
          <p:cNvPr id="5" name="Image 0" descr="gen-dedup-609ca5620bc91a301e35b29a91fab242.png">    </p:cNvPr>
          <p:cNvPicPr>
            <a:picLocks noChangeAspect="1"/>
          </p:cNvPicPr>
          <p:nvPr/>
        </p:nvPicPr>
        <p:blipFill>
          <a:blip r:embed="rId2"/>
          <a:srcRect l="-385" r="-385" t="0" b="0"/>
          <a:stretch/>
        </p:blipFill>
        <p:spPr>
          <a:xfrm>
            <a:off x="1143000" y="761695"/>
            <a:ext cx="761695" cy="28346"/>
          </a:xfrm>
          <a:prstGeom prst="rect">
            <a:avLst/>
          </a:prstGeom>
        </p:spPr>
      </p:pic>
      <p:pic>
        <p:nvPicPr>
          <p:cNvPr id="6" name="Image 1" descr="gen-dedup-5b5d954a8065671f720c6675cd080cf9.png">    </p:cNvPr>
          <p:cNvPicPr>
            <a:picLocks noChangeAspect="1"/>
          </p:cNvPicPr>
          <p:nvPr/>
        </p:nvPicPr>
        <p:blipFill>
          <a:blip r:embed="rId3"/>
          <a:srcRect l="0" r="0" t="-400" b="-400"/>
          <a:stretch/>
        </p:blipFill>
        <p:spPr>
          <a:xfrm>
            <a:off x="14097305" y="7048195"/>
            <a:ext cx="571500" cy="1920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952805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exercício 05 · regressão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1333195"/>
            <a:ext cx="14287500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spc="-96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Doses de </a:t>
            </a:r>
            <a:pPr algn="l" indent="0" marL="0">
              <a:buNone/>
            </a:pPr>
            <a:r>
              <a:rPr lang="en-US" sz="4800" i="1" spc="-96" kern="0" dirty="0">
                <a:solidFill>
                  <a:srgbClr val="4A6B49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nitrogênio</a:t>
            </a:r>
            <a:pPr algn="l" indent="0" marL="0">
              <a:buNone/>
            </a:pPr>
            <a:r>
              <a:rPr lang="en-US" sz="4800" spc="-96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no eucalipto</a:t>
            </a:r>
            <a:endParaRPr lang="en-US" sz="4800" dirty="0"/>
          </a:p>
        </p:txBody>
      </p:sp>
      <p:sp>
        <p:nvSpPr>
          <p:cNvPr id="9" name="Text 5"/>
          <p:cNvSpPr txBox="1"/>
          <p:nvPr/>
        </p:nvSpPr>
        <p:spPr>
          <a:xfrm>
            <a:off x="13811098" y="1333195"/>
            <a:ext cx="3620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fator quantitativo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3811098" y="1695298"/>
            <a:ext cx="4527194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300" b="1" spc="-126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Regressão</a:t>
            </a:r>
            <a:endParaRPr lang="en-US" sz="6300" dirty="0"/>
          </a:p>
        </p:txBody>
      </p:sp>
      <p:sp>
        <p:nvSpPr>
          <p:cNvPr id="11" name="Text 7"/>
          <p:cNvSpPr txBox="1"/>
          <p:nvPr/>
        </p:nvSpPr>
        <p:spPr>
          <a:xfrm>
            <a:off x="13811098" y="2553005"/>
            <a:ext cx="3620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i="1" dirty="0">
                <a:solidFill>
                  <a:srgbClr val="4A6B49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não é Tukey.</a:t>
            </a:r>
            <a:endParaRPr lang="en-US" sz="2700" dirty="0"/>
          </a:p>
        </p:txBody>
      </p:sp>
      <p:pic>
        <p:nvPicPr>
          <p:cNvPr id="12" name="Image 2" descr="gen-dedup-32b97d83628061305348a883afebd4e0.png">    </p:cNvPr>
          <p:cNvPicPr>
            <a:picLocks noChangeAspect="1"/>
          </p:cNvPicPr>
          <p:nvPr/>
        </p:nvPicPr>
        <p:blipFill>
          <a:blip r:embed="rId4"/>
          <a:srcRect l="0" r="0" t="-3" b="-3"/>
          <a:stretch/>
        </p:blipFill>
        <p:spPr>
          <a:xfrm>
            <a:off x="1143000" y="2667305"/>
            <a:ext cx="10039198" cy="533369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097305" y="4476902"/>
            <a:ext cx="3048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A8B5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resumo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4097305" y="4953305"/>
            <a:ext cx="3048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DD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Doses crescem,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4097305" y="5352898"/>
            <a:ext cx="30486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resposta </a:t>
            </a:r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C7922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sobe,</a:t>
            </a:r>
            <a:pPr algn="l" indent="0" marL="0">
              <a:lnSpc>
                <a:spcPct val="110000"/>
              </a:lnSpc>
              <a:buNone/>
            </a:pP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depois </a:t>
            </a:r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B250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desce.</a:t>
            </a:r>
            <a:endParaRPr lang="en-US" sz="2400" dirty="0"/>
          </a:p>
        </p:txBody>
      </p:sp>
      <p:sp>
        <p:nvSpPr>
          <p:cNvPr id="16" name="Text 11"/>
          <p:cNvSpPr txBox="1"/>
          <p:nvPr/>
        </p:nvSpPr>
        <p:spPr>
          <a:xfrm>
            <a:off x="14097305" y="7334402"/>
            <a:ext cx="3048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DD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dose técnica ótima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4097305" y="7638898"/>
            <a:ext cx="304861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171 </a:t>
            </a:r>
            <a:pPr algn="l" indent="0" marL="0">
              <a:buNone/>
            </a:pPr>
            <a:r>
              <a:rPr lang="en-US" sz="1800" b="1" i="1" dirty="0">
                <a:solidFill>
                  <a:srgbClr val="A8B58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kg/ha</a:t>
            </a:r>
            <a:endParaRPr lang="en-US" sz="3900" dirty="0"/>
          </a:p>
        </p:txBody>
      </p:sp>
      <p:sp>
        <p:nvSpPr>
          <p:cNvPr id="18" name="Text 13"/>
          <p:cNvSpPr txBox="1"/>
          <p:nvPr/>
        </p:nvSpPr>
        <p:spPr>
          <a:xfrm>
            <a:off x="14097305" y="8268005"/>
            <a:ext cx="30486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i="1" dirty="0">
                <a:solidFill>
                  <a:srgbClr val="C7922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≈ 60 </a:t>
            </a:r>
            <a:pPr algn="l" indent="0" marL="0">
              <a:buNone/>
            </a:pPr>
            <a:r>
              <a:rPr lang="en-US" sz="1650" i="1" dirty="0">
                <a:solidFill>
                  <a:srgbClr val="A8B58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m³/ha</a:t>
            </a:r>
            <a:endParaRPr lang="en-US" sz="3150" dirty="0"/>
          </a:p>
        </p:txBody>
      </p:sp>
      <p:sp>
        <p:nvSpPr>
          <p:cNvPr id="19" name="Text 14"/>
          <p:cNvSpPr txBox="1"/>
          <p:nvPr/>
        </p:nvSpPr>
        <p:spPr>
          <a:xfrm>
            <a:off x="1371600" y="8305495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95" kern="0" dirty="0">
                <a:solidFill>
                  <a:srgbClr val="4A6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OS DADOS CHEGAM</a:t>
            </a:r>
            <a:endParaRPr lang="en-US" sz="975" dirty="0"/>
          </a:p>
        </p:txBody>
      </p:sp>
      <p:sp>
        <p:nvSpPr>
          <p:cNvPr id="20" name="Text 15"/>
          <p:cNvSpPr txBox="1"/>
          <p:nvPr/>
        </p:nvSpPr>
        <p:spPr>
          <a:xfrm>
            <a:off x="1371600" y="8544154"/>
            <a:ext cx="425836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dose_n_kg_ha,repeticao,volume_m3_ha 0,1,41.9 0,2,42.4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1143000" y="9430207"/>
            <a:ext cx="16193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Acima de 171 kg/ha, o nitrogênio extra já não paga o custo — é a “dose de máxima eficiência técnica”.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16954805" y="9667951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 / 45</a:t>
            </a:r>
            <a:endParaRPr lang="en-US" sz="13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D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2573000" y="5333695"/>
            <a:ext cx="4572000" cy="1904695"/>
          </a:xfrm>
          <a:prstGeom prst="roundRect">
            <a:avLst>
              <a:gd name="adj" fmla="val 3985"/>
            </a:avLst>
          </a:prstGeom>
          <a:solidFill>
            <a:srgbClr val="1E2A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gen-dedup-609ca5620bc91a301e35b29a91fab242.png">    </p:cNvPr>
          <p:cNvPicPr>
            <a:picLocks noChangeAspect="1"/>
          </p:cNvPicPr>
          <p:nvPr/>
        </p:nvPicPr>
        <p:blipFill>
          <a:blip r:embed="rId2"/>
          <a:srcRect l="-385" r="-385" t="0" b="0"/>
          <a:stretch/>
        </p:blipFill>
        <p:spPr>
          <a:xfrm>
            <a:off x="1143000" y="761695"/>
            <a:ext cx="761695" cy="2834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43000" y="952805"/>
            <a:ext cx="1143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exercício 05 · regressão · resultados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1333195"/>
            <a:ext cx="1619311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spc="-90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Resultados no padrão </a:t>
            </a:r>
            <a:pPr algn="l" indent="0" marL="0">
              <a:buNone/>
            </a:pPr>
            <a:r>
              <a:rPr lang="en-US" sz="4500" i="1" spc="-90" kern="0" dirty="0">
                <a:solidFill>
                  <a:srgbClr val="4A6B49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ABNT</a:t>
            </a:r>
            <a:endParaRPr lang="en-US" sz="45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2476195"/>
            <a:ext cx="9525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Tabela 9 – ANOVA com decomposição polinomial (volume de eucalipto).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2857500"/>
          <a:ext cx="9525305" cy="2419502"/>
        </p:xfrm>
        <a:graphic>
          <a:graphicData uri="http://schemas.openxmlformats.org/drawingml/2006/table">
            <a:tbl>
              <a:tblPr/>
              <a:tblGrid>
                <a:gridCol w="3429000"/>
                <a:gridCol w="919886"/>
                <a:gridCol w="1700784"/>
                <a:gridCol w="1700784"/>
                <a:gridCol w="1774850"/>
              </a:tblGrid>
              <a:tr h="4032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75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FV</a:t>
                      </a:r>
                      <a:endParaRPr lang="en-US" sz="15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75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GL</a:t>
                      </a:r>
                      <a:endParaRPr lang="en-US" sz="15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75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SQ</a:t>
                      </a:r>
                      <a:endParaRPr lang="en-US" sz="15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75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QM</a:t>
                      </a:r>
                      <a:endParaRPr lang="en-US" sz="15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75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</a:t>
                      </a:r>
                      <a:endParaRPr lang="en-US" sz="15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2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75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Doses</a:t>
                      </a:r>
                      <a:endParaRPr lang="en-US" sz="15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75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5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75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985,30</a:t>
                      </a:r>
                      <a:endParaRPr lang="en-US" sz="15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75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246,33</a:t>
                      </a:r>
                      <a:endParaRPr lang="en-US" sz="15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75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32,55</a:t>
                      </a:r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50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**</a:t>
                      </a:r>
                      <a:endParaRPr lang="en-US" sz="1200" dirty="0"/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2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75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Efeito linear</a:t>
                      </a:r>
                      <a:endParaRPr lang="en-US" sz="15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75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5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75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834,48</a:t>
                      </a:r>
                      <a:endParaRPr lang="en-US" sz="15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75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834,48</a:t>
                      </a:r>
                      <a:endParaRPr lang="en-US" sz="15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75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110,27</a:t>
                      </a:r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50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**</a:t>
                      </a:r>
                      <a:endParaRPr lang="en-US" sz="1200" dirty="0"/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2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75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Efeito quadrático</a:t>
                      </a:r>
                      <a:endParaRPr lang="en-US" sz="15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75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5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75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143,04</a:t>
                      </a:r>
                      <a:endParaRPr lang="en-US" sz="15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75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143,04</a:t>
                      </a:r>
                      <a:endParaRPr lang="en-US" sz="15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75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18,90</a:t>
                      </a:r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50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**</a:t>
                      </a:r>
                      <a:endParaRPr lang="en-US" sz="1200" dirty="0"/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2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75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Desvios</a:t>
                      </a:r>
                      <a:endParaRPr lang="en-US" sz="15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75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5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75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7,78</a:t>
                      </a:r>
                      <a:endParaRPr lang="en-US" sz="15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75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3,89</a:t>
                      </a:r>
                      <a:endParaRPr lang="en-US" sz="15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75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0,51</a:t>
                      </a:r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8B6F4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ns</a:t>
                      </a:r>
                      <a:endParaRPr lang="en-US" sz="1200" dirty="0"/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2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75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Resíduo</a:t>
                      </a:r>
                      <a:endParaRPr lang="en-US" sz="15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75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</a:t>
                      </a:r>
                      <a:endParaRPr lang="en-US" sz="15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75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113,52</a:t>
                      </a:r>
                      <a:endParaRPr lang="en-US" sz="15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75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7,57</a:t>
                      </a:r>
                      <a:endParaRPr lang="en-US" sz="15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5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1143000" y="5619902"/>
            <a:ext cx="9525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 = 5,14% · </a:t>
            </a:r>
            <a:pPr algn="l" indent="0" marL="0">
              <a:buNone/>
            </a:pPr>
            <a:r>
              <a:rPr lang="en-US" sz="1000" dirty="0">
                <a:solidFill>
                  <a:srgbClr val="B25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**</a:t>
            </a:r>
            <a:pPr algn="l" indent="0" marL="0">
              <a:buNone/>
            </a:pPr>
            <a:r>
              <a:rPr lang="en-US" sz="12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significativo a 1%; ns não significativo.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6096305"/>
            <a:ext cx="9525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Tabela 10 – Médias de volume (m³/ha).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6476695"/>
          <a:ext cx="6096305" cy="2362810"/>
        </p:xfrm>
        <a:graphic>
          <a:graphicData uri="http://schemas.openxmlformats.org/drawingml/2006/table">
            <a:tbl>
              <a:tblPr/>
              <a:tblGrid>
                <a:gridCol w="2907792"/>
                <a:gridCol w="3188513"/>
              </a:tblGrid>
              <a:tr h="39380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Dose (kg/ha)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Média (m³/ha)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80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41,4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80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50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50,4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80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56,0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80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150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60,8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80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200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59,0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12573000" y="2667305"/>
            <a:ext cx="457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40" kern="0" dirty="0">
                <a:solidFill>
                  <a:srgbClr val="4A6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ajuste quadrático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12573000" y="2952598"/>
            <a:ext cx="4572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i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ŷ = 41,16 + 0,2192x</a:t>
            </a:r>
            <a:pPr algn="l" indent="0" marL="0">
              <a:lnSpc>
                <a:spcPct val="105000"/>
              </a:lnSpc>
              <a:buNone/>
            </a:pPr>
            <a:endParaRPr lang="en-US" sz="3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000" i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− 0,000639x²</a:t>
            </a:r>
            <a:endParaRPr lang="en-US" sz="3000" dirty="0"/>
          </a:p>
        </p:txBody>
      </p:sp>
      <p:sp>
        <p:nvSpPr>
          <p:cNvPr id="13" name="Text 8"/>
          <p:cNvSpPr txBox="1"/>
          <p:nvPr/>
        </p:nvSpPr>
        <p:spPr>
          <a:xfrm>
            <a:off x="12573000" y="3962095"/>
            <a:ext cx="45720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4A6B49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R² = </a:t>
            </a:r>
            <a:pPr algn="l" indent="0" marL="0">
              <a:buNone/>
            </a:pPr>
            <a:r>
              <a:rPr lang="en-US" sz="255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0,99</a:t>
            </a:r>
            <a:endParaRPr lang="en-US" sz="2550" dirty="0"/>
          </a:p>
        </p:txBody>
      </p:sp>
      <p:sp>
        <p:nvSpPr>
          <p:cNvPr id="14" name="Text 9"/>
          <p:cNvSpPr txBox="1"/>
          <p:nvPr/>
        </p:nvSpPr>
        <p:spPr>
          <a:xfrm>
            <a:off x="12954305" y="5524805"/>
            <a:ext cx="4000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40" kern="0" dirty="0">
                <a:solidFill>
                  <a:srgbClr val="A8B5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dose de máxima eficiência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2954305" y="5810098"/>
            <a:ext cx="4000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171,4 </a:t>
            </a:r>
            <a:pPr algn="l" indent="0" marL="0">
              <a:buNone/>
            </a:pPr>
            <a:r>
              <a:rPr lang="en-US" sz="1650" b="1" i="1" spc="-72" kern="0" dirty="0">
                <a:solidFill>
                  <a:srgbClr val="A8B58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kg/ha</a:t>
            </a:r>
            <a:endParaRPr lang="en-US" sz="3600" dirty="0"/>
          </a:p>
        </p:txBody>
      </p:sp>
      <p:sp>
        <p:nvSpPr>
          <p:cNvPr id="16" name="Text 11"/>
          <p:cNvSpPr txBox="1"/>
          <p:nvPr/>
        </p:nvSpPr>
        <p:spPr>
          <a:xfrm>
            <a:off x="12954305" y="6344107"/>
            <a:ext cx="40005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C7922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ŷ</a:t>
            </a:r>
            <a:pPr algn="l" indent="0" marL="0">
              <a:buNone/>
            </a:pPr>
            <a:r>
              <a:rPr lang="en-US" sz="1875" i="1" dirty="0">
                <a:solidFill>
                  <a:srgbClr val="C7922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máx</a:t>
            </a:r>
            <a:pPr algn="l" indent="0" marL="0">
              <a:buNone/>
            </a:pPr>
            <a:r>
              <a:rPr lang="en-US" sz="2250" i="1" dirty="0">
                <a:solidFill>
                  <a:srgbClr val="C7922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≈ 59,95 m³/ha</a:t>
            </a:r>
            <a:endParaRPr lang="en-US" sz="2250" dirty="0"/>
          </a:p>
        </p:txBody>
      </p:sp>
      <p:sp>
        <p:nvSpPr>
          <p:cNvPr id="17" name="Text 12"/>
          <p:cNvSpPr txBox="1"/>
          <p:nvPr/>
        </p:nvSpPr>
        <p:spPr>
          <a:xfrm>
            <a:off x="1143000" y="9430207"/>
            <a:ext cx="1600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dados fictícios do curso (2026).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16954805" y="9667951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 / 45</a:t>
            </a:r>
            <a:endParaRPr lang="en-US" sz="13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D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143000" y="2667305"/>
            <a:ext cx="7429500" cy="3238805"/>
          </a:xfrm>
          <a:prstGeom prst="roundRect">
            <a:avLst>
              <a:gd name="adj" fmla="val 2343"/>
            </a:avLst>
          </a:prstGeom>
          <a:solidFill>
            <a:srgbClr val="B2503C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5500" y="2667305"/>
            <a:ext cx="7429500" cy="3238805"/>
          </a:xfrm>
          <a:prstGeom prst="roundRect">
            <a:avLst>
              <a:gd name="adj" fmla="val 2343"/>
            </a:avLst>
          </a:prstGeom>
          <a:solidFill>
            <a:srgbClr val="2F5233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15500" y="6476695"/>
            <a:ext cx="7429500" cy="1524305"/>
          </a:xfrm>
          <a:prstGeom prst="roundRect">
            <a:avLst>
              <a:gd name="adj" fmla="val 4979"/>
            </a:avLst>
          </a:prstGeom>
          <a:solidFill>
            <a:srgbClr val="1E2A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15500" y="8191195"/>
            <a:ext cx="7429500" cy="1095451"/>
          </a:xfrm>
          <a:prstGeom prst="roundRect">
            <a:avLst>
              <a:gd name="adj" fmla="val 3506"/>
            </a:avLst>
          </a:prstGeom>
          <a:solidFill>
            <a:srgbClr val="FA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715500" y="8191195"/>
            <a:ext cx="38405" cy="1095451"/>
          </a:xfrm>
          <a:prstGeom prst="roundRect">
            <a:avLst>
              <a:gd name="adj" fmla="val 99999"/>
            </a:avLst>
          </a:prstGeom>
          <a:solidFill>
            <a:srgbClr val="B2503C"/>
          </a:solidFill>
          <a:ln w="12700">
            <a:solidFill>
              <a:srgbClr val="B2503C">
                <a:alpha val="0"/>
              </a:srgbClr>
            </a:solidFill>
            <a:prstDash val="solid"/>
          </a:ln>
        </p:spPr>
      </p:sp>
      <p:pic>
        <p:nvPicPr>
          <p:cNvPr id="7" name="Image 0" descr="gen-dedup-609ca5620bc91a301e35b29a91fab242.png">    </p:cNvPr>
          <p:cNvPicPr>
            <a:picLocks noChangeAspect="1"/>
          </p:cNvPicPr>
          <p:nvPr/>
        </p:nvPicPr>
        <p:blipFill>
          <a:blip r:embed="rId2"/>
          <a:srcRect l="-385" r="-385" t="0" b="0"/>
          <a:stretch/>
        </p:blipFill>
        <p:spPr>
          <a:xfrm>
            <a:off x="1143000" y="761695"/>
            <a:ext cx="761695" cy="28346"/>
          </a:xfrm>
          <a:prstGeom prst="rect">
            <a:avLst/>
          </a:prstGeom>
        </p:spPr>
      </p:pic>
      <p:pic>
        <p:nvPicPr>
          <p:cNvPr id="8" name="Image 1" descr="gen-dedup-9527f335f3911ba5ad2e129e16f0a89a.png">    </p:cNvPr>
          <p:cNvPicPr>
            <a:picLocks noChangeAspect="1"/>
          </p:cNvPicPr>
          <p:nvPr/>
        </p:nvPicPr>
        <p:blipFill>
          <a:blip r:embed="rId3"/>
          <a:srcRect l="-395" r="-395" t="0" b="0"/>
          <a:stretch/>
        </p:blipFill>
        <p:spPr>
          <a:xfrm>
            <a:off x="1143000" y="2667305"/>
            <a:ext cx="57607" cy="3238805"/>
          </a:xfrm>
          <a:prstGeom prst="rect">
            <a:avLst/>
          </a:prstGeom>
        </p:spPr>
      </p:pic>
      <p:pic>
        <p:nvPicPr>
          <p:cNvPr id="9" name="Image 2" descr="gen-dedup-49f8b9756af299bea17b687d3d12164e.png">    </p:cNvPr>
          <p:cNvPicPr>
            <a:picLocks noChangeAspect="1"/>
          </p:cNvPicPr>
          <p:nvPr/>
        </p:nvPicPr>
        <p:blipFill>
          <a:blip r:embed="rId4"/>
          <a:srcRect l="-395" r="-395" t="0" b="0"/>
          <a:stretch/>
        </p:blipFill>
        <p:spPr>
          <a:xfrm>
            <a:off x="9715500" y="2667305"/>
            <a:ext cx="57607" cy="323880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0096805" y="3619195"/>
            <a:ext cx="6667805" cy="952805"/>
          </a:xfrm>
          <a:prstGeom prst="roundRect">
            <a:avLst>
              <a:gd name="adj" fmla="val 4031"/>
            </a:avLst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10096805" y="4743907"/>
            <a:ext cx="6667805" cy="1143000"/>
          </a:xfrm>
          <a:prstGeom prst="roundRect">
            <a:avLst>
              <a:gd name="adj" fmla="val 3360"/>
            </a:avLst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1143000" y="952805"/>
            <a:ext cx="10478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exercício 06 · quando os pressupostos falham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143000" y="1333195"/>
            <a:ext cx="16193110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spc="-96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Contagem de pragas </a:t>
            </a:r>
            <a:pPr algn="l" indent="0" marL="0">
              <a:buNone/>
            </a:pPr>
            <a:r>
              <a:rPr lang="en-US" sz="4800" i="1" spc="-96" kern="0" dirty="0">
                <a:solidFill>
                  <a:srgbClr val="B250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em SAF</a:t>
            </a:r>
            <a:endParaRPr lang="en-US" sz="4800" dirty="0"/>
          </a:p>
        </p:txBody>
      </p:sp>
      <p:sp>
        <p:nvSpPr>
          <p:cNvPr id="14" name="Text 9"/>
          <p:cNvSpPr txBox="1"/>
          <p:nvPr/>
        </p:nvSpPr>
        <p:spPr>
          <a:xfrm>
            <a:off x="1524305" y="3047695"/>
            <a:ext cx="6667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B25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problema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524305" y="3372307"/>
            <a:ext cx="6667805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Variâncias diferentes,</a:t>
            </a:r>
            <a:pPr algn="l" indent="0" marL="0">
              <a:lnSpc>
                <a:spcPct val="115000"/>
              </a:lnSpc>
              <a:buNone/>
            </a:pPr>
            <a:endParaRPr lang="en-US" sz="3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variância cresce com a média.</a:t>
            </a:r>
            <a:endParaRPr lang="en-US" sz="3000" dirty="0"/>
          </a:p>
        </p:txBody>
      </p:sp>
      <p:sp>
        <p:nvSpPr>
          <p:cNvPr id="16" name="Text 11"/>
          <p:cNvSpPr txBox="1"/>
          <p:nvPr/>
        </p:nvSpPr>
        <p:spPr>
          <a:xfrm>
            <a:off x="1524305" y="4572000"/>
            <a:ext cx="6667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Bartlett: </a:t>
            </a:r>
            <a:pPr algn="l" indent="0" marL="0">
              <a:buNone/>
            </a:pPr>
            <a:r>
              <a:rPr lang="en-US" sz="1800" b="1" dirty="0">
                <a:solidFill>
                  <a:srgbClr val="B25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 = 0,02</a:t>
            </a:r>
            <a:pPr algn="l" indent="0" marL="0">
              <a:buNone/>
            </a:pPr>
            <a:r>
              <a:rPr lang="en-US" sz="1800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CV = 52 %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524305" y="4981651"/>
            <a:ext cx="6667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ANOVA clássica não confia mais.</a:t>
            </a:r>
            <a:endParaRPr lang="en-US" sz="1650" dirty="0"/>
          </a:p>
        </p:txBody>
      </p:sp>
      <p:sp>
        <p:nvSpPr>
          <p:cNvPr id="18" name="Text 13"/>
          <p:cNvSpPr txBox="1"/>
          <p:nvPr/>
        </p:nvSpPr>
        <p:spPr>
          <a:xfrm>
            <a:off x="10096805" y="3047695"/>
            <a:ext cx="6667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2F5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Duas saídas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10287000" y="3791102"/>
            <a:ext cx="6286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1. Transformar √(x + 0,5) → </a:t>
            </a:r>
            <a:pPr algn="l" indent="0" marL="0">
              <a:buNone/>
            </a:pPr>
            <a:r>
              <a:rPr lang="en-US" sz="1800" b="1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OK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10287000" y="4141318"/>
            <a:ext cx="6286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Pressupostos voltam a valer; ANOVA funciona.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10287000" y="4934102"/>
            <a:ext cx="6286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2. Kruskal-Wallis · </a:t>
            </a:r>
            <a:pPr algn="l" indent="0" marL="0">
              <a:buNone/>
            </a:pPr>
            <a:r>
              <a:rPr lang="en-US" sz="1800" b="1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 = 0,002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0287000" y="5284318"/>
            <a:ext cx="6286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Não-paramétrico; dispensa normalidade.</a:t>
            </a:r>
            <a:endParaRPr lang="en-US" sz="1500" dirty="0"/>
          </a:p>
        </p:txBody>
      </p:sp>
      <p:pic>
        <p:nvPicPr>
          <p:cNvPr id="23" name="Image 3" descr="gen-dedup-95345d5d4293f6752e318e29d1a4f9ba.png">    </p:cNvPr>
          <p:cNvPicPr>
            <a:picLocks noChangeAspect="1"/>
          </p:cNvPicPr>
          <p:nvPr/>
        </p:nvPicPr>
        <p:blipFill>
          <a:blip r:embed="rId5"/>
          <a:srcRect l="0" r="0" t="-6" b="-6"/>
          <a:stretch/>
        </p:blipFill>
        <p:spPr>
          <a:xfrm>
            <a:off x="1143000" y="6476695"/>
            <a:ext cx="7429500" cy="266730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096805" y="6648602"/>
            <a:ext cx="6667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A8B5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Lembrete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10096805" y="7000646"/>
            <a:ext cx="66678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IA tem que avisar.</a:t>
            </a:r>
            <a:pPr algn="l" indent="0" marL="0">
              <a:lnSpc>
                <a:spcPct val="130000"/>
              </a:lnSpc>
              <a:buNone/>
            </a:pPr>
            <a:endParaRPr lang="en-US" sz="2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B250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Se não avisou, pergunte.</a:t>
            </a:r>
            <a:endParaRPr lang="en-US" sz="2400" dirty="0"/>
          </a:p>
        </p:txBody>
      </p:sp>
      <p:sp>
        <p:nvSpPr>
          <p:cNvPr id="26" name="Text 20"/>
          <p:cNvSpPr txBox="1"/>
          <p:nvPr/>
        </p:nvSpPr>
        <p:spPr>
          <a:xfrm>
            <a:off x="9944100" y="8305495"/>
            <a:ext cx="3810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95" kern="0" dirty="0">
                <a:solidFill>
                  <a:srgbClr val="B25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OS DADOS CHEGAM</a:t>
            </a:r>
            <a:endParaRPr lang="en-US" sz="975" dirty="0"/>
          </a:p>
        </p:txBody>
      </p:sp>
      <p:sp>
        <p:nvSpPr>
          <p:cNvPr id="27" name="Text 21"/>
          <p:cNvSpPr txBox="1"/>
          <p:nvPr/>
        </p:nvSpPr>
        <p:spPr>
          <a:xfrm>
            <a:off x="9944100" y="8534095"/>
            <a:ext cx="5953658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1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manejo,repeticao,insetos_praga convencional,1,9 convencional,2,12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16954805" y="9667951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 / 45</a:t>
            </a:r>
            <a:endParaRPr lang="en-US" sz="13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D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0668305" y="5715000"/>
            <a:ext cx="6476695" cy="2476195"/>
          </a:xfrm>
          <a:prstGeom prst="roundRect">
            <a:avLst>
              <a:gd name="adj" fmla="val 3065"/>
            </a:avLst>
          </a:prstGeom>
          <a:solidFill>
            <a:srgbClr val="2F5233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gen-dedup-609ca5620bc91a301e35b29a91fab242.png">    </p:cNvPr>
          <p:cNvPicPr>
            <a:picLocks noChangeAspect="1"/>
          </p:cNvPicPr>
          <p:nvPr/>
        </p:nvPicPr>
        <p:blipFill>
          <a:blip r:embed="rId2"/>
          <a:srcRect l="-385" r="-385" t="0" b="0"/>
          <a:stretch/>
        </p:blipFill>
        <p:spPr>
          <a:xfrm>
            <a:off x="1143000" y="761695"/>
            <a:ext cx="761695" cy="2834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43000" y="952805"/>
            <a:ext cx="1143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exercício 06 · contagem de pragas · resultados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1333195"/>
            <a:ext cx="16193110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spc="-81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Resultados no padrão </a:t>
            </a:r>
            <a:pPr algn="l" indent="0" marL="0">
              <a:buNone/>
            </a:pPr>
            <a:r>
              <a:rPr lang="en-US" sz="4050" i="1" spc="-81" kern="0" dirty="0">
                <a:solidFill>
                  <a:srgbClr val="B250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ABNT</a:t>
            </a:r>
            <a:endParaRPr lang="en-US" sz="405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2286000"/>
            <a:ext cx="1600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Tabela 11 – ANOVA do número de insetos-praga: dados originais × dados transformados √(x + 0,5).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2667305"/>
          <a:ext cx="16002000" cy="2238451"/>
        </p:xfrm>
        <a:graphic>
          <a:graphicData uri="http://schemas.openxmlformats.org/drawingml/2006/table">
            <a:tbl>
              <a:tblPr/>
              <a:tblGrid>
                <a:gridCol w="2195474"/>
                <a:gridCol w="1901952"/>
                <a:gridCol w="1005840"/>
                <a:gridCol w="1760220"/>
                <a:gridCol w="1773022"/>
                <a:gridCol w="1701698"/>
                <a:gridCol w="1869948"/>
                <a:gridCol w="3793846"/>
              </a:tblGrid>
              <a:tr h="4476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Dados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FV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GL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SQ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QM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CV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Bartlett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6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Originais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Manejo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1.093,3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364,44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9,62</a:t>
                      </a:r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B250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**</a:t>
                      </a:r>
                      <a:endParaRPr lang="en-US" sz="1200" dirty="0"/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52,03%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 = 0,020 </a:t>
                      </a:r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B250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(violado)</a:t>
                      </a:r>
                      <a:endParaRPr lang="en-US" sz="1200" dirty="0"/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6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Resíduo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758,0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37,90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6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√(x + 0,5)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Manejo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27,52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9,17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13,66</a:t>
                      </a:r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B250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**</a:t>
                      </a:r>
                      <a:endParaRPr lang="en-US" sz="1200" dirty="0"/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25,14%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 = 0,497 </a:t>
                      </a:r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F52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(ok)</a:t>
                      </a:r>
                      <a:endParaRPr lang="en-US" sz="1200" dirty="0"/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6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Resíduo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13,43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0,67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1143000" y="5143500"/>
            <a:ext cx="160020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63" dirty="0">
                <a:solidFill>
                  <a:srgbClr val="B25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**</a:t>
            </a:r>
            <a:pPr algn="l" indent="0" marL="0">
              <a:buNone/>
            </a:pPr>
            <a:r>
              <a:rPr lang="en-US" sz="1275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significativo a 1%.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5715000"/>
            <a:ext cx="9525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Tabela 12 – Médias de insetos-praga por armadilha, por manejo.</a:t>
            </a:r>
            <a:endParaRPr lang="en-US" sz="15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6096305"/>
          <a:ext cx="8572500" cy="2171700"/>
        </p:xfrm>
        <a:graphic>
          <a:graphicData uri="http://schemas.openxmlformats.org/drawingml/2006/table">
            <a:tbl>
              <a:tblPr/>
              <a:tblGrid>
                <a:gridCol w="2745943"/>
                <a:gridCol w="4562856"/>
                <a:gridCol w="1263701"/>
              </a:tblGrid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Manejo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Média (insetos/armadilha)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Letra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Convencional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21,17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Pousio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13,83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ab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SAF simples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9,83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SAF biodiverso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2,50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1E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11048695" y="6001207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70" kern="0" dirty="0">
                <a:solidFill>
                  <a:srgbClr val="2F5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alternativa não-paramétrica</a:t>
            </a:r>
            <a:endParaRPr lang="en-US" sz="1350" dirty="0"/>
          </a:p>
        </p:txBody>
      </p:sp>
      <p:sp>
        <p:nvSpPr>
          <p:cNvPr id="12" name="Text 7"/>
          <p:cNvSpPr txBox="1"/>
          <p:nvPr/>
        </p:nvSpPr>
        <p:spPr>
          <a:xfrm>
            <a:off x="11048695" y="6353251"/>
            <a:ext cx="571500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Kruskal-Wallis</a:t>
            </a:r>
            <a:endParaRPr lang="en-US" sz="3300" dirty="0"/>
          </a:p>
        </p:txBody>
      </p:sp>
      <p:sp>
        <p:nvSpPr>
          <p:cNvPr id="13" name="Text 8"/>
          <p:cNvSpPr txBox="1"/>
          <p:nvPr/>
        </p:nvSpPr>
        <p:spPr>
          <a:xfrm>
            <a:off x="11048695" y="6909206"/>
            <a:ext cx="57150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 = 15,20 · p = 0,0017</a:t>
            </a:r>
            <a:endParaRPr lang="en-US" sz="2550" dirty="0"/>
          </a:p>
        </p:txBody>
      </p:sp>
      <p:sp>
        <p:nvSpPr>
          <p:cNvPr id="14" name="Text 9"/>
          <p:cNvSpPr txBox="1"/>
          <p:nvPr/>
        </p:nvSpPr>
        <p:spPr>
          <a:xfrm>
            <a:off x="1143000" y="8572500"/>
            <a:ext cx="15240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Nota: letras do Tukey 5% nos dados transformados; Kruskal-Wallis H = 15,20, p = 0,0017.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1143000" y="8829446"/>
            <a:ext cx="15240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dados fictícios do curso (2026).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16954805" y="9667951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 / 45</a:t>
            </a:r>
            <a:endParaRPr lang="en-US" sz="13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DF"/>
        </a:solidFill>
      </p:bgPr>
    </p:bg>
    <p:spTree>
      <p:nvGrpSpPr>
        <p:cNvPr id="1" name=""/>
        <p:cNvGrpSpPr/>
        <p:nvPr/>
      </p:nvGrpSpPr>
      <p:grpSpPr/>
      <p:pic>
        <p:nvPicPr>
          <p:cNvPr id="2" name="Image 0" descr="gen-dedup-609ca5620bc91a301e35b29a91fab242.png">    </p:cNvPr>
          <p:cNvPicPr>
            <a:picLocks noChangeAspect="1"/>
          </p:cNvPicPr>
          <p:nvPr/>
        </p:nvPicPr>
        <p:blipFill>
          <a:blip r:embed="rId2"/>
          <a:srcRect l="-385" r="-385" t="0" b="0"/>
          <a:stretch/>
        </p:blipFill>
        <p:spPr>
          <a:xfrm>
            <a:off x="1143000" y="1143000"/>
            <a:ext cx="761695" cy="2834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3524098"/>
            <a:ext cx="857707" cy="857707"/>
          </a:xfrm>
          <a:prstGeom prst="ellipse">
            <a:avLst/>
          </a:prstGeom>
          <a:solidFill>
            <a:srgbClr val="2F52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43000" y="4762195"/>
            <a:ext cx="857707" cy="857707"/>
          </a:xfrm>
          <a:prstGeom prst="ellipse">
            <a:avLst/>
          </a:prstGeom>
          <a:solidFill>
            <a:srgbClr val="4A6B4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43000" y="6096305"/>
            <a:ext cx="857707" cy="857707"/>
          </a:xfrm>
          <a:prstGeom prst="ellipse">
            <a:avLst/>
          </a:prstGeom>
          <a:solidFill>
            <a:srgbClr val="6B8E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715500" y="3429000"/>
            <a:ext cx="857707" cy="857707"/>
          </a:xfrm>
          <a:prstGeom prst="ellipse">
            <a:avLst/>
          </a:prstGeom>
          <a:solidFill>
            <a:srgbClr val="8B6F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715500" y="4762195"/>
            <a:ext cx="857707" cy="857707"/>
          </a:xfrm>
          <a:prstGeom prst="ellipse">
            <a:avLst/>
          </a:prstGeom>
          <a:solidFill>
            <a:srgbClr val="B250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715500" y="6096305"/>
            <a:ext cx="857707" cy="857707"/>
          </a:xfrm>
          <a:prstGeom prst="ellipse">
            <a:avLst/>
          </a:prstGeom>
          <a:solidFill>
            <a:srgbClr val="1E2A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143000" y="1333195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conferindo a IA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1714500"/>
            <a:ext cx="1619311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spc="-144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Checklist </a:t>
            </a:r>
            <a:pPr algn="l" indent="0" marL="0">
              <a:buNone/>
            </a:pPr>
            <a:r>
              <a:rPr lang="en-US" sz="7200" i="1" spc="-144" kern="0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antes de confiar</a:t>
            </a:r>
            <a:endParaRPr lang="en-US" sz="72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3619195"/>
            <a:ext cx="857707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✓</a:t>
            </a:r>
            <a:endParaRPr lang="en-US" sz="4200" dirty="0"/>
          </a:p>
        </p:txBody>
      </p:sp>
      <p:sp>
        <p:nvSpPr>
          <p:cNvPr id="12" name="Text 9"/>
          <p:cNvSpPr txBox="1"/>
          <p:nvPr/>
        </p:nvSpPr>
        <p:spPr>
          <a:xfrm>
            <a:off x="2286000" y="3619195"/>
            <a:ext cx="62865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Delineamento certo?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2286000" y="4061765"/>
            <a:ext cx="6286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 do resíduo batem com o que você montou?</a:t>
            </a:r>
            <a:endParaRPr lang="en-US" sz="165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4858207"/>
            <a:ext cx="857707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✓</a:t>
            </a:r>
            <a:endParaRPr lang="en-US" sz="4200" dirty="0"/>
          </a:p>
        </p:txBody>
      </p:sp>
      <p:sp>
        <p:nvSpPr>
          <p:cNvPr id="15" name="Text 12"/>
          <p:cNvSpPr txBox="1"/>
          <p:nvPr/>
        </p:nvSpPr>
        <p:spPr>
          <a:xfrm>
            <a:off x="2286000" y="4858207"/>
            <a:ext cx="62865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Pressupostos testados?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2286000" y="5299862"/>
            <a:ext cx="6286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Normalidade, homogeneidade, independência.</a:t>
            </a:r>
            <a:endParaRPr lang="en-US" sz="165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" y="6191402"/>
            <a:ext cx="857707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✓</a:t>
            </a:r>
            <a:endParaRPr lang="en-US" sz="4200" dirty="0"/>
          </a:p>
        </p:txBody>
      </p:sp>
      <p:sp>
        <p:nvSpPr>
          <p:cNvPr id="18" name="Text 15"/>
          <p:cNvSpPr txBox="1"/>
          <p:nvPr/>
        </p:nvSpPr>
        <p:spPr>
          <a:xfrm>
            <a:off x="2286000" y="6191402"/>
            <a:ext cx="62865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Comparação certa para o fator?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2286000" y="6633058"/>
            <a:ext cx="6286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Qualitativo → Tukey. Quantitativo → regressão.</a:t>
            </a:r>
            <a:endParaRPr lang="en-US" sz="1650" dirty="0"/>
          </a:p>
        </p:txBody>
      </p:sp>
      <p:sp>
        <p:nvSpPr>
          <p:cNvPr id="20" name="Text 17"/>
          <p:cNvSpPr txBox="1"/>
          <p:nvPr/>
        </p:nvSpPr>
        <p:spPr>
          <a:xfrm>
            <a:off x="9715500" y="3524098"/>
            <a:ext cx="857707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✓</a:t>
            </a:r>
            <a:endParaRPr lang="en-US" sz="4200" dirty="0"/>
          </a:p>
        </p:txBody>
      </p:sp>
      <p:sp>
        <p:nvSpPr>
          <p:cNvPr id="21" name="Text 18"/>
          <p:cNvSpPr txBox="1"/>
          <p:nvPr/>
        </p:nvSpPr>
        <p:spPr>
          <a:xfrm>
            <a:off x="10858500" y="3524098"/>
            <a:ext cx="62865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Interação desdobrada?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10858500" y="3965753"/>
            <a:ext cx="6286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F da interação foi significativo, desdobre.</a:t>
            </a:r>
            <a:endParaRPr lang="en-US" sz="1650" dirty="0"/>
          </a:p>
        </p:txBody>
      </p:sp>
      <p:sp>
        <p:nvSpPr>
          <p:cNvPr id="23" name="Text 20"/>
          <p:cNvSpPr txBox="1"/>
          <p:nvPr/>
        </p:nvSpPr>
        <p:spPr>
          <a:xfrm>
            <a:off x="9715500" y="4858207"/>
            <a:ext cx="857707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✓</a:t>
            </a:r>
            <a:endParaRPr lang="en-US" sz="4200" dirty="0"/>
          </a:p>
        </p:txBody>
      </p:sp>
      <p:sp>
        <p:nvSpPr>
          <p:cNvPr id="24" name="Text 21"/>
          <p:cNvSpPr txBox="1"/>
          <p:nvPr/>
        </p:nvSpPr>
        <p:spPr>
          <a:xfrm>
            <a:off x="10858500" y="4858207"/>
            <a:ext cx="62865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CV razoável?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10858500" y="5299862"/>
            <a:ext cx="6286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Abaixo de 30% é o aceitável em campo.</a:t>
            </a:r>
            <a:endParaRPr lang="en-US" sz="1650" dirty="0"/>
          </a:p>
        </p:txBody>
      </p:sp>
      <p:sp>
        <p:nvSpPr>
          <p:cNvPr id="26" name="Text 23"/>
          <p:cNvSpPr txBox="1"/>
          <p:nvPr/>
        </p:nvSpPr>
        <p:spPr>
          <a:xfrm>
            <a:off x="9715500" y="6191402"/>
            <a:ext cx="857707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✓</a:t>
            </a:r>
            <a:endParaRPr lang="en-US" sz="4200" dirty="0"/>
          </a:p>
        </p:txBody>
      </p:sp>
      <p:sp>
        <p:nvSpPr>
          <p:cNvPr id="27" name="Text 24"/>
          <p:cNvSpPr txBox="1"/>
          <p:nvPr/>
        </p:nvSpPr>
        <p:spPr>
          <a:xfrm>
            <a:off x="10858500" y="6191402"/>
            <a:ext cx="62865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Código mostrado e executado?</a:t>
            </a:r>
            <a:endParaRPr lang="en-US" sz="2400" dirty="0"/>
          </a:p>
        </p:txBody>
      </p:sp>
      <p:sp>
        <p:nvSpPr>
          <p:cNvPr id="28" name="Text 25"/>
          <p:cNvSpPr txBox="1"/>
          <p:nvPr/>
        </p:nvSpPr>
        <p:spPr>
          <a:xfrm>
            <a:off x="10858500" y="6633058"/>
            <a:ext cx="6286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não, desconfie.</a:t>
            </a:r>
            <a:endParaRPr lang="en-US" sz="1650" dirty="0"/>
          </a:p>
        </p:txBody>
      </p:sp>
      <p:sp>
        <p:nvSpPr>
          <p:cNvPr id="29" name="Text 26"/>
          <p:cNvSpPr txBox="1"/>
          <p:nvPr/>
        </p:nvSpPr>
        <p:spPr>
          <a:xfrm>
            <a:off x="1143000" y="8382305"/>
            <a:ext cx="16193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i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Releia esta lista </a:t>
            </a:r>
            <a:pPr algn="l" indent="0" marL="0">
              <a:buNone/>
            </a:pPr>
            <a:r>
              <a:rPr lang="en-US" sz="2700" i="1" dirty="0">
                <a:solidFill>
                  <a:srgbClr val="B250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sempre</a:t>
            </a:r>
            <a:pPr algn="l" indent="0" marL="0">
              <a:buNone/>
            </a:pPr>
            <a:r>
              <a:rPr lang="en-US" sz="2700" i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que a IA te entregar algo pronto.</a:t>
            </a:r>
            <a:endParaRPr lang="en-US" sz="2700" dirty="0"/>
          </a:p>
        </p:txBody>
      </p:sp>
      <p:sp>
        <p:nvSpPr>
          <p:cNvPr id="30" name="Text 27"/>
          <p:cNvSpPr txBox="1"/>
          <p:nvPr/>
        </p:nvSpPr>
        <p:spPr>
          <a:xfrm>
            <a:off x="16954805" y="9667951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 / 45</a:t>
            </a:r>
            <a:endParaRPr lang="en-US" sz="13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D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143000" y="3619195"/>
            <a:ext cx="16002000" cy="4953305"/>
          </a:xfrm>
          <a:prstGeom prst="roundRect">
            <a:avLst>
              <a:gd name="adj" fmla="val 1532"/>
            </a:avLst>
          </a:prstGeom>
          <a:solidFill>
            <a:srgbClr val="2F52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gen-dedup-609ca5620bc91a301e35b29a91fab242.png">    </p:cNvPr>
          <p:cNvPicPr>
            <a:picLocks noChangeAspect="1"/>
          </p:cNvPicPr>
          <p:nvPr/>
        </p:nvPicPr>
        <p:blipFill>
          <a:blip r:embed="rId2"/>
          <a:srcRect l="-385" r="-385" t="0" b="0"/>
          <a:stretch/>
        </p:blipFill>
        <p:spPr>
          <a:xfrm>
            <a:off x="1143000" y="1143000"/>
            <a:ext cx="761695" cy="28346"/>
          </a:xfrm>
          <a:prstGeom prst="rect">
            <a:avLst/>
          </a:prstGeom>
        </p:spPr>
      </p:pic>
      <p:pic>
        <p:nvPicPr>
          <p:cNvPr id="4" name="Image 1" descr="gen-dedup-41c1ce55b2fc926e10794a60e58f5c76.png">    </p:cNvPr>
          <p:cNvPicPr>
            <a:picLocks noChangeAspect="1"/>
          </p:cNvPicPr>
          <p:nvPr/>
        </p:nvPicPr>
        <p:blipFill>
          <a:blip r:embed="rId3"/>
          <a:srcRect l="0" r="0" t="-420" b="-420"/>
          <a:stretch/>
        </p:blipFill>
        <p:spPr>
          <a:xfrm>
            <a:off x="1524305" y="6953098"/>
            <a:ext cx="761695" cy="1920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524305" y="8382305"/>
            <a:ext cx="4572000" cy="571500"/>
          </a:xfrm>
          <a:prstGeom prst="roundRect">
            <a:avLst>
              <a:gd name="adj" fmla="val 10080"/>
            </a:avLst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6286500" y="8382305"/>
            <a:ext cx="4572000" cy="571500"/>
          </a:xfrm>
          <a:prstGeom prst="roundRect">
            <a:avLst>
              <a:gd name="adj" fmla="val 10080"/>
            </a:avLst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1048695" y="8382305"/>
            <a:ext cx="5715000" cy="571500"/>
          </a:xfrm>
          <a:prstGeom prst="roundRect">
            <a:avLst>
              <a:gd name="adj" fmla="val 10080"/>
            </a:avLst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1143000" y="1333195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fazer em casa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714500"/>
            <a:ext cx="16193110" cy="10479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0" spc="-247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Exercício </a:t>
            </a:r>
            <a:pPr algn="l" indent="0" marL="0">
              <a:buNone/>
            </a:pPr>
            <a:r>
              <a:rPr lang="en-US" sz="8250" i="1" spc="-247" kern="0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final</a:t>
            </a:r>
            <a:endParaRPr lang="en-US" sz="8250" dirty="0"/>
          </a:p>
        </p:txBody>
      </p:sp>
      <p:sp>
        <p:nvSpPr>
          <p:cNvPr id="10" name="Text 6"/>
          <p:cNvSpPr txBox="1"/>
          <p:nvPr/>
        </p:nvSpPr>
        <p:spPr>
          <a:xfrm>
            <a:off x="1524305" y="4000500"/>
            <a:ext cx="14287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spc="363" kern="0" dirty="0">
                <a:solidFill>
                  <a:srgbClr val="A8B5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desafio</a:t>
            </a:r>
            <a:endParaRPr lang="en-US" sz="1650" dirty="0"/>
          </a:p>
        </p:txBody>
      </p:sp>
      <p:sp>
        <p:nvSpPr>
          <p:cNvPr id="11" name="Text 7"/>
          <p:cNvSpPr txBox="1"/>
          <p:nvPr/>
        </p:nvSpPr>
        <p:spPr>
          <a:xfrm>
            <a:off x="1524305" y="4476902"/>
            <a:ext cx="14287500" cy="1686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300" spc="-126" kern="0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Planeje o seu</a:t>
            </a:r>
            <a:pPr algn="l" indent="0" marL="0">
              <a:lnSpc>
                <a:spcPct val="105000"/>
              </a:lnSpc>
              <a:buNone/>
            </a:pPr>
            <a:endParaRPr lang="en-US" sz="6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300" i="1" spc="-126" kern="0" dirty="0">
                <a:solidFill>
                  <a:srgbClr val="C7922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próximo experimento.</a:t>
            </a:r>
            <a:endParaRPr lang="en-US" sz="6300" dirty="0"/>
          </a:p>
        </p:txBody>
      </p:sp>
      <p:sp>
        <p:nvSpPr>
          <p:cNvPr id="12" name="Text 8"/>
          <p:cNvSpPr txBox="1"/>
          <p:nvPr/>
        </p:nvSpPr>
        <p:spPr>
          <a:xfrm>
            <a:off x="1524305" y="7239305"/>
            <a:ext cx="14287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DDD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 skill 01 · planejamento.</a:t>
            </a:r>
            <a:endParaRPr lang="en-US" sz="1950" dirty="0"/>
          </a:p>
        </p:txBody>
      </p:sp>
      <p:sp>
        <p:nvSpPr>
          <p:cNvPr id="13" name="Text 9"/>
          <p:cNvSpPr txBox="1"/>
          <p:nvPr/>
        </p:nvSpPr>
        <p:spPr>
          <a:xfrm>
            <a:off x="1524305" y="7719365"/>
            <a:ext cx="14287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DDD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Descreva sua </a:t>
            </a:r>
            <a:pPr algn="l" indent="0" marL="0">
              <a:buNone/>
            </a:pPr>
            <a:r>
              <a:rPr lang="en-US" sz="1950" b="1" dirty="0">
                <a:solidFill>
                  <a:srgbClr val="FAF6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 de pesquisa</a:t>
            </a:r>
            <a:pPr algn="l" indent="0" marL="0">
              <a:buNone/>
            </a:pPr>
            <a:r>
              <a:rPr lang="en-US" sz="1950" dirty="0">
                <a:solidFill>
                  <a:srgbClr val="DDD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peça:</a:t>
            </a:r>
            <a:endParaRPr lang="en-US" sz="1950" dirty="0"/>
          </a:p>
        </p:txBody>
      </p:sp>
      <p:sp>
        <p:nvSpPr>
          <p:cNvPr id="14" name="Text 10"/>
          <p:cNvSpPr txBox="1"/>
          <p:nvPr/>
        </p:nvSpPr>
        <p:spPr>
          <a:xfrm>
            <a:off x="1714500" y="8553298"/>
            <a:ext cx="4191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 · delineamento</a:t>
            </a:r>
            <a:endParaRPr lang="en-US" sz="1650" dirty="0"/>
          </a:p>
        </p:txBody>
      </p:sp>
      <p:sp>
        <p:nvSpPr>
          <p:cNvPr id="15" name="Text 11"/>
          <p:cNvSpPr txBox="1"/>
          <p:nvPr/>
        </p:nvSpPr>
        <p:spPr>
          <a:xfrm>
            <a:off x="6476695" y="8553298"/>
            <a:ext cx="4191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 · nº de repetições</a:t>
            </a:r>
            <a:endParaRPr lang="en-US" sz="1650" dirty="0"/>
          </a:p>
        </p:txBody>
      </p:sp>
      <p:sp>
        <p:nvSpPr>
          <p:cNvPr id="16" name="Text 12"/>
          <p:cNvSpPr txBox="1"/>
          <p:nvPr/>
        </p:nvSpPr>
        <p:spPr>
          <a:xfrm>
            <a:off x="11239805" y="8553298"/>
            <a:ext cx="5334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 · croqui + planilha modelo</a:t>
            </a:r>
            <a:endParaRPr lang="en-US" sz="1650" dirty="0"/>
          </a:p>
        </p:txBody>
      </p:sp>
      <p:sp>
        <p:nvSpPr>
          <p:cNvPr id="17" name="Text 13"/>
          <p:cNvSpPr txBox="1"/>
          <p:nvPr/>
        </p:nvSpPr>
        <p:spPr>
          <a:xfrm>
            <a:off x="16954805" y="9667951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 / 45</a:t>
            </a:r>
            <a:endParaRPr lang="en-US" sz="13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DF"/>
        </a:solidFill>
      </p:bgPr>
    </p:bg>
    <p:spTree>
      <p:nvGrpSpPr>
        <p:cNvPr id="1" name=""/>
        <p:cNvGrpSpPr/>
        <p:nvPr/>
      </p:nvGrpSpPr>
      <p:grpSpPr/>
      <p:pic>
        <p:nvPicPr>
          <p:cNvPr id="2" name="Image 0" descr="gen-dedup-609ca5620bc91a301e35b29a91fab242.png">    </p:cNvPr>
          <p:cNvPicPr>
            <a:picLocks noChangeAspect="1"/>
          </p:cNvPicPr>
          <p:nvPr/>
        </p:nvPicPr>
        <p:blipFill>
          <a:blip r:embed="rId2"/>
          <a:srcRect l="-385" r="-385" t="0" b="0"/>
          <a:stretch/>
        </p:blipFill>
        <p:spPr>
          <a:xfrm>
            <a:off x="1143000" y="1143000"/>
            <a:ext cx="761695" cy="28346"/>
          </a:xfrm>
          <a:prstGeom prst="rect">
            <a:avLst/>
          </a:prstGeom>
        </p:spPr>
      </p:pic>
      <p:pic>
        <p:nvPicPr>
          <p:cNvPr id="3" name="Image 1" descr="gen-dedup-e7f01b3af04dc2f1b14ae0a15968a431.png">    </p:cNvPr>
          <p:cNvPicPr>
            <a:picLocks noChangeAspect="1"/>
          </p:cNvPicPr>
          <p:nvPr/>
        </p:nvPicPr>
        <p:blipFill>
          <a:blip r:embed="rId3"/>
          <a:srcRect l="0" r="0" t="-228" b="-228"/>
          <a:stretch/>
        </p:blipFill>
        <p:spPr>
          <a:xfrm>
            <a:off x="1143000" y="3619195"/>
            <a:ext cx="75895" cy="857707"/>
          </a:xfrm>
          <a:prstGeom prst="rect">
            <a:avLst/>
          </a:prstGeom>
        </p:spPr>
      </p:pic>
      <p:pic>
        <p:nvPicPr>
          <p:cNvPr id="4" name="Image 2" descr="gen-dedup-e7f01b3af04dc2f1b14ae0a15968a431.png">    </p:cNvPr>
          <p:cNvPicPr>
            <a:picLocks noChangeAspect="1"/>
          </p:cNvPicPr>
          <p:nvPr/>
        </p:nvPicPr>
        <p:blipFill>
          <a:blip r:embed="rId3"/>
          <a:srcRect l="0" r="0" t="-228" b="-228"/>
          <a:stretch/>
        </p:blipFill>
        <p:spPr>
          <a:xfrm>
            <a:off x="1143000" y="4953305"/>
            <a:ext cx="75895" cy="857707"/>
          </a:xfrm>
          <a:prstGeom prst="rect">
            <a:avLst/>
          </a:prstGeom>
        </p:spPr>
      </p:pic>
      <p:pic>
        <p:nvPicPr>
          <p:cNvPr id="5" name="Image 3" descr="gen-dedup-cf7b243b0fb63b66cc5feb40a716bd23.png">    </p:cNvPr>
          <p:cNvPicPr>
            <a:picLocks noChangeAspect="1"/>
          </p:cNvPicPr>
          <p:nvPr/>
        </p:nvPicPr>
        <p:blipFill>
          <a:blip r:embed="rId4"/>
          <a:srcRect l="0" r="0" t="-228" b="-228"/>
          <a:stretch/>
        </p:blipFill>
        <p:spPr>
          <a:xfrm>
            <a:off x="1143000" y="6286500"/>
            <a:ext cx="75895" cy="857707"/>
          </a:xfrm>
          <a:prstGeom prst="rect">
            <a:avLst/>
          </a:prstGeom>
        </p:spPr>
      </p:pic>
      <p:pic>
        <p:nvPicPr>
          <p:cNvPr id="6" name="Image 4" descr="gen-dedup-4fd504eaafddff9bdbb75b381cea257d.png">    </p:cNvPr>
          <p:cNvPicPr>
            <a:picLocks noChangeAspect="1"/>
          </p:cNvPicPr>
          <p:nvPr/>
        </p:nvPicPr>
        <p:blipFill>
          <a:blip r:embed="rId5"/>
          <a:srcRect l="0" r="0" t="-228" b="-228"/>
          <a:stretch/>
        </p:blipFill>
        <p:spPr>
          <a:xfrm>
            <a:off x="1143000" y="7619695"/>
            <a:ext cx="75895" cy="857707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1143000" y="1333195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ética e boas práticas</a:t>
            </a:r>
            <a:endParaRPr lang="en-US" sz="1500" dirty="0"/>
          </a:p>
        </p:txBody>
      </p:sp>
      <p:sp>
        <p:nvSpPr>
          <p:cNvPr id="8" name="Text 1"/>
          <p:cNvSpPr txBox="1"/>
          <p:nvPr/>
        </p:nvSpPr>
        <p:spPr>
          <a:xfrm>
            <a:off x="1143000" y="1714500"/>
            <a:ext cx="1619311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spc="-144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 que </a:t>
            </a:r>
            <a:pPr algn="l" indent="0" marL="0">
              <a:buNone/>
            </a:pPr>
            <a:r>
              <a:rPr lang="en-US" sz="7200" i="1" spc="-144" kern="0" dirty="0">
                <a:solidFill>
                  <a:srgbClr val="B250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não</a:t>
            </a:r>
            <a:pPr algn="l" indent="0" marL="0">
              <a:buNone/>
            </a:pPr>
            <a:r>
              <a:rPr lang="en-US" sz="7200" spc="-144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vale fazer</a:t>
            </a:r>
            <a:endParaRPr lang="en-US" sz="7200" dirty="0"/>
          </a:p>
        </p:txBody>
      </p:sp>
      <p:sp>
        <p:nvSpPr>
          <p:cNvPr id="9" name="Text 2"/>
          <p:cNvSpPr txBox="1"/>
          <p:nvPr/>
        </p:nvSpPr>
        <p:spPr>
          <a:xfrm>
            <a:off x="1524305" y="3619195"/>
            <a:ext cx="156216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Nunca invente ou </a:t>
            </a:r>
            <a:pPr algn="l" indent="0" marL="0">
              <a:buNone/>
            </a:pPr>
            <a:r>
              <a:rPr lang="en-US" sz="2550" dirty="0">
                <a:solidFill>
                  <a:srgbClr val="B250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“complete”</a:t>
            </a:r>
            <a:pPr algn="l" indent="0" marL="0">
              <a:buNone/>
            </a:pPr>
            <a:r>
              <a:rPr lang="en-US" sz="255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dados que você não tem.</a:t>
            </a:r>
            <a:endParaRPr lang="en-US" sz="2550" dirty="0"/>
          </a:p>
        </p:txBody>
      </p:sp>
      <p:sp>
        <p:nvSpPr>
          <p:cNvPr id="10" name="Text 3"/>
          <p:cNvSpPr txBox="1"/>
          <p:nvPr/>
        </p:nvSpPr>
        <p:spPr>
          <a:xfrm>
            <a:off x="1524305" y="4065422"/>
            <a:ext cx="15621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Célula vazia significa vazia. Não chute um número para “fechar” a tabela.</a:t>
            </a:r>
            <a:endParaRPr lang="en-US" sz="1650" dirty="0"/>
          </a:p>
        </p:txBody>
      </p:sp>
      <p:sp>
        <p:nvSpPr>
          <p:cNvPr id="11" name="Text 4"/>
          <p:cNvSpPr txBox="1"/>
          <p:nvPr/>
        </p:nvSpPr>
        <p:spPr>
          <a:xfrm>
            <a:off x="1524305" y="4953305"/>
            <a:ext cx="156216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Confira </a:t>
            </a:r>
            <a:pPr algn="l" indent="0" marL="0">
              <a:buNone/>
            </a:pPr>
            <a:r>
              <a:rPr lang="en-US" sz="2550" dirty="0">
                <a:solidFill>
                  <a:srgbClr val="B250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cada</a:t>
            </a:r>
            <a:pPr algn="l" indent="0" marL="0">
              <a:buNone/>
            </a:pPr>
            <a:r>
              <a:rPr lang="en-US" sz="255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resultado antes de usar.</a:t>
            </a:r>
            <a:endParaRPr lang="en-US" sz="2550" dirty="0"/>
          </a:p>
        </p:txBody>
      </p:sp>
      <p:sp>
        <p:nvSpPr>
          <p:cNvPr id="12" name="Text 5"/>
          <p:cNvSpPr txBox="1"/>
          <p:nvPr/>
        </p:nvSpPr>
        <p:spPr>
          <a:xfrm>
            <a:off x="1524305" y="5398618"/>
            <a:ext cx="15621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não tem como conferir, ainda não é análise — é rascunho.</a:t>
            </a:r>
            <a:endParaRPr lang="en-US" sz="1650" dirty="0"/>
          </a:p>
        </p:txBody>
      </p:sp>
      <p:sp>
        <p:nvSpPr>
          <p:cNvPr id="13" name="Text 6"/>
          <p:cNvSpPr txBox="1"/>
          <p:nvPr/>
        </p:nvSpPr>
        <p:spPr>
          <a:xfrm>
            <a:off x="1524305" y="6286500"/>
            <a:ext cx="156216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Declare o uso de IA na </a:t>
            </a:r>
            <a:pPr algn="l" indent="0" marL="0">
              <a:buNone/>
            </a:pPr>
            <a:r>
              <a:rPr lang="en-US" sz="2550" dirty="0">
                <a:solidFill>
                  <a:srgbClr val="8B6F4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metodologia</a:t>
            </a:r>
            <a:pPr algn="l" indent="0" marL="0">
              <a:buNone/>
            </a:pPr>
            <a:r>
              <a:rPr lang="en-US" sz="255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2550" dirty="0"/>
          </a:p>
        </p:txBody>
      </p:sp>
      <p:sp>
        <p:nvSpPr>
          <p:cNvPr id="14" name="Text 7"/>
          <p:cNvSpPr txBox="1"/>
          <p:nvPr/>
        </p:nvSpPr>
        <p:spPr>
          <a:xfrm>
            <a:off x="1524305" y="6731813"/>
            <a:ext cx="15621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Transparência é parte da pesquisa, não detalhe cosmético.</a:t>
            </a:r>
            <a:endParaRPr lang="en-US" sz="1650" dirty="0"/>
          </a:p>
        </p:txBody>
      </p:sp>
      <p:sp>
        <p:nvSpPr>
          <p:cNvPr id="15" name="Text 8"/>
          <p:cNvSpPr txBox="1"/>
          <p:nvPr/>
        </p:nvSpPr>
        <p:spPr>
          <a:xfrm>
            <a:off x="1524305" y="7619695"/>
            <a:ext cx="156216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Cuidado com dados </a:t>
            </a:r>
            <a:pPr algn="l" indent="0" marL="0">
              <a:buNone/>
            </a:pPr>
            <a:r>
              <a:rPr lang="en-US" sz="2550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sensíveis ou inéditos</a:t>
            </a:r>
            <a:pPr algn="l" indent="0" marL="0">
              <a:buNone/>
            </a:pPr>
            <a:r>
              <a:rPr lang="en-US" sz="255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2550" dirty="0"/>
          </a:p>
        </p:txBody>
      </p:sp>
      <p:sp>
        <p:nvSpPr>
          <p:cNvPr id="16" name="Text 9"/>
          <p:cNvSpPr txBox="1"/>
          <p:nvPr/>
        </p:nvSpPr>
        <p:spPr>
          <a:xfrm>
            <a:off x="1524305" y="8065922"/>
            <a:ext cx="15621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Verifique política da sua instituição antes de subir um CSV em qualquer IA.</a:t>
            </a:r>
            <a:endParaRPr lang="en-US" sz="1650" dirty="0"/>
          </a:p>
        </p:txBody>
      </p:sp>
      <p:sp>
        <p:nvSpPr>
          <p:cNvPr id="17" name="Text 10"/>
          <p:cNvSpPr txBox="1"/>
          <p:nvPr/>
        </p:nvSpPr>
        <p:spPr>
          <a:xfrm>
            <a:off x="16954805" y="9667951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 / 45</a:t>
            </a:r>
            <a:endParaRPr lang="en-US" sz="13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D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143000" y="3619195"/>
            <a:ext cx="7619695" cy="2572207"/>
          </a:xfrm>
          <a:prstGeom prst="roundRect">
            <a:avLst>
              <a:gd name="adj" fmla="val 2951"/>
            </a:avLst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25305" y="3619195"/>
            <a:ext cx="7619695" cy="2572207"/>
          </a:xfrm>
          <a:prstGeom prst="roundRect">
            <a:avLst>
              <a:gd name="adj" fmla="val 2951"/>
            </a:avLst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6476695"/>
            <a:ext cx="7619695" cy="2572207"/>
          </a:xfrm>
          <a:prstGeom prst="roundRect">
            <a:avLst>
              <a:gd name="adj" fmla="val 2951"/>
            </a:avLst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25305" y="6476695"/>
            <a:ext cx="7619695" cy="2572207"/>
          </a:xfrm>
          <a:prstGeom prst="roundRect">
            <a:avLst>
              <a:gd name="adj" fmla="val 2951"/>
            </a:avLst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gen-dedup-609ca5620bc91a301e35b29a91fab242.png">    </p:cNvPr>
          <p:cNvPicPr>
            <a:picLocks noChangeAspect="1"/>
          </p:cNvPicPr>
          <p:nvPr/>
        </p:nvPicPr>
        <p:blipFill>
          <a:blip r:embed="rId2"/>
          <a:srcRect l="-385" r="-385" t="0" b="0"/>
          <a:stretch/>
        </p:blipFill>
        <p:spPr>
          <a:xfrm>
            <a:off x="1143000" y="1143000"/>
            <a:ext cx="761695" cy="28346"/>
          </a:xfrm>
          <a:prstGeom prst="rect">
            <a:avLst/>
          </a:prstGeom>
        </p:spPr>
      </p:pic>
      <p:pic>
        <p:nvPicPr>
          <p:cNvPr id="7" name="Image 1" descr="gen-dedup-5b8cddad0e4a4aa966630378cff6be69.png">    </p:cNvPr>
          <p:cNvPicPr>
            <a:picLocks noChangeAspect="1"/>
          </p:cNvPicPr>
          <p:nvPr/>
        </p:nvPicPr>
        <p:blipFill>
          <a:blip r:embed="rId3"/>
          <a:srcRect l="-391" r="-391" t="0" b="0"/>
          <a:stretch/>
        </p:blipFill>
        <p:spPr>
          <a:xfrm>
            <a:off x="1143000" y="3619195"/>
            <a:ext cx="57607" cy="2572207"/>
          </a:xfrm>
          <a:prstGeom prst="rect">
            <a:avLst/>
          </a:prstGeom>
        </p:spPr>
      </p:pic>
      <p:pic>
        <p:nvPicPr>
          <p:cNvPr id="8" name="Image 2" descr="gen-dedup-0f0a5e89df6cf6d78b440d04c5cc99e6.png">    </p:cNvPr>
          <p:cNvPicPr>
            <a:picLocks noChangeAspect="1"/>
          </p:cNvPicPr>
          <p:nvPr/>
        </p:nvPicPr>
        <p:blipFill>
          <a:blip r:embed="rId4"/>
          <a:srcRect l="-6" r="-6" t="0" b="0"/>
          <a:stretch/>
        </p:blipFill>
        <p:spPr>
          <a:xfrm>
            <a:off x="7429500" y="4095598"/>
            <a:ext cx="952805" cy="1524305"/>
          </a:xfrm>
          <a:prstGeom prst="rect">
            <a:avLst/>
          </a:prstGeom>
        </p:spPr>
      </p:pic>
      <p:pic>
        <p:nvPicPr>
          <p:cNvPr id="9" name="Image 3" descr="gen-dedup-ba4eaaeab0fb434e626666d92c0cfb07.png">    </p:cNvPr>
          <p:cNvPicPr>
            <a:picLocks noChangeAspect="1"/>
          </p:cNvPicPr>
          <p:nvPr/>
        </p:nvPicPr>
        <p:blipFill>
          <a:blip r:embed="rId5"/>
          <a:srcRect l="-391" r="-391" t="0" b="0"/>
          <a:stretch/>
        </p:blipFill>
        <p:spPr>
          <a:xfrm>
            <a:off x="9525305" y="3619195"/>
            <a:ext cx="57607" cy="2572207"/>
          </a:xfrm>
          <a:prstGeom prst="rect">
            <a:avLst/>
          </a:prstGeom>
        </p:spPr>
      </p:pic>
      <p:pic>
        <p:nvPicPr>
          <p:cNvPr id="10" name="Image 4" descr="gen-dedup-c42b54346444540b653e98a58c364090.png">    </p:cNvPr>
          <p:cNvPicPr>
            <a:picLocks noChangeAspect="1"/>
          </p:cNvPicPr>
          <p:nvPr/>
        </p:nvPicPr>
        <p:blipFill>
          <a:blip r:embed="rId6"/>
          <a:srcRect l="-391" r="-391" t="0" b="0"/>
          <a:stretch/>
        </p:blipFill>
        <p:spPr>
          <a:xfrm>
            <a:off x="1143000" y="6476695"/>
            <a:ext cx="57607" cy="2572207"/>
          </a:xfrm>
          <a:prstGeom prst="rect">
            <a:avLst/>
          </a:prstGeom>
        </p:spPr>
      </p:pic>
      <p:pic>
        <p:nvPicPr>
          <p:cNvPr id="11" name="Image 5" descr="gen-dedup-9580615e85e7c35299acebfdc8bf8e14.png">    </p:cNvPr>
          <p:cNvPicPr>
            <a:picLocks noChangeAspect="1"/>
          </p:cNvPicPr>
          <p:nvPr/>
        </p:nvPicPr>
        <p:blipFill>
          <a:blip r:embed="rId7"/>
          <a:srcRect l="-391" r="-391" t="0" b="0"/>
          <a:stretch/>
        </p:blipFill>
        <p:spPr>
          <a:xfrm>
            <a:off x="9525305" y="6476695"/>
            <a:ext cx="57607" cy="2572207"/>
          </a:xfrm>
          <a:prstGeom prst="rect">
            <a:avLst/>
          </a:prstGeom>
        </p:spPr>
      </p:pic>
      <p:sp>
        <p:nvSpPr>
          <p:cNvPr id="12" name="Text 4"/>
          <p:cNvSpPr txBox="1"/>
          <p:nvPr/>
        </p:nvSpPr>
        <p:spPr>
          <a:xfrm>
            <a:off x="1143000" y="1333195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sua mochila</a:t>
            </a:r>
            <a:endParaRPr lang="en-US" sz="1500" dirty="0"/>
          </a:p>
        </p:txBody>
      </p:sp>
      <p:sp>
        <p:nvSpPr>
          <p:cNvPr id="13" name="Text 5"/>
          <p:cNvSpPr txBox="1"/>
          <p:nvPr/>
        </p:nvSpPr>
        <p:spPr>
          <a:xfrm>
            <a:off x="1143000" y="1714500"/>
            <a:ext cx="1619311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spc="-144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Materiais </a:t>
            </a:r>
            <a:pPr algn="l" indent="0" marL="0">
              <a:buNone/>
            </a:pPr>
            <a:r>
              <a:rPr lang="en-US" sz="7200" i="1" spc="-144" kern="0" dirty="0">
                <a:solidFill>
                  <a:srgbClr val="2F523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para levar</a:t>
            </a:r>
            <a:endParaRPr lang="en-US" sz="7200" dirty="0"/>
          </a:p>
        </p:txBody>
      </p:sp>
      <p:sp>
        <p:nvSpPr>
          <p:cNvPr id="14" name="Text 6"/>
          <p:cNvSpPr txBox="1"/>
          <p:nvPr/>
        </p:nvSpPr>
        <p:spPr>
          <a:xfrm>
            <a:off x="1524305" y="4000500"/>
            <a:ext cx="5524805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spc="-31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Apostila</a:t>
            </a:r>
            <a:endParaRPr lang="en-US" sz="3150" dirty="0"/>
          </a:p>
        </p:txBody>
      </p:sp>
      <p:sp>
        <p:nvSpPr>
          <p:cNvPr id="15" name="Text 7"/>
          <p:cNvSpPr txBox="1"/>
          <p:nvPr/>
        </p:nvSpPr>
        <p:spPr>
          <a:xfrm>
            <a:off x="1524305" y="4573829"/>
            <a:ext cx="5524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com tudo que vimos hoje.</a:t>
            </a:r>
            <a:endParaRPr lang="en-US" sz="1650" dirty="0"/>
          </a:p>
        </p:txBody>
      </p:sp>
      <p:sp>
        <p:nvSpPr>
          <p:cNvPr id="16" name="Text 8"/>
          <p:cNvSpPr txBox="1"/>
          <p:nvPr/>
        </p:nvSpPr>
        <p:spPr>
          <a:xfrm>
            <a:off x="1524305" y="4955134"/>
            <a:ext cx="5524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Revise, marque, leve para o campo.</a:t>
            </a:r>
            <a:endParaRPr lang="en-US" sz="1500" dirty="0"/>
          </a:p>
        </p:txBody>
      </p:sp>
      <p:sp>
        <p:nvSpPr>
          <p:cNvPr id="17" name="Text 9"/>
          <p:cNvSpPr txBox="1"/>
          <p:nvPr/>
        </p:nvSpPr>
        <p:spPr>
          <a:xfrm>
            <a:off x="9905695" y="4000500"/>
            <a:ext cx="628650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spc="-31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Dados e gabarito</a:t>
            </a:r>
            <a:endParaRPr lang="en-US" sz="3150" dirty="0"/>
          </a:p>
        </p:txBody>
      </p:sp>
      <p:sp>
        <p:nvSpPr>
          <p:cNvPr id="18" name="Text 10"/>
          <p:cNvSpPr txBox="1"/>
          <p:nvPr/>
        </p:nvSpPr>
        <p:spPr>
          <a:xfrm>
            <a:off x="9905695" y="4573829"/>
            <a:ext cx="6286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Seis CSVs fictícios + saída esperada.</a:t>
            </a:r>
            <a:endParaRPr lang="en-US" sz="1650" dirty="0"/>
          </a:p>
        </p:txBody>
      </p:sp>
      <p:sp>
        <p:nvSpPr>
          <p:cNvPr id="19" name="Text 11"/>
          <p:cNvSpPr txBox="1"/>
          <p:nvPr/>
        </p:nvSpPr>
        <p:spPr>
          <a:xfrm>
            <a:off x="9905695" y="4955134"/>
            <a:ext cx="6286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sua análise com o gabarito.</a:t>
            </a:r>
            <a:endParaRPr lang="en-US" sz="1500" dirty="0"/>
          </a:p>
        </p:txBody>
      </p:sp>
      <p:sp>
        <p:nvSpPr>
          <p:cNvPr id="20" name="Text 12"/>
          <p:cNvSpPr txBox="1"/>
          <p:nvPr/>
        </p:nvSpPr>
        <p:spPr>
          <a:xfrm>
            <a:off x="1524305" y="6858000"/>
            <a:ext cx="5524805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spc="-31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Pacote de skills</a:t>
            </a:r>
            <a:endParaRPr lang="en-US" sz="3150" dirty="0"/>
          </a:p>
        </p:txBody>
      </p:sp>
      <p:sp>
        <p:nvSpPr>
          <p:cNvPr id="21" name="Text 13"/>
          <p:cNvSpPr txBox="1"/>
          <p:nvPr/>
        </p:nvSpPr>
        <p:spPr>
          <a:xfrm>
            <a:off x="1524305" y="7431329"/>
            <a:ext cx="5524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Seis manuais prontos + gem único.</a:t>
            </a:r>
            <a:endParaRPr lang="en-US" sz="1650" dirty="0"/>
          </a:p>
        </p:txBody>
      </p:sp>
      <p:sp>
        <p:nvSpPr>
          <p:cNvPr id="22" name="Text 14"/>
          <p:cNvSpPr txBox="1"/>
          <p:nvPr/>
        </p:nvSpPr>
        <p:spPr>
          <a:xfrm>
            <a:off x="1524305" y="7812634"/>
            <a:ext cx="5524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Instale em qualquer IA compatível.</a:t>
            </a:r>
            <a:endParaRPr lang="en-US" sz="1500" dirty="0"/>
          </a:p>
        </p:txBody>
      </p:sp>
      <p:sp>
        <p:nvSpPr>
          <p:cNvPr id="23" name="Text 15"/>
          <p:cNvSpPr txBox="1"/>
          <p:nvPr/>
        </p:nvSpPr>
        <p:spPr>
          <a:xfrm>
            <a:off x="9905695" y="6858000"/>
            <a:ext cx="628650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spc="-31" kern="0" dirty="0">
                <a:solidFill>
                  <a:srgbClr val="1E2A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Notebook do Colab</a:t>
            </a:r>
            <a:endParaRPr lang="en-US" sz="3150" dirty="0"/>
          </a:p>
        </p:txBody>
      </p:sp>
      <p:sp>
        <p:nvSpPr>
          <p:cNvPr id="24" name="Text 16"/>
          <p:cNvSpPr txBox="1"/>
          <p:nvPr/>
        </p:nvSpPr>
        <p:spPr>
          <a:xfrm>
            <a:off x="9905695" y="7431329"/>
            <a:ext cx="6286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4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Aberto, com dados de exemplo.</a:t>
            </a:r>
            <a:endParaRPr lang="en-US" sz="1650" dirty="0"/>
          </a:p>
        </p:txBody>
      </p:sp>
      <p:sp>
        <p:nvSpPr>
          <p:cNvPr id="25" name="Text 17"/>
          <p:cNvSpPr txBox="1"/>
          <p:nvPr/>
        </p:nvSpPr>
        <p:spPr>
          <a:xfrm>
            <a:off x="9905695" y="7812634"/>
            <a:ext cx="6286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Rode célula por célula.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16954805" y="9667951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8B6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 / 45</a:t>
            </a:r>
            <a:endParaRPr lang="en-US" sz="13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D1A"/>
        </a:solidFill>
      </p:bgPr>
    </p:bg>
    <p:spTree>
      <p:nvGrpSpPr>
        <p:cNvPr id="1" name=""/>
        <p:cNvGrpSpPr/>
        <p:nvPr/>
      </p:nvGrpSpPr>
      <p:grpSpPr/>
      <p:pic>
        <p:nvPicPr>
          <p:cNvPr id="2" name="Image 0" descr="gen-dedup-29cfd4867072eee11dda8b846713180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74c790de2b358b79b53bfffe0030c5cf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0" y="5715000"/>
            <a:ext cx="5143500" cy="4572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430207"/>
            <a:ext cx="18288000" cy="857707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2" descr="gen-dedup-128ae468b35084a7c58f393bd46c43e4.png">    </p:cNvPr>
          <p:cNvPicPr>
            <a:picLocks noChangeAspect="1"/>
          </p:cNvPicPr>
          <p:nvPr/>
        </p:nvPicPr>
        <p:blipFill>
          <a:blip r:embed="rId4"/>
          <a:srcRect l="-404" r="-404" t="0" b="0"/>
          <a:stretch/>
        </p:blipFill>
        <p:spPr>
          <a:xfrm>
            <a:off x="1524305" y="6476695"/>
            <a:ext cx="1143000" cy="28346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524305" y="2667305"/>
            <a:ext cx="15240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396" kern="0" dirty="0">
                <a:solidFill>
                  <a:srgbClr val="A8B5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fim da aula</a:t>
            </a:r>
            <a:endParaRPr lang="en-US" sz="1800" dirty="0"/>
          </a:p>
        </p:txBody>
      </p:sp>
      <p:sp>
        <p:nvSpPr>
          <p:cNvPr id="7" name="Text 2"/>
          <p:cNvSpPr txBox="1"/>
          <p:nvPr/>
        </p:nvSpPr>
        <p:spPr>
          <a:xfrm>
            <a:off x="1524305" y="3238805"/>
            <a:ext cx="15240305" cy="2171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0" b="1" spc="-720" kern="0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Obrigado</a:t>
            </a:r>
            <a:pPr algn="l" indent="0" marL="0">
              <a:buNone/>
            </a:pPr>
            <a:r>
              <a:rPr lang="en-US" sz="18000" b="1" i="1" spc="-720" kern="0" dirty="0">
                <a:solidFill>
                  <a:srgbClr val="C7922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18000" dirty="0"/>
          </a:p>
        </p:txBody>
      </p:sp>
      <p:sp>
        <p:nvSpPr>
          <p:cNvPr id="8" name="Text 3"/>
          <p:cNvSpPr txBox="1"/>
          <p:nvPr/>
        </p:nvSpPr>
        <p:spPr>
          <a:xfrm>
            <a:off x="1524305" y="6858000"/>
            <a:ext cx="1047811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Perguntas</a:t>
            </a:r>
            <a:pPr algn="l" indent="0" marL="0">
              <a:buNone/>
            </a:pPr>
            <a:r>
              <a:rPr lang="en-US" sz="4050" dirty="0">
                <a:solidFill>
                  <a:srgbClr val="A8B58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?</a:t>
            </a:r>
            <a:endParaRPr lang="en-US" sz="4050" dirty="0"/>
          </a:p>
        </p:txBody>
      </p:sp>
      <p:sp>
        <p:nvSpPr>
          <p:cNvPr id="9" name="Text 4"/>
          <p:cNvSpPr txBox="1"/>
          <p:nvPr/>
        </p:nvSpPr>
        <p:spPr>
          <a:xfrm>
            <a:off x="1524305" y="8382305"/>
            <a:ext cx="142875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97" kern="0" dirty="0">
                <a:solidFill>
                  <a:srgbClr val="A8B5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contato</a:t>
            </a:r>
            <a:endParaRPr lang="en-US" sz="1350" dirty="0"/>
          </a:p>
        </p:txBody>
      </p:sp>
      <p:sp>
        <p:nvSpPr>
          <p:cNvPr id="10" name="Text 5"/>
          <p:cNvSpPr txBox="1"/>
          <p:nvPr/>
        </p:nvSpPr>
        <p:spPr>
          <a:xfrm>
            <a:off x="1524305" y="8715146"/>
            <a:ext cx="142875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FAF6E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____ @ ____</a:t>
            </a:r>
            <a:endParaRPr lang="en-US" sz="2400" dirty="0"/>
          </a:p>
        </p:txBody>
      </p:sp>
      <p:sp>
        <p:nvSpPr>
          <p:cNvPr id="11" name="Text 6"/>
          <p:cNvSpPr txBox="1"/>
          <p:nvPr/>
        </p:nvSpPr>
        <p:spPr>
          <a:xfrm>
            <a:off x="1524305" y="9667951"/>
            <a:ext cx="10478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DD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Curso Inova Agroflorestal · UFVJM · 2026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6954805" y="9667951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A8B5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 / 45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2026-10-22T14:20:42Z</dcterms:created>
  <dcterms:modified xsi:type="dcterms:W3CDTF">2026-10-22T14:20:42Z</dcterms:modified>
</cp:coreProperties>
</file>